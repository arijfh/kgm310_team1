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Extenda 50 Mega" charset="1" panose="020B0003020200000002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  <p:embeddedFont>
      <p:font typeface="Lora Bold" charset="1" panose="00000800000000000000"/>
      <p:regular r:id="rId23"/>
    </p:embeddedFont>
    <p:embeddedFont>
      <p:font typeface="Lora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prediction need to use Y at time t+h and X at time T (Prediction Horizon) and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08929" y="6438847"/>
            <a:ext cx="6691857" cy="2307801"/>
            <a:chOff x="0" y="0"/>
            <a:chExt cx="1762464" cy="607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2465" cy="607816"/>
            </a:xfrm>
            <a:custGeom>
              <a:avLst/>
              <a:gdLst/>
              <a:ahLst/>
              <a:cxnLst/>
              <a:rect r="r" b="b" t="t" l="l"/>
              <a:pathLst>
                <a:path h="607816" w="1762465">
                  <a:moveTo>
                    <a:pt x="0" y="0"/>
                  </a:moveTo>
                  <a:lnTo>
                    <a:pt x="1762465" y="0"/>
                  </a:lnTo>
                  <a:lnTo>
                    <a:pt x="1762465" y="607816"/>
                  </a:lnTo>
                  <a:lnTo>
                    <a:pt x="0" y="607816"/>
                  </a:lnTo>
                  <a:close/>
                </a:path>
              </a:pathLst>
            </a:custGeom>
            <a:solidFill>
              <a:srgbClr val="669AB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62464" cy="645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78617" y="140599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3799" y="2178779"/>
            <a:ext cx="4128119" cy="301954"/>
            <a:chOff x="0" y="0"/>
            <a:chExt cx="1087241" cy="795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7241" cy="79527"/>
            </a:xfrm>
            <a:custGeom>
              <a:avLst/>
              <a:gdLst/>
              <a:ahLst/>
              <a:cxnLst/>
              <a:rect r="r" b="b" t="t" l="l"/>
              <a:pathLst>
                <a:path h="79527" w="1087241">
                  <a:moveTo>
                    <a:pt x="0" y="0"/>
                  </a:moveTo>
                  <a:lnTo>
                    <a:pt x="1087241" y="0"/>
                  </a:lnTo>
                  <a:lnTo>
                    <a:pt x="1087241" y="79527"/>
                  </a:lnTo>
                  <a:lnTo>
                    <a:pt x="0" y="79527"/>
                  </a:ln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87241" cy="117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46078" y="9335948"/>
            <a:ext cx="3525702" cy="301954"/>
            <a:chOff x="0" y="0"/>
            <a:chExt cx="928580" cy="795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580" cy="79527"/>
            </a:xfrm>
            <a:custGeom>
              <a:avLst/>
              <a:gdLst/>
              <a:ahLst/>
              <a:cxnLst/>
              <a:rect r="r" b="b" t="t" l="l"/>
              <a:pathLst>
                <a:path h="79527" w="928580">
                  <a:moveTo>
                    <a:pt x="0" y="0"/>
                  </a:moveTo>
                  <a:lnTo>
                    <a:pt x="928580" y="0"/>
                  </a:lnTo>
                  <a:lnTo>
                    <a:pt x="928580" y="79527"/>
                  </a:lnTo>
                  <a:lnTo>
                    <a:pt x="0" y="79527"/>
                  </a:ln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580" cy="117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cap="flat" w="19050">
            <a:solidFill>
              <a:srgbClr val="669A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01608" y="4176696"/>
            <a:ext cx="11727454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9"/>
              </a:lnSpc>
              <a:spcBef>
                <a:spcPct val="0"/>
              </a:spcBef>
            </a:pPr>
            <a:r>
              <a:rPr lang="en-US" sz="12999" spc="11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MACHINE LEARNING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3799" y="7909339"/>
            <a:ext cx="2864239" cy="33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b="true" sz="2196" spc="-123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: Team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3799" y="8235501"/>
            <a:ext cx="2181576" cy="140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Arij Faiha</a:t>
            </a:r>
          </a:p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Huyngim Eng</a:t>
            </a:r>
          </a:p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Jessica Novita</a:t>
            </a:r>
          </a:p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Shi Xiao Yu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8518" y="857663"/>
            <a:ext cx="239372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spc="-112" b="true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1608" y="6202627"/>
            <a:ext cx="11227833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000" spc="-168">
                <a:solidFill>
                  <a:srgbClr val="105584"/>
                </a:solidFill>
                <a:latin typeface="Canva Sans"/>
                <a:ea typeface="Canva Sans"/>
                <a:cs typeface="Canva Sans"/>
                <a:sym typeface="Canva Sans"/>
              </a:rPr>
              <a:t>Customer Churn Prediction in Subscription-Based Telecom Services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912431" y="1405995"/>
            <a:ext cx="8788356" cy="8804364"/>
          </a:xfrm>
          <a:custGeom>
            <a:avLst/>
            <a:gdLst/>
            <a:ahLst/>
            <a:cxnLst/>
            <a:rect r="r" b="b" t="t" l="l"/>
            <a:pathLst>
              <a:path h="8804364" w="8788356">
                <a:moveTo>
                  <a:pt x="0" y="0"/>
                </a:moveTo>
                <a:lnTo>
                  <a:pt x="8788356" y="0"/>
                </a:lnTo>
                <a:lnTo>
                  <a:pt x="8788356" y="8804363"/>
                </a:lnTo>
                <a:lnTo>
                  <a:pt x="0" y="8804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cap="flat" w="19050">
            <a:solidFill>
              <a:srgbClr val="669A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934963" y="4484468"/>
            <a:ext cx="3325203" cy="606425"/>
            <a:chOff x="0" y="0"/>
            <a:chExt cx="1370562" cy="2499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0562" cy="249953"/>
            </a:xfrm>
            <a:custGeom>
              <a:avLst/>
              <a:gdLst/>
              <a:ahLst/>
              <a:cxnLst/>
              <a:rect r="r" b="b" t="t" l="l"/>
              <a:pathLst>
                <a:path h="249953" w="1370562">
                  <a:moveTo>
                    <a:pt x="118741" y="0"/>
                  </a:moveTo>
                  <a:lnTo>
                    <a:pt x="1251821" y="0"/>
                  </a:lnTo>
                  <a:cubicBezTo>
                    <a:pt x="1317400" y="0"/>
                    <a:pt x="1370562" y="53162"/>
                    <a:pt x="1370562" y="118741"/>
                  </a:cubicBezTo>
                  <a:lnTo>
                    <a:pt x="1370562" y="131212"/>
                  </a:lnTo>
                  <a:cubicBezTo>
                    <a:pt x="1370562" y="196790"/>
                    <a:pt x="1317400" y="249953"/>
                    <a:pt x="1251821" y="249953"/>
                  </a:cubicBezTo>
                  <a:lnTo>
                    <a:pt x="118741" y="249953"/>
                  </a:lnTo>
                  <a:cubicBezTo>
                    <a:pt x="53162" y="249953"/>
                    <a:pt x="0" y="196790"/>
                    <a:pt x="0" y="131212"/>
                  </a:cubicBezTo>
                  <a:lnTo>
                    <a:pt x="0" y="118741"/>
                  </a:lnTo>
                  <a:cubicBezTo>
                    <a:pt x="0" y="53162"/>
                    <a:pt x="53162" y="0"/>
                    <a:pt x="118741" y="0"/>
                  </a:cubicBez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370562" cy="259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499" spc="-139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Raw Data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34963" y="5657552"/>
            <a:ext cx="3325203" cy="606425"/>
            <a:chOff x="0" y="0"/>
            <a:chExt cx="1370562" cy="2499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0562" cy="249953"/>
            </a:xfrm>
            <a:custGeom>
              <a:avLst/>
              <a:gdLst/>
              <a:ahLst/>
              <a:cxnLst/>
              <a:rect r="r" b="b" t="t" l="l"/>
              <a:pathLst>
                <a:path h="249953" w="1370562">
                  <a:moveTo>
                    <a:pt x="118741" y="0"/>
                  </a:moveTo>
                  <a:lnTo>
                    <a:pt x="1251821" y="0"/>
                  </a:lnTo>
                  <a:cubicBezTo>
                    <a:pt x="1317400" y="0"/>
                    <a:pt x="1370562" y="53162"/>
                    <a:pt x="1370562" y="118741"/>
                  </a:cubicBezTo>
                  <a:lnTo>
                    <a:pt x="1370562" y="131212"/>
                  </a:lnTo>
                  <a:cubicBezTo>
                    <a:pt x="1370562" y="196790"/>
                    <a:pt x="1317400" y="249953"/>
                    <a:pt x="1251821" y="249953"/>
                  </a:cubicBezTo>
                  <a:lnTo>
                    <a:pt x="118741" y="249953"/>
                  </a:lnTo>
                  <a:cubicBezTo>
                    <a:pt x="53162" y="249953"/>
                    <a:pt x="0" y="196790"/>
                    <a:pt x="0" y="131212"/>
                  </a:cubicBezTo>
                  <a:lnTo>
                    <a:pt x="0" y="118741"/>
                  </a:lnTo>
                  <a:cubicBezTo>
                    <a:pt x="0" y="53162"/>
                    <a:pt x="53162" y="0"/>
                    <a:pt x="118741" y="0"/>
                  </a:cubicBez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70562" cy="259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499" spc="-139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  Pre-Processing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934963" y="6895597"/>
            <a:ext cx="3325203" cy="606793"/>
            <a:chOff x="0" y="0"/>
            <a:chExt cx="1370562" cy="250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0562" cy="250104"/>
            </a:xfrm>
            <a:custGeom>
              <a:avLst/>
              <a:gdLst/>
              <a:ahLst/>
              <a:cxnLst/>
              <a:rect r="r" b="b" t="t" l="l"/>
              <a:pathLst>
                <a:path h="250104" w="1370562">
                  <a:moveTo>
                    <a:pt x="118741" y="0"/>
                  </a:moveTo>
                  <a:lnTo>
                    <a:pt x="1251821" y="0"/>
                  </a:lnTo>
                  <a:cubicBezTo>
                    <a:pt x="1317400" y="0"/>
                    <a:pt x="1370562" y="53162"/>
                    <a:pt x="1370562" y="118741"/>
                  </a:cubicBezTo>
                  <a:lnTo>
                    <a:pt x="1370562" y="131363"/>
                  </a:lnTo>
                  <a:cubicBezTo>
                    <a:pt x="1370562" y="196942"/>
                    <a:pt x="1317400" y="250104"/>
                    <a:pt x="1251821" y="250104"/>
                  </a:cubicBezTo>
                  <a:lnTo>
                    <a:pt x="118741" y="250104"/>
                  </a:lnTo>
                  <a:cubicBezTo>
                    <a:pt x="53162" y="250104"/>
                    <a:pt x="0" y="196942"/>
                    <a:pt x="0" y="131363"/>
                  </a:cubicBezTo>
                  <a:lnTo>
                    <a:pt x="0" y="118741"/>
                  </a:lnTo>
                  <a:cubicBezTo>
                    <a:pt x="0" y="53162"/>
                    <a:pt x="53162" y="0"/>
                    <a:pt x="118741" y="0"/>
                  </a:cubicBez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370562" cy="259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499" spc="-139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EDA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34963" y="8093986"/>
            <a:ext cx="3325203" cy="657620"/>
            <a:chOff x="0" y="0"/>
            <a:chExt cx="1370562" cy="2710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0562" cy="271054"/>
            </a:xfrm>
            <a:custGeom>
              <a:avLst/>
              <a:gdLst/>
              <a:ahLst/>
              <a:cxnLst/>
              <a:rect r="r" b="b" t="t" l="l"/>
              <a:pathLst>
                <a:path h="271054" w="1370562">
                  <a:moveTo>
                    <a:pt x="118741" y="0"/>
                  </a:moveTo>
                  <a:lnTo>
                    <a:pt x="1251821" y="0"/>
                  </a:lnTo>
                  <a:cubicBezTo>
                    <a:pt x="1317400" y="0"/>
                    <a:pt x="1370562" y="53162"/>
                    <a:pt x="1370562" y="118741"/>
                  </a:cubicBezTo>
                  <a:lnTo>
                    <a:pt x="1370562" y="152313"/>
                  </a:lnTo>
                  <a:cubicBezTo>
                    <a:pt x="1370562" y="217891"/>
                    <a:pt x="1317400" y="271054"/>
                    <a:pt x="1251821" y="271054"/>
                  </a:cubicBezTo>
                  <a:lnTo>
                    <a:pt x="118741" y="271054"/>
                  </a:lnTo>
                  <a:cubicBezTo>
                    <a:pt x="53162" y="271054"/>
                    <a:pt x="0" y="217891"/>
                    <a:pt x="0" y="152313"/>
                  </a:cubicBezTo>
                  <a:lnTo>
                    <a:pt x="0" y="118741"/>
                  </a:lnTo>
                  <a:cubicBezTo>
                    <a:pt x="0" y="53162"/>
                    <a:pt x="53162" y="0"/>
                    <a:pt x="118741" y="0"/>
                  </a:cubicBez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370562" cy="280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499" spc="-139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Data Split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23284" y="9335351"/>
            <a:ext cx="3136883" cy="606425"/>
            <a:chOff x="0" y="0"/>
            <a:chExt cx="1292941" cy="2499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2941" cy="249953"/>
            </a:xfrm>
            <a:custGeom>
              <a:avLst/>
              <a:gdLst/>
              <a:ahLst/>
              <a:cxnLst/>
              <a:rect r="r" b="b" t="t" l="l"/>
              <a:pathLst>
                <a:path h="249953" w="1292941">
                  <a:moveTo>
                    <a:pt x="124976" y="0"/>
                  </a:moveTo>
                  <a:lnTo>
                    <a:pt x="1167965" y="0"/>
                  </a:lnTo>
                  <a:cubicBezTo>
                    <a:pt x="1236988" y="0"/>
                    <a:pt x="1292941" y="55954"/>
                    <a:pt x="1292941" y="124976"/>
                  </a:cubicBezTo>
                  <a:lnTo>
                    <a:pt x="1292941" y="124976"/>
                  </a:lnTo>
                  <a:cubicBezTo>
                    <a:pt x="1292941" y="158122"/>
                    <a:pt x="1279774" y="189910"/>
                    <a:pt x="1256337" y="213348"/>
                  </a:cubicBezTo>
                  <a:cubicBezTo>
                    <a:pt x="1232899" y="236785"/>
                    <a:pt x="1201111" y="249953"/>
                    <a:pt x="1167965" y="249953"/>
                  </a:cubicBezTo>
                  <a:lnTo>
                    <a:pt x="124976" y="249953"/>
                  </a:lnTo>
                  <a:cubicBezTo>
                    <a:pt x="55954" y="249953"/>
                    <a:pt x="0" y="193999"/>
                    <a:pt x="0" y="124976"/>
                  </a:cubicBezTo>
                  <a:lnTo>
                    <a:pt x="0" y="124976"/>
                  </a:lnTo>
                  <a:cubicBezTo>
                    <a:pt x="0" y="55954"/>
                    <a:pt x="55954" y="0"/>
                    <a:pt x="124976" y="0"/>
                  </a:cubicBez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292941" cy="259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499" spc="-139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Model Evaluation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39283" y="4292001"/>
            <a:ext cx="991360" cy="99136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010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000" spc="-112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39283" y="5450309"/>
            <a:ext cx="991360" cy="99136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010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000" spc="-112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39283" y="6703313"/>
            <a:ext cx="991360" cy="99136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010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000" spc="-112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39283" y="7901519"/>
            <a:ext cx="991360" cy="99136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010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000" spc="-112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4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39283" y="9145861"/>
            <a:ext cx="991360" cy="99136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010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000" spc="-112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5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-122437" y="522055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818488" y="3490246"/>
            <a:ext cx="8871982" cy="2594869"/>
          </a:xfrm>
          <a:custGeom>
            <a:avLst/>
            <a:gdLst/>
            <a:ahLst/>
            <a:cxnLst/>
            <a:rect r="r" b="b" t="t" l="l"/>
            <a:pathLst>
              <a:path h="2594869" w="8871982">
                <a:moveTo>
                  <a:pt x="0" y="0"/>
                </a:moveTo>
                <a:lnTo>
                  <a:pt x="8871982" y="0"/>
                </a:lnTo>
                <a:lnTo>
                  <a:pt x="8871982" y="2594869"/>
                </a:lnTo>
                <a:lnTo>
                  <a:pt x="0" y="259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828013" y="6353983"/>
            <a:ext cx="7795217" cy="3480008"/>
          </a:xfrm>
          <a:custGeom>
            <a:avLst/>
            <a:gdLst/>
            <a:ahLst/>
            <a:cxnLst/>
            <a:rect r="r" b="b" t="t" l="l"/>
            <a:pathLst>
              <a:path h="3480008" w="7795217">
                <a:moveTo>
                  <a:pt x="0" y="0"/>
                </a:moveTo>
                <a:lnTo>
                  <a:pt x="7795217" y="0"/>
                </a:lnTo>
                <a:lnTo>
                  <a:pt x="7795217" y="3480007"/>
                </a:lnTo>
                <a:lnTo>
                  <a:pt x="0" y="34800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942878" y="9435059"/>
            <a:ext cx="634579" cy="702162"/>
          </a:xfrm>
          <a:custGeom>
            <a:avLst/>
            <a:gdLst/>
            <a:ahLst/>
            <a:cxnLst/>
            <a:rect r="r" b="b" t="t" l="l"/>
            <a:pathLst>
              <a:path h="702162" w="634579">
                <a:moveTo>
                  <a:pt x="0" y="0"/>
                </a:moveTo>
                <a:lnTo>
                  <a:pt x="634578" y="0"/>
                </a:lnTo>
                <a:lnTo>
                  <a:pt x="634578" y="702162"/>
                </a:lnTo>
                <a:lnTo>
                  <a:pt x="0" y="70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491829" y="1064932"/>
            <a:ext cx="9525299" cy="265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64"/>
              </a:lnSpc>
              <a:spcBef>
                <a:spcPct val="0"/>
              </a:spcBef>
            </a:pPr>
            <a:r>
              <a:rPr lang="en-US" sz="15474" spc="13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DATA RECAP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68518" y="857663"/>
            <a:ext cx="239372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spc="-112" b="true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68518" y="1858564"/>
            <a:ext cx="5702350" cy="20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b="true" sz="2438" spc="-13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  <a:r>
              <a:rPr lang="en-US" sz="2438" spc="-1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IBM Telco Customer Churn</a:t>
            </a:r>
          </a:p>
          <a:p>
            <a:pPr algn="l">
              <a:lnSpc>
                <a:spcPts val="2365"/>
              </a:lnSpc>
            </a:pPr>
          </a:p>
          <a:p>
            <a:pPr algn="l">
              <a:lnSpc>
                <a:spcPts val="2365"/>
              </a:lnSpc>
            </a:pPr>
            <a:r>
              <a:rPr lang="en-US" sz="2438" spc="-1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7043 customers, ~21 features (20 variables)</a:t>
            </a:r>
          </a:p>
          <a:p>
            <a:pPr algn="l">
              <a:lnSpc>
                <a:spcPts val="2365"/>
              </a:lnSpc>
            </a:pPr>
          </a:p>
          <a:p>
            <a:pPr algn="l">
              <a:lnSpc>
                <a:spcPts val="2365"/>
              </a:lnSpc>
            </a:pPr>
            <a:r>
              <a:rPr lang="en-US" b="true" sz="2438" spc="-13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</a:t>
            </a:r>
            <a:r>
              <a:rPr lang="en-US" sz="2438" spc="-1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Churn (Yes/No)</a:t>
            </a:r>
          </a:p>
          <a:p>
            <a:pPr algn="l">
              <a:lnSpc>
                <a:spcPts val="2365"/>
              </a:lnSpc>
            </a:pPr>
          </a:p>
          <a:p>
            <a:pPr algn="l">
              <a:lnSpc>
                <a:spcPts val="2365"/>
              </a:lnSpc>
            </a:pPr>
            <a:r>
              <a:rPr lang="en-US" b="true" sz="2438" spc="-13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</a:t>
            </a:r>
            <a:r>
              <a:rPr lang="en-US" sz="2438" spc="-1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Predict customer churn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960" y="4285639"/>
            <a:ext cx="15256325" cy="1814935"/>
            <a:chOff x="0" y="0"/>
            <a:chExt cx="4018127" cy="478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18127" cy="478008"/>
            </a:xfrm>
            <a:custGeom>
              <a:avLst/>
              <a:gdLst/>
              <a:ahLst/>
              <a:cxnLst/>
              <a:rect r="r" b="b" t="t" l="l"/>
              <a:pathLst>
                <a:path h="478008" w="4018127">
                  <a:moveTo>
                    <a:pt x="11671" y="0"/>
                  </a:moveTo>
                  <a:lnTo>
                    <a:pt x="4006455" y="0"/>
                  </a:lnTo>
                  <a:cubicBezTo>
                    <a:pt x="4012901" y="0"/>
                    <a:pt x="4018127" y="5226"/>
                    <a:pt x="4018127" y="11671"/>
                  </a:cubicBezTo>
                  <a:lnTo>
                    <a:pt x="4018127" y="466336"/>
                  </a:lnTo>
                  <a:cubicBezTo>
                    <a:pt x="4018127" y="469432"/>
                    <a:pt x="4016897" y="472400"/>
                    <a:pt x="4014708" y="474589"/>
                  </a:cubicBezTo>
                  <a:cubicBezTo>
                    <a:pt x="4012519" y="476778"/>
                    <a:pt x="4009551" y="478008"/>
                    <a:pt x="4006455" y="478008"/>
                  </a:cubicBezTo>
                  <a:lnTo>
                    <a:pt x="11671" y="478008"/>
                  </a:lnTo>
                  <a:cubicBezTo>
                    <a:pt x="8576" y="478008"/>
                    <a:pt x="5607" y="476778"/>
                    <a:pt x="3419" y="474589"/>
                  </a:cubicBezTo>
                  <a:cubicBezTo>
                    <a:pt x="1230" y="472400"/>
                    <a:pt x="0" y="469432"/>
                    <a:pt x="0" y="466336"/>
                  </a:cubicBezTo>
                  <a:lnTo>
                    <a:pt x="0" y="11671"/>
                  </a:lnTo>
                  <a:cubicBezTo>
                    <a:pt x="0" y="8576"/>
                    <a:pt x="1230" y="5607"/>
                    <a:pt x="3419" y="3419"/>
                  </a:cubicBezTo>
                  <a:cubicBezTo>
                    <a:pt x="5607" y="1230"/>
                    <a:pt x="8576" y="0"/>
                    <a:pt x="11671" y="0"/>
                  </a:cubicBezTo>
                  <a:close/>
                </a:path>
              </a:pathLst>
            </a:custGeom>
            <a:solidFill>
              <a:srgbClr val="FFB95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018127" cy="487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6544" y="4493247"/>
            <a:ext cx="14545126" cy="137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Successfully completed the modeling phase of the project. </a:t>
            </a:r>
          </a:p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All planned classification models have been trained, tuned, and evaluated on the Telco Customer Churn dataset.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003259" y="114250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68960" y="2318435"/>
            <a:ext cx="15256325" cy="1414754"/>
            <a:chOff x="0" y="0"/>
            <a:chExt cx="4018127" cy="3726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18127" cy="372610"/>
            </a:xfrm>
            <a:custGeom>
              <a:avLst/>
              <a:gdLst/>
              <a:ahLst/>
              <a:cxnLst/>
              <a:rect r="r" b="b" t="t" l="l"/>
              <a:pathLst>
                <a:path h="372610" w="4018127">
                  <a:moveTo>
                    <a:pt x="11671" y="0"/>
                  </a:moveTo>
                  <a:lnTo>
                    <a:pt x="4006455" y="0"/>
                  </a:lnTo>
                  <a:cubicBezTo>
                    <a:pt x="4012901" y="0"/>
                    <a:pt x="4018127" y="5226"/>
                    <a:pt x="4018127" y="11671"/>
                  </a:cubicBezTo>
                  <a:lnTo>
                    <a:pt x="4018127" y="360939"/>
                  </a:lnTo>
                  <a:cubicBezTo>
                    <a:pt x="4018127" y="364034"/>
                    <a:pt x="4016897" y="367003"/>
                    <a:pt x="4014708" y="369192"/>
                  </a:cubicBezTo>
                  <a:cubicBezTo>
                    <a:pt x="4012519" y="371380"/>
                    <a:pt x="4009551" y="372610"/>
                    <a:pt x="4006455" y="372610"/>
                  </a:cubicBezTo>
                  <a:lnTo>
                    <a:pt x="11671" y="372610"/>
                  </a:lnTo>
                  <a:cubicBezTo>
                    <a:pt x="8576" y="372610"/>
                    <a:pt x="5607" y="371380"/>
                    <a:pt x="3419" y="369192"/>
                  </a:cubicBezTo>
                  <a:cubicBezTo>
                    <a:pt x="1230" y="367003"/>
                    <a:pt x="0" y="364034"/>
                    <a:pt x="0" y="360939"/>
                  </a:cubicBezTo>
                  <a:lnTo>
                    <a:pt x="0" y="11671"/>
                  </a:lnTo>
                  <a:cubicBezTo>
                    <a:pt x="0" y="8576"/>
                    <a:pt x="1230" y="5607"/>
                    <a:pt x="3419" y="3419"/>
                  </a:cubicBezTo>
                  <a:cubicBezTo>
                    <a:pt x="5607" y="1230"/>
                    <a:pt x="8576" y="0"/>
                    <a:pt x="11671" y="0"/>
                  </a:cubicBezTo>
                  <a:close/>
                </a:path>
              </a:pathLst>
            </a:custGeom>
            <a:solidFill>
              <a:srgbClr val="FFB95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018127" cy="3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14904" y="2643247"/>
            <a:ext cx="708112" cy="708112"/>
          </a:xfrm>
          <a:custGeom>
            <a:avLst/>
            <a:gdLst/>
            <a:ahLst/>
            <a:cxnLst/>
            <a:rect r="r" b="b" t="t" l="l"/>
            <a:pathLst>
              <a:path h="708112" w="708112">
                <a:moveTo>
                  <a:pt x="0" y="0"/>
                </a:moveTo>
                <a:lnTo>
                  <a:pt x="708112" y="0"/>
                </a:lnTo>
                <a:lnTo>
                  <a:pt x="708112" y="708111"/>
                </a:lnTo>
                <a:lnTo>
                  <a:pt x="0" y="708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4904" y="4839050"/>
            <a:ext cx="708112" cy="708112"/>
          </a:xfrm>
          <a:custGeom>
            <a:avLst/>
            <a:gdLst/>
            <a:ahLst/>
            <a:cxnLst/>
            <a:rect r="r" b="b" t="t" l="l"/>
            <a:pathLst>
              <a:path h="708112" w="708112">
                <a:moveTo>
                  <a:pt x="0" y="0"/>
                </a:moveTo>
                <a:lnTo>
                  <a:pt x="708112" y="0"/>
                </a:lnTo>
                <a:lnTo>
                  <a:pt x="708112" y="708112"/>
                </a:lnTo>
                <a:lnTo>
                  <a:pt x="0" y="708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68960" y="6653024"/>
            <a:ext cx="15256325" cy="1344134"/>
            <a:chOff x="0" y="0"/>
            <a:chExt cx="4018127" cy="3540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18127" cy="354010"/>
            </a:xfrm>
            <a:custGeom>
              <a:avLst/>
              <a:gdLst/>
              <a:ahLst/>
              <a:cxnLst/>
              <a:rect r="r" b="b" t="t" l="l"/>
              <a:pathLst>
                <a:path h="354010" w="4018127">
                  <a:moveTo>
                    <a:pt x="11671" y="0"/>
                  </a:moveTo>
                  <a:lnTo>
                    <a:pt x="4006455" y="0"/>
                  </a:lnTo>
                  <a:cubicBezTo>
                    <a:pt x="4012901" y="0"/>
                    <a:pt x="4018127" y="5226"/>
                    <a:pt x="4018127" y="11671"/>
                  </a:cubicBezTo>
                  <a:lnTo>
                    <a:pt x="4018127" y="342339"/>
                  </a:lnTo>
                  <a:cubicBezTo>
                    <a:pt x="4018127" y="345434"/>
                    <a:pt x="4016897" y="348403"/>
                    <a:pt x="4014708" y="350592"/>
                  </a:cubicBezTo>
                  <a:cubicBezTo>
                    <a:pt x="4012519" y="352781"/>
                    <a:pt x="4009551" y="354010"/>
                    <a:pt x="4006455" y="354010"/>
                  </a:cubicBezTo>
                  <a:lnTo>
                    <a:pt x="11671" y="354010"/>
                  </a:lnTo>
                  <a:cubicBezTo>
                    <a:pt x="8576" y="354010"/>
                    <a:pt x="5607" y="352781"/>
                    <a:pt x="3419" y="350592"/>
                  </a:cubicBezTo>
                  <a:cubicBezTo>
                    <a:pt x="1230" y="348403"/>
                    <a:pt x="0" y="345434"/>
                    <a:pt x="0" y="342339"/>
                  </a:cubicBezTo>
                  <a:lnTo>
                    <a:pt x="0" y="11671"/>
                  </a:lnTo>
                  <a:cubicBezTo>
                    <a:pt x="0" y="8576"/>
                    <a:pt x="1230" y="5607"/>
                    <a:pt x="3419" y="3419"/>
                  </a:cubicBezTo>
                  <a:cubicBezTo>
                    <a:pt x="5607" y="1230"/>
                    <a:pt x="8576" y="0"/>
                    <a:pt x="11671" y="0"/>
                  </a:cubicBezTo>
                  <a:close/>
                </a:path>
              </a:pathLst>
            </a:custGeom>
            <a:solidFill>
              <a:srgbClr val="FFB95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018127" cy="363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14904" y="6735634"/>
            <a:ext cx="708112" cy="708112"/>
          </a:xfrm>
          <a:custGeom>
            <a:avLst/>
            <a:gdLst/>
            <a:ahLst/>
            <a:cxnLst/>
            <a:rect r="r" b="b" t="t" l="l"/>
            <a:pathLst>
              <a:path h="708112" w="708112">
                <a:moveTo>
                  <a:pt x="0" y="0"/>
                </a:moveTo>
                <a:lnTo>
                  <a:pt x="708112" y="0"/>
                </a:lnTo>
                <a:lnTo>
                  <a:pt x="708112" y="708112"/>
                </a:lnTo>
                <a:lnTo>
                  <a:pt x="0" y="708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68960" y="8549607"/>
            <a:ext cx="15256325" cy="1262792"/>
            <a:chOff x="0" y="0"/>
            <a:chExt cx="4018127" cy="3325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18127" cy="332587"/>
            </a:xfrm>
            <a:custGeom>
              <a:avLst/>
              <a:gdLst/>
              <a:ahLst/>
              <a:cxnLst/>
              <a:rect r="r" b="b" t="t" l="l"/>
              <a:pathLst>
                <a:path h="332587" w="4018127">
                  <a:moveTo>
                    <a:pt x="11671" y="0"/>
                  </a:moveTo>
                  <a:lnTo>
                    <a:pt x="4006455" y="0"/>
                  </a:lnTo>
                  <a:cubicBezTo>
                    <a:pt x="4012901" y="0"/>
                    <a:pt x="4018127" y="5226"/>
                    <a:pt x="4018127" y="11671"/>
                  </a:cubicBezTo>
                  <a:lnTo>
                    <a:pt x="4018127" y="320916"/>
                  </a:lnTo>
                  <a:cubicBezTo>
                    <a:pt x="4018127" y="324011"/>
                    <a:pt x="4016897" y="326980"/>
                    <a:pt x="4014708" y="329169"/>
                  </a:cubicBezTo>
                  <a:cubicBezTo>
                    <a:pt x="4012519" y="331358"/>
                    <a:pt x="4009551" y="332587"/>
                    <a:pt x="4006455" y="332587"/>
                  </a:cubicBezTo>
                  <a:lnTo>
                    <a:pt x="11671" y="332587"/>
                  </a:lnTo>
                  <a:cubicBezTo>
                    <a:pt x="5226" y="332587"/>
                    <a:pt x="0" y="327362"/>
                    <a:pt x="0" y="320916"/>
                  </a:cubicBezTo>
                  <a:lnTo>
                    <a:pt x="0" y="11671"/>
                  </a:lnTo>
                  <a:cubicBezTo>
                    <a:pt x="0" y="8576"/>
                    <a:pt x="1230" y="5607"/>
                    <a:pt x="3419" y="3419"/>
                  </a:cubicBezTo>
                  <a:cubicBezTo>
                    <a:pt x="5607" y="1230"/>
                    <a:pt x="8576" y="0"/>
                    <a:pt x="11671" y="0"/>
                  </a:cubicBezTo>
                  <a:close/>
                </a:path>
              </a:pathLst>
            </a:custGeom>
            <a:solidFill>
              <a:srgbClr val="FFB9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018127" cy="342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14904" y="8632217"/>
            <a:ext cx="708112" cy="708112"/>
          </a:xfrm>
          <a:custGeom>
            <a:avLst/>
            <a:gdLst/>
            <a:ahLst/>
            <a:cxnLst/>
            <a:rect r="r" b="b" t="t" l="l"/>
            <a:pathLst>
              <a:path h="708112" w="708112">
                <a:moveTo>
                  <a:pt x="0" y="0"/>
                </a:moveTo>
                <a:lnTo>
                  <a:pt x="708112" y="0"/>
                </a:lnTo>
                <a:lnTo>
                  <a:pt x="708112" y="708112"/>
                </a:lnTo>
                <a:lnTo>
                  <a:pt x="0" y="708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77370" y="330155"/>
            <a:ext cx="1588410" cy="1588410"/>
          </a:xfrm>
          <a:custGeom>
            <a:avLst/>
            <a:gdLst/>
            <a:ahLst/>
            <a:cxnLst/>
            <a:rect r="r" b="b" t="t" l="l"/>
            <a:pathLst>
              <a:path h="1588410" w="1588410">
                <a:moveTo>
                  <a:pt x="0" y="0"/>
                </a:moveTo>
                <a:lnTo>
                  <a:pt x="1588410" y="0"/>
                </a:lnTo>
                <a:lnTo>
                  <a:pt x="1588410" y="1588409"/>
                </a:lnTo>
                <a:lnTo>
                  <a:pt x="0" y="15884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062652" y="339680"/>
            <a:ext cx="11620367" cy="197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59"/>
              </a:lnSpc>
            </a:pPr>
            <a:r>
              <a:rPr lang="en-US" sz="13074" spc="88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CURRENT MILESTONE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8444" y="2526044"/>
            <a:ext cx="14545126" cy="9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C</a:t>
            </a: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ompleted EDA, feature encoding (45 features), train/val/test split (80/10/10), and identified 3 key churn drivers: contract type, tenure, and monthly charges.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8444" y="6860633"/>
            <a:ext cx="14545126" cy="9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Evaluated 7 classification models including boosting methods (AdaBoost, GBM, XGBoost, LightGBM)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6544" y="8709745"/>
            <a:ext cx="14545126" cy="9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Logistic Regression selected as final model. Tied AUC (0.85) with Random Forest but higher churn recall (81% vs 75%), and superior interpretability.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182" y="7254489"/>
            <a:ext cx="2003811" cy="2003811"/>
          </a:xfrm>
          <a:custGeom>
            <a:avLst/>
            <a:gdLst/>
            <a:ahLst/>
            <a:cxnLst/>
            <a:rect r="r" b="b" t="t" l="l"/>
            <a:pathLst>
              <a:path h="2003811" w="2003811">
                <a:moveTo>
                  <a:pt x="0" y="0"/>
                </a:moveTo>
                <a:lnTo>
                  <a:pt x="2003812" y="0"/>
                </a:lnTo>
                <a:lnTo>
                  <a:pt x="2003812" y="2003811"/>
                </a:lnTo>
                <a:lnTo>
                  <a:pt x="0" y="2003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4939" y="558056"/>
            <a:ext cx="1688487" cy="1688487"/>
          </a:xfrm>
          <a:custGeom>
            <a:avLst/>
            <a:gdLst/>
            <a:ahLst/>
            <a:cxnLst/>
            <a:rect r="r" b="b" t="t" l="l"/>
            <a:pathLst>
              <a:path h="1688487" w="1688487">
                <a:moveTo>
                  <a:pt x="0" y="0"/>
                </a:moveTo>
                <a:lnTo>
                  <a:pt x="1688487" y="0"/>
                </a:lnTo>
                <a:lnTo>
                  <a:pt x="1688487" y="1688487"/>
                </a:lnTo>
                <a:lnTo>
                  <a:pt x="0" y="16884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03741" y="7722994"/>
            <a:ext cx="1395555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B0A0A"/>
                </a:solidFill>
                <a:latin typeface="Lora Bold"/>
                <a:ea typeface="Lora Bold"/>
                <a:cs typeface="Lora Bold"/>
                <a:sym typeface="Lora Bold"/>
              </a:rPr>
              <a:t>No major changes to the overall direction.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B0A0A"/>
                </a:solidFill>
                <a:latin typeface="Lora Bold"/>
                <a:ea typeface="Lora Bold"/>
                <a:cs typeface="Lora Bold"/>
                <a:sym typeface="Lora Bold"/>
              </a:rPr>
              <a:t>Churn prediction via supervised classification remains the core objective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78890" y="2767610"/>
            <a:ext cx="16480410" cy="942778"/>
            <a:chOff x="0" y="0"/>
            <a:chExt cx="4340519" cy="2483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40520" cy="248304"/>
            </a:xfrm>
            <a:custGeom>
              <a:avLst/>
              <a:gdLst/>
              <a:ahLst/>
              <a:cxnLst/>
              <a:rect r="r" b="b" t="t" l="l"/>
              <a:pathLst>
                <a:path h="248304" w="4340520">
                  <a:moveTo>
                    <a:pt x="10805" y="0"/>
                  </a:moveTo>
                  <a:lnTo>
                    <a:pt x="4329715" y="0"/>
                  </a:lnTo>
                  <a:cubicBezTo>
                    <a:pt x="4332581" y="0"/>
                    <a:pt x="4335329" y="1138"/>
                    <a:pt x="4337355" y="3165"/>
                  </a:cubicBezTo>
                  <a:cubicBezTo>
                    <a:pt x="4339381" y="5191"/>
                    <a:pt x="4340520" y="7939"/>
                    <a:pt x="4340520" y="10805"/>
                  </a:cubicBezTo>
                  <a:lnTo>
                    <a:pt x="4340520" y="237499"/>
                  </a:lnTo>
                  <a:cubicBezTo>
                    <a:pt x="4340520" y="240365"/>
                    <a:pt x="4339381" y="243113"/>
                    <a:pt x="4337355" y="245139"/>
                  </a:cubicBezTo>
                  <a:cubicBezTo>
                    <a:pt x="4335329" y="247165"/>
                    <a:pt x="4332581" y="248304"/>
                    <a:pt x="4329715" y="248304"/>
                  </a:cubicBezTo>
                  <a:lnTo>
                    <a:pt x="10805" y="248304"/>
                  </a:lnTo>
                  <a:cubicBezTo>
                    <a:pt x="7939" y="248304"/>
                    <a:pt x="5191" y="247165"/>
                    <a:pt x="3165" y="245139"/>
                  </a:cubicBezTo>
                  <a:cubicBezTo>
                    <a:pt x="1138" y="243113"/>
                    <a:pt x="0" y="240365"/>
                    <a:pt x="0" y="237499"/>
                  </a:cubicBezTo>
                  <a:lnTo>
                    <a:pt x="0" y="10805"/>
                  </a:lnTo>
                  <a:cubicBezTo>
                    <a:pt x="0" y="7939"/>
                    <a:pt x="1138" y="5191"/>
                    <a:pt x="3165" y="3165"/>
                  </a:cubicBezTo>
                  <a:cubicBezTo>
                    <a:pt x="5191" y="1138"/>
                    <a:pt x="7939" y="0"/>
                    <a:pt x="10805" y="0"/>
                  </a:cubicBezTo>
                  <a:close/>
                </a:path>
              </a:pathLst>
            </a:custGeom>
            <a:solidFill>
              <a:srgbClr val="78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340519" cy="2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31088" y="417684"/>
            <a:ext cx="11620367" cy="197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59"/>
              </a:lnSpc>
            </a:pPr>
            <a:r>
              <a:rPr lang="en-US" sz="13074" spc="88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WHAT CHANGED..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8890" y="4104240"/>
            <a:ext cx="16480410" cy="942778"/>
            <a:chOff x="0" y="0"/>
            <a:chExt cx="4340519" cy="2483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40520" cy="248304"/>
            </a:xfrm>
            <a:custGeom>
              <a:avLst/>
              <a:gdLst/>
              <a:ahLst/>
              <a:cxnLst/>
              <a:rect r="r" b="b" t="t" l="l"/>
              <a:pathLst>
                <a:path h="248304" w="4340520">
                  <a:moveTo>
                    <a:pt x="10805" y="0"/>
                  </a:moveTo>
                  <a:lnTo>
                    <a:pt x="4329715" y="0"/>
                  </a:lnTo>
                  <a:cubicBezTo>
                    <a:pt x="4332581" y="0"/>
                    <a:pt x="4335329" y="1138"/>
                    <a:pt x="4337355" y="3165"/>
                  </a:cubicBezTo>
                  <a:cubicBezTo>
                    <a:pt x="4339381" y="5191"/>
                    <a:pt x="4340520" y="7939"/>
                    <a:pt x="4340520" y="10805"/>
                  </a:cubicBezTo>
                  <a:lnTo>
                    <a:pt x="4340520" y="237499"/>
                  </a:lnTo>
                  <a:cubicBezTo>
                    <a:pt x="4340520" y="240365"/>
                    <a:pt x="4339381" y="243113"/>
                    <a:pt x="4337355" y="245139"/>
                  </a:cubicBezTo>
                  <a:cubicBezTo>
                    <a:pt x="4335329" y="247165"/>
                    <a:pt x="4332581" y="248304"/>
                    <a:pt x="4329715" y="248304"/>
                  </a:cubicBezTo>
                  <a:lnTo>
                    <a:pt x="10805" y="248304"/>
                  </a:lnTo>
                  <a:cubicBezTo>
                    <a:pt x="7939" y="248304"/>
                    <a:pt x="5191" y="247165"/>
                    <a:pt x="3165" y="245139"/>
                  </a:cubicBezTo>
                  <a:cubicBezTo>
                    <a:pt x="1138" y="243113"/>
                    <a:pt x="0" y="240365"/>
                    <a:pt x="0" y="237499"/>
                  </a:cubicBezTo>
                  <a:lnTo>
                    <a:pt x="0" y="10805"/>
                  </a:lnTo>
                  <a:cubicBezTo>
                    <a:pt x="0" y="7939"/>
                    <a:pt x="1138" y="5191"/>
                    <a:pt x="3165" y="3165"/>
                  </a:cubicBezTo>
                  <a:cubicBezTo>
                    <a:pt x="5191" y="1138"/>
                    <a:pt x="7939" y="0"/>
                    <a:pt x="10805" y="0"/>
                  </a:cubicBezTo>
                  <a:close/>
                </a:path>
              </a:pathLst>
            </a:custGeom>
            <a:solidFill>
              <a:srgbClr val="78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4340519" cy="2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54087" y="4324169"/>
            <a:ext cx="1557982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DF3DF"/>
                </a:solidFill>
                <a:latin typeface="Lora Bold"/>
                <a:ea typeface="Lora Bold"/>
                <a:cs typeface="Lora Bold"/>
                <a:sym typeface="Lora Bold"/>
              </a:rPr>
              <a:t>Add</a:t>
            </a:r>
            <a:r>
              <a:rPr lang="en-US" b="true" sz="2700">
                <a:solidFill>
                  <a:srgbClr val="FDF3DF"/>
                </a:solidFill>
                <a:latin typeface="Lora Bold"/>
                <a:ea typeface="Lora Bold"/>
                <a:cs typeface="Lora Bold"/>
                <a:sym typeface="Lora Bold"/>
              </a:rPr>
              <a:t>ed Pipeline (StandardScaler → model) to prevent data leakage during scaling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78890" y="5437542"/>
            <a:ext cx="16480410" cy="1295879"/>
            <a:chOff x="0" y="0"/>
            <a:chExt cx="4340519" cy="3413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40520" cy="341301"/>
            </a:xfrm>
            <a:custGeom>
              <a:avLst/>
              <a:gdLst/>
              <a:ahLst/>
              <a:cxnLst/>
              <a:rect r="r" b="b" t="t" l="l"/>
              <a:pathLst>
                <a:path h="341301" w="4340520">
                  <a:moveTo>
                    <a:pt x="10805" y="0"/>
                  </a:moveTo>
                  <a:lnTo>
                    <a:pt x="4329715" y="0"/>
                  </a:lnTo>
                  <a:cubicBezTo>
                    <a:pt x="4332581" y="0"/>
                    <a:pt x="4335329" y="1138"/>
                    <a:pt x="4337355" y="3165"/>
                  </a:cubicBezTo>
                  <a:cubicBezTo>
                    <a:pt x="4339381" y="5191"/>
                    <a:pt x="4340520" y="7939"/>
                    <a:pt x="4340520" y="10805"/>
                  </a:cubicBezTo>
                  <a:lnTo>
                    <a:pt x="4340520" y="330497"/>
                  </a:lnTo>
                  <a:cubicBezTo>
                    <a:pt x="4340520" y="333362"/>
                    <a:pt x="4339381" y="336111"/>
                    <a:pt x="4337355" y="338137"/>
                  </a:cubicBezTo>
                  <a:cubicBezTo>
                    <a:pt x="4335329" y="340163"/>
                    <a:pt x="4332581" y="341301"/>
                    <a:pt x="4329715" y="341301"/>
                  </a:cubicBezTo>
                  <a:lnTo>
                    <a:pt x="10805" y="341301"/>
                  </a:lnTo>
                  <a:cubicBezTo>
                    <a:pt x="7939" y="341301"/>
                    <a:pt x="5191" y="340163"/>
                    <a:pt x="3165" y="338137"/>
                  </a:cubicBezTo>
                  <a:cubicBezTo>
                    <a:pt x="1138" y="336111"/>
                    <a:pt x="0" y="333362"/>
                    <a:pt x="0" y="330497"/>
                  </a:cubicBezTo>
                  <a:lnTo>
                    <a:pt x="0" y="10805"/>
                  </a:lnTo>
                  <a:cubicBezTo>
                    <a:pt x="0" y="7939"/>
                    <a:pt x="1138" y="5191"/>
                    <a:pt x="3165" y="3165"/>
                  </a:cubicBezTo>
                  <a:cubicBezTo>
                    <a:pt x="5191" y="1138"/>
                    <a:pt x="7939" y="0"/>
                    <a:pt x="10805" y="0"/>
                  </a:cubicBezTo>
                  <a:close/>
                </a:path>
              </a:pathLst>
            </a:custGeom>
            <a:solidFill>
              <a:srgbClr val="78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340519" cy="350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4087" y="5618517"/>
            <a:ext cx="15579825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DF3DF"/>
                </a:solidFill>
                <a:latin typeface="Lora Bold"/>
                <a:ea typeface="Lora Bold"/>
                <a:cs typeface="Lora Bold"/>
                <a:sym typeface="Lora Bold"/>
              </a:rPr>
              <a:t>Dropped one column (TotalCharges) that highly correlated with MonthlyCharge x Tenure to avoid multicollinearity issue.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4087" y="2968489"/>
            <a:ext cx="1557982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DF3DF"/>
                </a:solidFill>
                <a:latin typeface="Lora Bold"/>
                <a:ea typeface="Lora Bold"/>
                <a:cs typeface="Lora Bold"/>
                <a:sym typeface="Lora Bold"/>
              </a:rPr>
              <a:t>A</a:t>
            </a:r>
            <a:r>
              <a:rPr lang="en-US" b="true" sz="2700">
                <a:solidFill>
                  <a:srgbClr val="FDF3DF"/>
                </a:solidFill>
                <a:latin typeface="Lora Bold"/>
                <a:ea typeface="Lora Bold"/>
                <a:cs typeface="Lora Bold"/>
                <a:sym typeface="Lora Bold"/>
              </a:rPr>
              <a:t>pplied Stratify in train/val/test split to preserve churn ratio across all sets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064" y="9269775"/>
            <a:ext cx="16480410" cy="636518"/>
            <a:chOff x="0" y="0"/>
            <a:chExt cx="4340519" cy="167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40520" cy="167643"/>
            </a:xfrm>
            <a:custGeom>
              <a:avLst/>
              <a:gdLst/>
              <a:ahLst/>
              <a:cxnLst/>
              <a:rect r="r" b="b" t="t" l="l"/>
              <a:pathLst>
                <a:path h="167643" w="4340520">
                  <a:moveTo>
                    <a:pt x="10805" y="0"/>
                  </a:moveTo>
                  <a:lnTo>
                    <a:pt x="4329715" y="0"/>
                  </a:lnTo>
                  <a:cubicBezTo>
                    <a:pt x="4332581" y="0"/>
                    <a:pt x="4335329" y="1138"/>
                    <a:pt x="4337355" y="3165"/>
                  </a:cubicBezTo>
                  <a:cubicBezTo>
                    <a:pt x="4339381" y="5191"/>
                    <a:pt x="4340520" y="7939"/>
                    <a:pt x="4340520" y="10805"/>
                  </a:cubicBezTo>
                  <a:lnTo>
                    <a:pt x="4340520" y="156838"/>
                  </a:lnTo>
                  <a:cubicBezTo>
                    <a:pt x="4340520" y="159704"/>
                    <a:pt x="4339381" y="162452"/>
                    <a:pt x="4337355" y="164478"/>
                  </a:cubicBezTo>
                  <a:cubicBezTo>
                    <a:pt x="4335329" y="166504"/>
                    <a:pt x="4332581" y="167643"/>
                    <a:pt x="4329715" y="167643"/>
                  </a:cubicBezTo>
                  <a:lnTo>
                    <a:pt x="10805" y="167643"/>
                  </a:lnTo>
                  <a:cubicBezTo>
                    <a:pt x="7939" y="167643"/>
                    <a:pt x="5191" y="166504"/>
                    <a:pt x="3165" y="164478"/>
                  </a:cubicBezTo>
                  <a:cubicBezTo>
                    <a:pt x="1138" y="162452"/>
                    <a:pt x="0" y="159704"/>
                    <a:pt x="0" y="156838"/>
                  </a:cubicBezTo>
                  <a:lnTo>
                    <a:pt x="0" y="10805"/>
                  </a:lnTo>
                  <a:cubicBezTo>
                    <a:pt x="0" y="7939"/>
                    <a:pt x="1138" y="5191"/>
                    <a:pt x="3165" y="3165"/>
                  </a:cubicBezTo>
                  <a:cubicBezTo>
                    <a:pt x="5191" y="1138"/>
                    <a:pt x="7939" y="0"/>
                    <a:pt x="10805" y="0"/>
                  </a:cubicBezTo>
                  <a:close/>
                </a:path>
              </a:pathLst>
            </a:custGeom>
            <a:solidFill>
              <a:srgbClr val="9DB7D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340519" cy="177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126053"/>
            <a:ext cx="1521457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DF3DF"/>
                </a:solidFill>
                <a:latin typeface="Lora"/>
                <a:ea typeface="Lora"/>
                <a:cs typeface="Lora"/>
                <a:sym typeface="Lora"/>
              </a:rPr>
              <a:t>Churn level class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98805" y="2581348"/>
            <a:ext cx="14599896" cy="942778"/>
            <a:chOff x="0" y="0"/>
            <a:chExt cx="3845240" cy="2483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45240" cy="248304"/>
            </a:xfrm>
            <a:custGeom>
              <a:avLst/>
              <a:gdLst/>
              <a:ahLst/>
              <a:cxnLst/>
              <a:rect r="r" b="b" t="t" l="l"/>
              <a:pathLst>
                <a:path h="248304" w="3845240">
                  <a:moveTo>
                    <a:pt x="12196" y="0"/>
                  </a:moveTo>
                  <a:lnTo>
                    <a:pt x="3833044" y="0"/>
                  </a:lnTo>
                  <a:cubicBezTo>
                    <a:pt x="3836279" y="0"/>
                    <a:pt x="3839381" y="1285"/>
                    <a:pt x="3841668" y="3572"/>
                  </a:cubicBezTo>
                  <a:cubicBezTo>
                    <a:pt x="3843955" y="5859"/>
                    <a:pt x="3845240" y="8962"/>
                    <a:pt x="3845240" y="12196"/>
                  </a:cubicBezTo>
                  <a:lnTo>
                    <a:pt x="3845240" y="236107"/>
                  </a:lnTo>
                  <a:cubicBezTo>
                    <a:pt x="3845240" y="239342"/>
                    <a:pt x="3843955" y="242444"/>
                    <a:pt x="3841668" y="244731"/>
                  </a:cubicBezTo>
                  <a:cubicBezTo>
                    <a:pt x="3839381" y="247019"/>
                    <a:pt x="3836279" y="248304"/>
                    <a:pt x="3833044" y="248304"/>
                  </a:cubicBezTo>
                  <a:lnTo>
                    <a:pt x="12196" y="248304"/>
                  </a:lnTo>
                  <a:cubicBezTo>
                    <a:pt x="5460" y="248304"/>
                    <a:pt x="0" y="242843"/>
                    <a:pt x="0" y="236107"/>
                  </a:cubicBezTo>
                  <a:lnTo>
                    <a:pt x="0" y="12196"/>
                  </a:lnTo>
                  <a:cubicBezTo>
                    <a:pt x="0" y="8962"/>
                    <a:pt x="1285" y="5859"/>
                    <a:pt x="3572" y="3572"/>
                  </a:cubicBezTo>
                  <a:cubicBezTo>
                    <a:pt x="5859" y="1285"/>
                    <a:pt x="8962" y="0"/>
                    <a:pt x="12196" y="0"/>
                  </a:cubicBezTo>
                  <a:close/>
                </a:path>
              </a:pathLst>
            </a:custGeom>
            <a:solidFill>
              <a:srgbClr val="78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3845240" cy="2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14322" y="440535"/>
            <a:ext cx="2019495" cy="1883638"/>
          </a:xfrm>
          <a:custGeom>
            <a:avLst/>
            <a:gdLst/>
            <a:ahLst/>
            <a:cxnLst/>
            <a:rect r="r" b="b" t="t" l="l"/>
            <a:pathLst>
              <a:path h="1883638" w="2019495">
                <a:moveTo>
                  <a:pt x="0" y="0"/>
                </a:moveTo>
                <a:lnTo>
                  <a:pt x="2019495" y="0"/>
                </a:lnTo>
                <a:lnTo>
                  <a:pt x="2019495" y="1883638"/>
                </a:lnTo>
                <a:lnTo>
                  <a:pt x="0" y="1883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69859" y="9342289"/>
            <a:ext cx="10558819" cy="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3"/>
              </a:lnSpc>
              <a:spcBef>
                <a:spcPct val="0"/>
              </a:spcBef>
            </a:pPr>
            <a:r>
              <a:rPr lang="en-US" b="true" sz="2899" spc="-162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</a:t>
            </a:r>
            <a:r>
              <a:rPr lang="en-US" b="true" sz="2899" spc="-162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rioritize Recall over Accuracy due to class imbalance (26.5% churn)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33817" y="714362"/>
            <a:ext cx="11620367" cy="197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59"/>
              </a:lnSpc>
            </a:pPr>
            <a:r>
              <a:rPr lang="en-US" sz="13074" spc="88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KEY FINDING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1856" y="2788367"/>
            <a:ext cx="1363379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DF3DF"/>
                </a:solidFill>
                <a:latin typeface="Lora Bold"/>
                <a:ea typeface="Lora Bold"/>
                <a:cs typeface="Lora Bold"/>
                <a:sym typeface="Lora Bold"/>
              </a:rPr>
              <a:t>Logistic Regression Provides the Best Balance of Performance and Interpretability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3469" y="8448677"/>
            <a:ext cx="9081127" cy="3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b="true" sz="2373" spc="-132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LR and RF perform similarly well, while Decision Tree underperforms.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82091" y="7385462"/>
            <a:ext cx="952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-114300" y="4167587"/>
            <a:ext cx="10376665" cy="4033440"/>
            <a:chOff x="0" y="0"/>
            <a:chExt cx="13835554" cy="537791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3106798" cy="5377919"/>
              <a:chOff x="0" y="0"/>
              <a:chExt cx="2488999" cy="102127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488999" cy="1021274"/>
              </a:xfrm>
              <a:custGeom>
                <a:avLst/>
                <a:gdLst/>
                <a:ahLst/>
                <a:cxnLst/>
                <a:rect r="r" b="b" t="t" l="l"/>
                <a:pathLst>
                  <a:path h="1021274" w="2488999">
                    <a:moveTo>
                      <a:pt x="18842" y="0"/>
                    </a:moveTo>
                    <a:lnTo>
                      <a:pt x="2470157" y="0"/>
                    </a:lnTo>
                    <a:cubicBezTo>
                      <a:pt x="2475154" y="0"/>
                      <a:pt x="2479947" y="1985"/>
                      <a:pt x="2483480" y="5519"/>
                    </a:cubicBezTo>
                    <a:cubicBezTo>
                      <a:pt x="2487014" y="9052"/>
                      <a:pt x="2488999" y="13845"/>
                      <a:pt x="2488999" y="18842"/>
                    </a:cubicBezTo>
                    <a:lnTo>
                      <a:pt x="2488999" y="1002432"/>
                    </a:lnTo>
                    <a:cubicBezTo>
                      <a:pt x="2488999" y="1012838"/>
                      <a:pt x="2480563" y="1021274"/>
                      <a:pt x="2470157" y="1021274"/>
                    </a:cubicBezTo>
                    <a:lnTo>
                      <a:pt x="18842" y="1021274"/>
                    </a:lnTo>
                    <a:cubicBezTo>
                      <a:pt x="8436" y="1021274"/>
                      <a:pt x="0" y="1012838"/>
                      <a:pt x="0" y="1002432"/>
                    </a:cubicBezTo>
                    <a:lnTo>
                      <a:pt x="0" y="18842"/>
                    </a:lnTo>
                    <a:cubicBezTo>
                      <a:pt x="0" y="8436"/>
                      <a:pt x="8436" y="0"/>
                      <a:pt x="18842" y="0"/>
                    </a:cubicBezTo>
                    <a:close/>
                  </a:path>
                </a:pathLst>
              </a:custGeom>
              <a:solidFill>
                <a:srgbClr val="78000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2488999" cy="10307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49"/>
                  </a:lnSpc>
                </a:pPr>
              </a:p>
            </p:txBody>
          </p:sp>
        </p:grpSp>
        <p:pic>
          <p:nvPicPr>
            <p:cNvPr name="Picture 19" id="19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0">
              <a:off x="-898836" y="-1208899"/>
              <a:ext cx="16073880" cy="7818684"/>
            </a:xfrm>
            <a:prstGeom prst="rect">
              <a:avLst/>
            </a:prstGeom>
          </p:spPr>
        </p:pic>
      </p:grpSp>
      <p:sp>
        <p:nvSpPr>
          <p:cNvPr name="Freeform 20" id="20"/>
          <p:cNvSpPr/>
          <p:nvPr/>
        </p:nvSpPr>
        <p:spPr>
          <a:xfrm flipH="false" flipV="false" rot="0">
            <a:off x="10064403" y="3670490"/>
            <a:ext cx="7194897" cy="5452921"/>
          </a:xfrm>
          <a:custGeom>
            <a:avLst/>
            <a:gdLst/>
            <a:ahLst/>
            <a:cxnLst/>
            <a:rect r="r" b="b" t="t" l="l"/>
            <a:pathLst>
              <a:path h="5452921" w="7194897">
                <a:moveTo>
                  <a:pt x="0" y="0"/>
                </a:moveTo>
                <a:lnTo>
                  <a:pt x="7194897" y="0"/>
                </a:lnTo>
                <a:lnTo>
                  <a:pt x="7194897" y="5452921"/>
                </a:lnTo>
                <a:lnTo>
                  <a:pt x="0" y="54529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051" b="0"/>
            </a:stretch>
          </a:blipFill>
          <a:ln w="19050" cap="sq">
            <a:solidFill>
              <a:srgbClr val="105584"/>
            </a:solidFill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-893241">
            <a:off x="171360" y="4926669"/>
            <a:ext cx="454890" cy="433662"/>
          </a:xfrm>
          <a:custGeom>
            <a:avLst/>
            <a:gdLst/>
            <a:ahLst/>
            <a:cxnLst/>
            <a:rect r="r" b="b" t="t" l="l"/>
            <a:pathLst>
              <a:path h="433662" w="454890">
                <a:moveTo>
                  <a:pt x="0" y="0"/>
                </a:moveTo>
                <a:lnTo>
                  <a:pt x="454890" y="0"/>
                </a:lnTo>
                <a:lnTo>
                  <a:pt x="454890" y="433662"/>
                </a:lnTo>
                <a:lnTo>
                  <a:pt x="0" y="4336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7864425"/>
            <a:ext cx="8762951" cy="852365"/>
            <a:chOff x="0" y="0"/>
            <a:chExt cx="2307938" cy="224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7938" cy="224491"/>
            </a:xfrm>
            <a:custGeom>
              <a:avLst/>
              <a:gdLst/>
              <a:ahLst/>
              <a:cxnLst/>
              <a:rect r="r" b="b" t="t" l="l"/>
              <a:pathLst>
                <a:path h="224491" w="2307938">
                  <a:moveTo>
                    <a:pt x="20320" y="0"/>
                  </a:moveTo>
                  <a:lnTo>
                    <a:pt x="2287618" y="0"/>
                  </a:lnTo>
                  <a:cubicBezTo>
                    <a:pt x="2293007" y="0"/>
                    <a:pt x="2298175" y="2141"/>
                    <a:pt x="2301986" y="5952"/>
                  </a:cubicBezTo>
                  <a:cubicBezTo>
                    <a:pt x="2305797" y="9762"/>
                    <a:pt x="2307938" y="14931"/>
                    <a:pt x="2307938" y="20320"/>
                  </a:cubicBezTo>
                  <a:lnTo>
                    <a:pt x="2307938" y="204171"/>
                  </a:lnTo>
                  <a:cubicBezTo>
                    <a:pt x="2307938" y="215394"/>
                    <a:pt x="2298840" y="224491"/>
                    <a:pt x="2287618" y="224491"/>
                  </a:cubicBezTo>
                  <a:lnTo>
                    <a:pt x="20320" y="224491"/>
                  </a:lnTo>
                  <a:cubicBezTo>
                    <a:pt x="9098" y="224491"/>
                    <a:pt x="0" y="215394"/>
                    <a:pt x="0" y="204171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78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307938" cy="234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847286"/>
            <a:ext cx="7879899" cy="6566583"/>
          </a:xfrm>
          <a:custGeom>
            <a:avLst/>
            <a:gdLst/>
            <a:ahLst/>
            <a:cxnLst/>
            <a:rect r="r" b="b" t="t" l="l"/>
            <a:pathLst>
              <a:path h="6566583" w="7879899">
                <a:moveTo>
                  <a:pt x="0" y="0"/>
                </a:moveTo>
                <a:lnTo>
                  <a:pt x="7879899" y="0"/>
                </a:lnTo>
                <a:lnTo>
                  <a:pt x="7879899" y="6566582"/>
                </a:lnTo>
                <a:lnTo>
                  <a:pt x="0" y="6566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40379" y="1355961"/>
            <a:ext cx="9732303" cy="166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31"/>
              </a:lnSpc>
            </a:pPr>
            <a:r>
              <a:rPr lang="en-US" b="true" sz="10950" spc="744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CONFUSION MATRIX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187" y="8067532"/>
            <a:ext cx="8280678" cy="42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  <a:spcBef>
                <a:spcPct val="0"/>
              </a:spcBef>
            </a:pPr>
            <a:r>
              <a:rPr lang="en-US" b="true" sz="2699" spc="-15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Effective</a:t>
            </a:r>
            <a:r>
              <a:rPr lang="en-US" b="true" sz="2699" spc="-15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 for churn detection, with moderate false alarms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82054"/>
            <a:ext cx="6830694" cy="89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0"/>
              </a:lnSpc>
            </a:pPr>
            <a:r>
              <a:rPr lang="en-US" b="true" sz="5874" spc="39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-LOGISTIC REGRESSION-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9401" y="3496738"/>
            <a:ext cx="8995802" cy="409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b="true" sz="2962" spc="-15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TN (True Negative) = 385</a:t>
            </a:r>
          </a:p>
          <a:p>
            <a:pPr algn="l">
              <a:lnSpc>
                <a:spcPts val="4058"/>
              </a:lnSpc>
            </a:pPr>
            <a:r>
              <a:rPr lang="en-US" sz="2962" spc="-15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 Correctly predicted non-churn customers</a:t>
            </a:r>
          </a:p>
          <a:p>
            <a:pPr algn="l">
              <a:lnSpc>
                <a:spcPts val="4058"/>
              </a:lnSpc>
            </a:pPr>
            <a:r>
              <a:rPr lang="en-US" b="true" sz="2962" spc="-15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FP (False Positive) = 133</a:t>
            </a:r>
          </a:p>
          <a:p>
            <a:pPr algn="l">
              <a:lnSpc>
                <a:spcPts val="4058"/>
              </a:lnSpc>
            </a:pPr>
            <a:r>
              <a:rPr lang="en-US" sz="2962" spc="-15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 Non-churn customers flagged as churn</a:t>
            </a:r>
          </a:p>
          <a:p>
            <a:pPr algn="l">
              <a:lnSpc>
                <a:spcPts val="4058"/>
              </a:lnSpc>
            </a:pPr>
            <a:r>
              <a:rPr lang="en-US" b="true" sz="2962" spc="-15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FN (False Negative) = 44 </a:t>
            </a:r>
          </a:p>
          <a:p>
            <a:pPr algn="l">
              <a:lnSpc>
                <a:spcPts val="4058"/>
              </a:lnSpc>
            </a:pPr>
            <a:r>
              <a:rPr lang="en-US" sz="2962" spc="-15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 Churn customers missed by the model</a:t>
            </a:r>
          </a:p>
          <a:p>
            <a:pPr algn="l">
              <a:lnSpc>
                <a:spcPts val="4058"/>
              </a:lnSpc>
            </a:pPr>
            <a:r>
              <a:rPr lang="en-US" sz="2962" spc="-15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b="true" sz="2962" spc="-15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TP (True Positive) = 143</a:t>
            </a:r>
          </a:p>
          <a:p>
            <a:pPr algn="l">
              <a:lnSpc>
                <a:spcPts val="4058"/>
              </a:lnSpc>
            </a:pPr>
            <a:r>
              <a:rPr lang="en-US" sz="2962" spc="-15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 Correctly identified churn customers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966473"/>
            <a:ext cx="9615219" cy="6406139"/>
          </a:xfrm>
          <a:custGeom>
            <a:avLst/>
            <a:gdLst/>
            <a:ahLst/>
            <a:cxnLst/>
            <a:rect r="r" b="b" t="t" l="l"/>
            <a:pathLst>
              <a:path h="6406139" w="9615219">
                <a:moveTo>
                  <a:pt x="0" y="0"/>
                </a:moveTo>
                <a:lnTo>
                  <a:pt x="9615219" y="0"/>
                </a:lnTo>
                <a:lnTo>
                  <a:pt x="9615219" y="6406139"/>
                </a:lnTo>
                <a:lnTo>
                  <a:pt x="0" y="6406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030560" y="8193628"/>
            <a:ext cx="6906482" cy="859209"/>
            <a:chOff x="0" y="0"/>
            <a:chExt cx="1818991" cy="22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8991" cy="226294"/>
            </a:xfrm>
            <a:custGeom>
              <a:avLst/>
              <a:gdLst/>
              <a:ahLst/>
              <a:cxnLst/>
              <a:rect r="r" b="b" t="t" l="l"/>
              <a:pathLst>
                <a:path h="226294" w="1818991">
                  <a:moveTo>
                    <a:pt x="25782" y="0"/>
                  </a:moveTo>
                  <a:lnTo>
                    <a:pt x="1793209" y="0"/>
                  </a:lnTo>
                  <a:cubicBezTo>
                    <a:pt x="1807448" y="0"/>
                    <a:pt x="1818991" y="11543"/>
                    <a:pt x="1818991" y="25782"/>
                  </a:cubicBezTo>
                  <a:lnTo>
                    <a:pt x="1818991" y="200512"/>
                  </a:lnTo>
                  <a:cubicBezTo>
                    <a:pt x="1818991" y="214751"/>
                    <a:pt x="1807448" y="226294"/>
                    <a:pt x="1793209" y="226294"/>
                  </a:cubicBezTo>
                  <a:lnTo>
                    <a:pt x="25782" y="226294"/>
                  </a:lnTo>
                  <a:cubicBezTo>
                    <a:pt x="11543" y="226294"/>
                    <a:pt x="0" y="214751"/>
                    <a:pt x="0" y="200512"/>
                  </a:cubicBezTo>
                  <a:lnTo>
                    <a:pt x="0" y="25782"/>
                  </a:lnTo>
                  <a:cubicBezTo>
                    <a:pt x="0" y="11543"/>
                    <a:pt x="11543" y="0"/>
                    <a:pt x="25782" y="0"/>
                  </a:cubicBezTo>
                  <a:close/>
                </a:path>
              </a:pathLst>
            </a:custGeom>
            <a:solidFill>
              <a:srgbClr val="78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818991" cy="235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63919" y="1301246"/>
            <a:ext cx="10388261" cy="166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31"/>
              </a:lnSpc>
            </a:pPr>
            <a:r>
              <a:rPr lang="en-US" b="true" sz="10950" spc="744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FEATURE IMPORTANCE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82054"/>
            <a:ext cx="6830694" cy="89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0"/>
              </a:lnSpc>
            </a:pPr>
            <a:r>
              <a:rPr lang="en-US" b="true" sz="5874" spc="39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-LOGISTIC REGRESSION-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30560" y="2947423"/>
            <a:ext cx="7257440" cy="502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  <a:spcBef>
                <a:spcPct val="0"/>
              </a:spcBef>
            </a:pPr>
            <a:r>
              <a:rPr lang="en-US" b="true" sz="2651" spc="-148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Red Bars (positive coefficients) :Increase Churn</a:t>
            </a:r>
          </a:p>
          <a:p>
            <a:pPr algn="l" marL="572555" indent="-286278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651" spc="-14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Month-to-month contracts 🚨</a:t>
            </a:r>
          </a:p>
          <a:p>
            <a:pPr algn="l" marL="572555" indent="-286278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651" spc="-14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High monthly charges</a:t>
            </a:r>
          </a:p>
          <a:p>
            <a:pPr algn="l" marL="572555" indent="-286278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651" spc="-14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No tech support</a:t>
            </a:r>
          </a:p>
          <a:p>
            <a:pPr algn="l" marL="572555" indent="-286278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651" spc="-14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New customers</a:t>
            </a:r>
          </a:p>
          <a:p>
            <a:pPr algn="l">
              <a:lnSpc>
                <a:spcPts val="3341"/>
              </a:lnSpc>
              <a:spcBef>
                <a:spcPct val="0"/>
              </a:spcBef>
            </a:pPr>
          </a:p>
          <a:p>
            <a:pPr algn="l">
              <a:lnSpc>
                <a:spcPts val="3341"/>
              </a:lnSpc>
              <a:spcBef>
                <a:spcPct val="0"/>
              </a:spcBef>
            </a:pPr>
            <a:r>
              <a:rPr lang="en-US" b="true" sz="2651" spc="-148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Blue Bars (negative coefficients) : Decrease Churn</a:t>
            </a:r>
          </a:p>
          <a:p>
            <a:pPr algn="l" marL="572555" indent="-286278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651" spc="-14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Long-term contracts ✓</a:t>
            </a:r>
          </a:p>
          <a:p>
            <a:pPr algn="l" marL="572555" indent="-286278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651" spc="-14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Tech support services</a:t>
            </a:r>
          </a:p>
          <a:p>
            <a:pPr algn="l" marL="572555" indent="-286278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651" spc="-14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Lower pricing</a:t>
            </a:r>
          </a:p>
          <a:p>
            <a:pPr algn="l" marL="572555" indent="-286278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651" spc="-14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Loyal long-tenure customers</a:t>
            </a:r>
          </a:p>
          <a:p>
            <a:pPr algn="l">
              <a:lnSpc>
                <a:spcPts val="3341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451205" y="8387013"/>
            <a:ext cx="6065193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Contract Type is</a:t>
            </a:r>
            <a:r>
              <a:rPr lang="en-US" b="true" sz="3000" spc="-168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 the key churn driver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44351" y="539289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9503" y="415805"/>
            <a:ext cx="2517760" cy="2517760"/>
          </a:xfrm>
          <a:custGeom>
            <a:avLst/>
            <a:gdLst/>
            <a:ahLst/>
            <a:cxnLst/>
            <a:rect r="r" b="b" t="t" l="l"/>
            <a:pathLst>
              <a:path h="2517760" w="2517760">
                <a:moveTo>
                  <a:pt x="0" y="0"/>
                </a:moveTo>
                <a:lnTo>
                  <a:pt x="2517760" y="0"/>
                </a:lnTo>
                <a:lnTo>
                  <a:pt x="2517760" y="2517760"/>
                </a:lnTo>
                <a:lnTo>
                  <a:pt x="0" y="2517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31493" y="421511"/>
            <a:ext cx="14727658" cy="224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04"/>
              </a:lnSpc>
              <a:spcBef>
                <a:spcPct val="0"/>
              </a:spcBef>
            </a:pPr>
            <a:r>
              <a:rPr lang="en-US" sz="13074" spc="117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PENDING TASKS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8383" y="3956685"/>
            <a:ext cx="13147148" cy="230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test set evaluation</a:t>
            </a:r>
          </a:p>
          <a:p>
            <a:pPr algn="l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Comparative feature importance across other models</a:t>
            </a:r>
          </a:p>
          <a:p>
            <a:pPr algn="l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insights &amp; recommendations</a:t>
            </a:r>
          </a:p>
          <a:p>
            <a:pPr algn="l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Incorporate to the final report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7802" y="2078178"/>
            <a:ext cx="820423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</a:pPr>
            <a:r>
              <a:rPr lang="en-US" sz="9600" spc="8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AI USAGE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7802" y="3146883"/>
            <a:ext cx="17152395" cy="5547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2"/>
              </a:lnSpc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Thi</a:t>
            </a: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s project utilized AI as a supporting tool during the exploratory data analysis phase. </a:t>
            </a:r>
          </a:p>
          <a:p>
            <a:pPr algn="just">
              <a:lnSpc>
                <a:spcPts val="4032"/>
              </a:lnSpc>
            </a:pPr>
          </a:p>
          <a:p>
            <a:pPr algn="just">
              <a:lnSpc>
                <a:spcPts val="4032"/>
              </a:lnSpc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All data analysis, interpretation of results, business insights, and final decisions were performed independently by the team. All AI-generated suggestions were reviewed, verified, and adapted before use.</a:t>
            </a:r>
          </a:p>
          <a:p>
            <a:pPr algn="just">
              <a:lnSpc>
                <a:spcPts val="4032"/>
              </a:lnSpc>
            </a:pPr>
          </a:p>
          <a:p>
            <a:pPr algn="just">
              <a:lnSpc>
                <a:spcPts val="4032"/>
              </a:lnSpc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AI Tool: </a:t>
            </a:r>
          </a:p>
          <a:p>
            <a:pPr algn="just" marL="690881" indent="-345440" lvl="1">
              <a:lnSpc>
                <a:spcPts val="4032"/>
              </a:lnSpc>
              <a:buFont typeface="Arial"/>
              <a:buChar char="•"/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Perplexity AI (Sonnet 4.6)</a:t>
            </a:r>
          </a:p>
          <a:p>
            <a:pPr algn="just" marL="690881" indent="-345440" lvl="1">
              <a:lnSpc>
                <a:spcPts val="4032"/>
              </a:lnSpc>
              <a:buFont typeface="Arial"/>
              <a:buChar char="•"/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M365 Copilot AI (Smart Function)</a:t>
            </a:r>
          </a:p>
          <a:p>
            <a:pPr algn="just" marL="690881" indent="-345440" lvl="1">
              <a:lnSpc>
                <a:spcPts val="4032"/>
              </a:lnSpc>
              <a:buFont typeface="Arial"/>
              <a:buChar char="•"/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GPT-5.4 Thinking</a:t>
            </a:r>
          </a:p>
        </p:txBody>
      </p:sp>
      <p:sp>
        <p:nvSpPr>
          <p:cNvPr name="AutoShape 4" id="4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cap="flat" w="19050">
            <a:solidFill>
              <a:srgbClr val="669A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865580" y="660214"/>
            <a:ext cx="2393720" cy="515585"/>
            <a:chOff x="0" y="0"/>
            <a:chExt cx="630445" cy="135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0445" cy="135792"/>
            </a:xfrm>
            <a:custGeom>
              <a:avLst/>
              <a:gdLst/>
              <a:ahLst/>
              <a:cxnLst/>
              <a:rect r="r" b="b" t="t" l="l"/>
              <a:pathLst>
                <a:path h="135792" w="630445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68518" y="857663"/>
            <a:ext cx="239372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spc="-112" b="true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1883" y="4602160"/>
            <a:ext cx="8204234" cy="160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00"/>
              </a:lnSpc>
            </a:pPr>
            <a:r>
              <a:rPr lang="en-US" sz="14000" spc="12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98264" y="1435104"/>
            <a:ext cx="2389736" cy="2389736"/>
          </a:xfrm>
          <a:custGeom>
            <a:avLst/>
            <a:gdLst/>
            <a:ahLst/>
            <a:cxnLst/>
            <a:rect r="r" b="b" t="t" l="l"/>
            <a:pathLst>
              <a:path h="2389736" w="2389736">
                <a:moveTo>
                  <a:pt x="0" y="0"/>
                </a:moveTo>
                <a:lnTo>
                  <a:pt x="2389736" y="0"/>
                </a:lnTo>
                <a:lnTo>
                  <a:pt x="2389736" y="2389735"/>
                </a:lnTo>
                <a:lnTo>
                  <a:pt x="0" y="2389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cap="flat" w="19050">
            <a:solidFill>
              <a:srgbClr val="669A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865580" y="660214"/>
            <a:ext cx="2393720" cy="515585"/>
            <a:chOff x="0" y="0"/>
            <a:chExt cx="630445" cy="135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0445" cy="135792"/>
            </a:xfrm>
            <a:custGeom>
              <a:avLst/>
              <a:gdLst/>
              <a:ahLst/>
              <a:cxnLst/>
              <a:rect r="r" b="b" t="t" l="l"/>
              <a:pathLst>
                <a:path h="135792" w="630445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68518" y="857663"/>
            <a:ext cx="239372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spc="-112" b="true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17329" y="2226720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609064" y="-22453"/>
            <a:ext cx="14727658" cy="224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04"/>
              </a:lnSpc>
              <a:spcBef>
                <a:spcPct val="0"/>
              </a:spcBef>
            </a:pPr>
            <a:r>
              <a:rPr lang="en-US" sz="13074" spc="117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APPENDIX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43108" y="1173571"/>
            <a:ext cx="112047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 of all classification models tested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DAHGCU_1uHA</dc:identifier>
  <dcterms:modified xsi:type="dcterms:W3CDTF">2011-08-01T06:04:30Z</dcterms:modified>
  <cp:revision>1</cp:revision>
  <dc:title>Python Project - Step 3</dc:title>
</cp:coreProperties>
</file>