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ricolage Grotesque Bold" charset="1" panose="020B0605040402000204"/>
      <p:regular r:id="rId13"/>
    </p:embeddedFont>
    <p:embeddedFont>
      <p:font typeface="Poppins Bold" charset="1" panose="00000800000000000000"/>
      <p:regular r:id="rId14"/>
    </p:embeddedFont>
    <p:embeddedFont>
      <p:font typeface="Bricolage Grotesque" charset="1" panose="020B0605040402000204"/>
      <p:regular r:id="rId15"/>
    </p:embeddedFont>
    <p:embeddedFont>
      <p:font typeface="Poppins" charset="1" panose="00000500000000000000"/>
      <p:regular r:id="rId16"/>
    </p:embeddedFont>
    <p:embeddedFont>
      <p:font typeface="Canva Sans" charset="1" panose="020B0503030501040103"/>
      <p:regular r:id="rId17"/>
    </p:embeddedFont>
    <p:embeddedFont>
      <p:font typeface="Poppins Italics" charset="1" panose="00000500000000000000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03572" y="1599607"/>
            <a:ext cx="8788356" cy="8804364"/>
          </a:xfrm>
          <a:custGeom>
            <a:avLst/>
            <a:gdLst/>
            <a:ahLst/>
            <a:cxnLst/>
            <a:rect r="r" b="b" t="t" l="l"/>
            <a:pathLst>
              <a:path h="8804364" w="8788356">
                <a:moveTo>
                  <a:pt x="0" y="0"/>
                </a:moveTo>
                <a:lnTo>
                  <a:pt x="8788356" y="0"/>
                </a:lnTo>
                <a:lnTo>
                  <a:pt x="8788356" y="8804364"/>
                </a:lnTo>
                <a:lnTo>
                  <a:pt x="0" y="8804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5746" y="1769833"/>
            <a:ext cx="882825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3000" spc="-192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Project Proposal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5746" y="2410327"/>
            <a:ext cx="11387826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0"/>
              </a:lnSpc>
            </a:pPr>
            <a:r>
              <a:rPr lang="en-US" sz="6500" spc="-19" b="true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Churn Prediction in Subscription- Based Telecom Services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5746" y="7167417"/>
            <a:ext cx="8828254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93E9C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Arij Faiha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93E9C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Huyngim Eng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93E9C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Jessica Novita Sitorus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93E9C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Shi Xiaoyu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5746" y="6566903"/>
            <a:ext cx="8828254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3999" spc="-255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1: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85" y="3256264"/>
            <a:ext cx="8201025" cy="431917"/>
            <a:chOff x="0" y="0"/>
            <a:chExt cx="10934700" cy="5758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76200"/>
              <a:ext cx="10820400" cy="652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8"/>
                </a:lnSpc>
              </a:pPr>
              <a:r>
                <a:rPr lang="en-US" b="true" sz="2870" spc="-71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PROBLEM STATEMENT 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-8687136">
              <a:off x="10617680" y="115048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65502" y="3920643"/>
            <a:ext cx="8030362" cy="502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7"/>
              </a:lnSpc>
            </a:pP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Customer churn re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presents a major challenge for telecommunication companies because </a:t>
            </a:r>
            <a:r>
              <a:rPr lang="en-US" b="true" sz="2619" spc="-7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losing customers directly affects long-term profitability and competitive advantage.</a:t>
            </a:r>
          </a:p>
          <a:p>
            <a:pPr algn="just">
              <a:lnSpc>
                <a:spcPts val="3667"/>
              </a:lnSpc>
            </a:pPr>
          </a:p>
          <a:p>
            <a:pPr algn="l" marL="565630" indent="-282815" lvl="1">
              <a:lnSpc>
                <a:spcPts val="3667"/>
              </a:lnSpc>
              <a:buFont typeface="Arial"/>
              <a:buChar char="•"/>
            </a:pP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Acqu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iti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 costs </a:t>
            </a:r>
            <a:r>
              <a:rPr lang="en-US" b="true" sz="2619" spc="-7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5-25x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mor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 than r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etent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(Mi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 e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 al., 2016)</a:t>
            </a:r>
          </a:p>
          <a:p>
            <a:pPr algn="l" marL="565630" indent="-282815" lvl="1">
              <a:lnSpc>
                <a:spcPts val="3667"/>
              </a:lnSpc>
              <a:buFont typeface="Arial"/>
              <a:buChar char="•"/>
            </a:pP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5% retention increase can boost profits by </a:t>
            </a:r>
            <a:r>
              <a:rPr lang="en-US" b="true" sz="2619" spc="-7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25-95% 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(Reichheld &amp; Schefter, 2000)</a:t>
            </a:r>
          </a:p>
          <a:p>
            <a:pPr algn="l" marL="565630" indent="-282815" lvl="1">
              <a:lnSpc>
                <a:spcPts val="3667"/>
              </a:lnSpc>
              <a:buFont typeface="Arial"/>
              <a:buChar char="•"/>
            </a:pP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Telecom churn rates average</a:t>
            </a:r>
            <a:r>
              <a:rPr lang="en-US" b="true" sz="2619" spc="-7">
                <a:solidFill>
                  <a:srgbClr val="3A58E4"/>
                </a:solidFill>
                <a:latin typeface="Poppins Bold"/>
                <a:ea typeface="Poppins Bold"/>
                <a:cs typeface="Poppins Bold"/>
                <a:sym typeface="Poppins Bold"/>
              </a:rPr>
              <a:t> 20-50%</a:t>
            </a:r>
            <a:r>
              <a:rPr lang="en-US" sz="2619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annually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10990" y="3256264"/>
            <a:ext cx="8201025" cy="415407"/>
            <a:chOff x="0" y="0"/>
            <a:chExt cx="10934700" cy="55387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10820400" cy="630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78"/>
                </a:lnSpc>
              </a:pPr>
              <a:r>
                <a:rPr lang="en-US" b="true" sz="2770" spc="-6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-8687136">
              <a:off x="10617680" y="93034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8"/>
                  </a:lnTo>
                  <a:lnTo>
                    <a:pt x="0" y="304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27012" y="3920643"/>
            <a:ext cx="6985003" cy="411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Improving the company’s retention strategy by b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uild predictive churn models to:</a:t>
            </a:r>
          </a:p>
          <a:p>
            <a:pPr algn="l" marL="561420" indent="-280710" lvl="1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ify high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-ri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sk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customer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arly</a:t>
            </a:r>
          </a:p>
          <a:p>
            <a:pPr algn="l" marL="561420" indent="-280710" lvl="1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der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stand 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ch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rn dr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ct, tenure, charges)</a:t>
            </a:r>
          </a:p>
          <a:p>
            <a:pPr algn="l" marL="561420" indent="-280710" lvl="1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Enable targeted retention campaigns</a:t>
            </a:r>
          </a:p>
          <a:p>
            <a:pPr algn="l" marL="561420" indent="-280710" lvl="1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Reduce acquisition costs through improved retention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13131" y="9415780"/>
            <a:ext cx="15099286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293E9C"/>
                </a:solidFill>
                <a:latin typeface="Canva Sans"/>
                <a:ea typeface="Canva Sans"/>
                <a:cs typeface="Canva Sans"/>
                <a:sym typeface="Canva Sans"/>
              </a:rPr>
              <a:t>Min</a:t>
            </a:r>
            <a:r>
              <a:rPr lang="en-US" sz="1700">
                <a:solidFill>
                  <a:srgbClr val="293E9C"/>
                </a:solidFill>
                <a:latin typeface="Canva Sans"/>
                <a:ea typeface="Canva Sans"/>
                <a:cs typeface="Canva Sans"/>
                <a:sym typeface="Canva Sans"/>
              </a:rPr>
              <a:t> et al. (2016) - Acquisition vs. retention cost analysis  Journal of Marketing Research</a:t>
            </a:r>
          </a:p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293E9C"/>
                </a:solidFill>
                <a:latin typeface="Canva Sans"/>
                <a:ea typeface="Canva Sans"/>
                <a:cs typeface="Canva Sans"/>
                <a:sym typeface="Canva Sans"/>
              </a:rPr>
              <a:t>Reichheld &amp; Schefter (2000) - Retention impact on profitability | Harvard Business Review</a:t>
            </a:r>
          </a:p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293E9C"/>
                </a:solidFill>
                <a:latin typeface="Canva Sans"/>
                <a:ea typeface="Canva Sans"/>
                <a:cs typeface="Canva Sans"/>
                <a:sym typeface="Canva Sans"/>
              </a:rPr>
              <a:t>https://tridenstechnology.com/telecom-churn/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76956" y="575466"/>
            <a:ext cx="40440" cy="1732806"/>
            <a:chOff x="0" y="0"/>
            <a:chExt cx="12543" cy="537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2B41A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08987" y="939901"/>
            <a:ext cx="8443451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9000" spc="-57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8987" y="3095208"/>
            <a:ext cx="695388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spc="-320">
                <a:solidFill>
                  <a:srgbClr val="293E9C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Key</a:t>
            </a:r>
            <a:r>
              <a:rPr lang="en-US" sz="5000" spc="-320">
                <a:solidFill>
                  <a:srgbClr val="293E9C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characteristics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52438" y="3095208"/>
            <a:ext cx="695388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 spc="-320">
                <a:solidFill>
                  <a:srgbClr val="293E9C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Variables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498217" y="-802130"/>
            <a:ext cx="7574678" cy="4487997"/>
          </a:xfrm>
          <a:custGeom>
            <a:avLst/>
            <a:gdLst/>
            <a:ahLst/>
            <a:cxnLst/>
            <a:rect r="r" b="b" t="t" l="l"/>
            <a:pathLst>
              <a:path h="4487997" w="7574678">
                <a:moveTo>
                  <a:pt x="0" y="0"/>
                </a:moveTo>
                <a:lnTo>
                  <a:pt x="7574679" y="0"/>
                </a:lnTo>
                <a:lnTo>
                  <a:pt x="7574679" y="4487997"/>
                </a:lnTo>
                <a:lnTo>
                  <a:pt x="0" y="4487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6956" y="575466"/>
            <a:ext cx="40440" cy="1732806"/>
            <a:chOff x="0" y="0"/>
            <a:chExt cx="12543" cy="5374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2B41A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08987" y="939901"/>
            <a:ext cx="8443451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9000" spc="-57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Data 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514" y="9867844"/>
            <a:ext cx="772098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https://www.kaggle.com/datasets/blastchar/telco-customer-churn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54584" y="4321254"/>
            <a:ext cx="6683462" cy="623747"/>
            <a:chOff x="0" y="0"/>
            <a:chExt cx="1760253" cy="1642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60253" cy="164279"/>
            </a:xfrm>
            <a:custGeom>
              <a:avLst/>
              <a:gdLst/>
              <a:ahLst/>
              <a:cxnLst/>
              <a:rect r="r" b="b" t="t" l="l"/>
              <a:pathLst>
                <a:path h="164279" w="1760253">
                  <a:moveTo>
                    <a:pt x="59077" y="0"/>
                  </a:moveTo>
                  <a:lnTo>
                    <a:pt x="1701177" y="0"/>
                  </a:lnTo>
                  <a:cubicBezTo>
                    <a:pt x="1716845" y="0"/>
                    <a:pt x="1731871" y="6224"/>
                    <a:pt x="1742950" y="17303"/>
                  </a:cubicBezTo>
                  <a:cubicBezTo>
                    <a:pt x="1754029" y="28382"/>
                    <a:pt x="1760253" y="43409"/>
                    <a:pt x="1760253" y="59077"/>
                  </a:cubicBezTo>
                  <a:lnTo>
                    <a:pt x="1760253" y="105202"/>
                  </a:lnTo>
                  <a:cubicBezTo>
                    <a:pt x="1760253" y="137829"/>
                    <a:pt x="1733804" y="164279"/>
                    <a:pt x="1701177" y="164279"/>
                  </a:cubicBezTo>
                  <a:lnTo>
                    <a:pt x="59077" y="164279"/>
                  </a:lnTo>
                  <a:cubicBezTo>
                    <a:pt x="43409" y="164279"/>
                    <a:pt x="28382" y="158055"/>
                    <a:pt x="17303" y="146976"/>
                  </a:cubicBezTo>
                  <a:cubicBezTo>
                    <a:pt x="6224" y="135897"/>
                    <a:pt x="0" y="120870"/>
                    <a:pt x="0" y="105202"/>
                  </a:cubicBezTo>
                  <a:lnTo>
                    <a:pt x="0" y="59077"/>
                  </a:lnTo>
                  <a:cubicBezTo>
                    <a:pt x="0" y="26450"/>
                    <a:pt x="26450" y="0"/>
                    <a:pt x="59077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60253" cy="221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Demographic Informations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22862" y="6132274"/>
            <a:ext cx="6683462" cy="623747"/>
            <a:chOff x="0" y="0"/>
            <a:chExt cx="1760253" cy="1642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60253" cy="164279"/>
            </a:xfrm>
            <a:custGeom>
              <a:avLst/>
              <a:gdLst/>
              <a:ahLst/>
              <a:cxnLst/>
              <a:rect r="r" b="b" t="t" l="l"/>
              <a:pathLst>
                <a:path h="164279" w="1760253">
                  <a:moveTo>
                    <a:pt x="59077" y="0"/>
                  </a:moveTo>
                  <a:lnTo>
                    <a:pt x="1701177" y="0"/>
                  </a:lnTo>
                  <a:cubicBezTo>
                    <a:pt x="1716845" y="0"/>
                    <a:pt x="1731871" y="6224"/>
                    <a:pt x="1742950" y="17303"/>
                  </a:cubicBezTo>
                  <a:cubicBezTo>
                    <a:pt x="1754029" y="28382"/>
                    <a:pt x="1760253" y="43409"/>
                    <a:pt x="1760253" y="59077"/>
                  </a:cubicBezTo>
                  <a:lnTo>
                    <a:pt x="1760253" y="105202"/>
                  </a:lnTo>
                  <a:cubicBezTo>
                    <a:pt x="1760253" y="137829"/>
                    <a:pt x="1733804" y="164279"/>
                    <a:pt x="1701177" y="164279"/>
                  </a:cubicBezTo>
                  <a:lnTo>
                    <a:pt x="59077" y="164279"/>
                  </a:lnTo>
                  <a:cubicBezTo>
                    <a:pt x="43409" y="164279"/>
                    <a:pt x="28382" y="158055"/>
                    <a:pt x="17303" y="146976"/>
                  </a:cubicBezTo>
                  <a:cubicBezTo>
                    <a:pt x="6224" y="135897"/>
                    <a:pt x="0" y="120870"/>
                    <a:pt x="0" y="105202"/>
                  </a:cubicBezTo>
                  <a:lnTo>
                    <a:pt x="0" y="59077"/>
                  </a:lnTo>
                  <a:cubicBezTo>
                    <a:pt x="0" y="26450"/>
                    <a:pt x="26450" y="0"/>
                    <a:pt x="59077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760253" cy="221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Account Informations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22862" y="7943293"/>
            <a:ext cx="6683462" cy="623747"/>
            <a:chOff x="0" y="0"/>
            <a:chExt cx="1760253" cy="1642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60253" cy="164279"/>
            </a:xfrm>
            <a:custGeom>
              <a:avLst/>
              <a:gdLst/>
              <a:ahLst/>
              <a:cxnLst/>
              <a:rect r="r" b="b" t="t" l="l"/>
              <a:pathLst>
                <a:path h="164279" w="1760253">
                  <a:moveTo>
                    <a:pt x="59077" y="0"/>
                  </a:moveTo>
                  <a:lnTo>
                    <a:pt x="1701177" y="0"/>
                  </a:lnTo>
                  <a:cubicBezTo>
                    <a:pt x="1716845" y="0"/>
                    <a:pt x="1731871" y="6224"/>
                    <a:pt x="1742950" y="17303"/>
                  </a:cubicBezTo>
                  <a:cubicBezTo>
                    <a:pt x="1754029" y="28382"/>
                    <a:pt x="1760253" y="43409"/>
                    <a:pt x="1760253" y="59077"/>
                  </a:cubicBezTo>
                  <a:lnTo>
                    <a:pt x="1760253" y="105202"/>
                  </a:lnTo>
                  <a:cubicBezTo>
                    <a:pt x="1760253" y="137829"/>
                    <a:pt x="1733804" y="164279"/>
                    <a:pt x="1701177" y="164279"/>
                  </a:cubicBezTo>
                  <a:lnTo>
                    <a:pt x="59077" y="164279"/>
                  </a:lnTo>
                  <a:cubicBezTo>
                    <a:pt x="43409" y="164279"/>
                    <a:pt x="28382" y="158055"/>
                    <a:pt x="17303" y="146976"/>
                  </a:cubicBezTo>
                  <a:cubicBezTo>
                    <a:pt x="6224" y="135897"/>
                    <a:pt x="0" y="120870"/>
                    <a:pt x="0" y="105202"/>
                  </a:cubicBezTo>
                  <a:lnTo>
                    <a:pt x="0" y="59077"/>
                  </a:lnTo>
                  <a:cubicBezTo>
                    <a:pt x="0" y="26450"/>
                    <a:pt x="26450" y="0"/>
                    <a:pt x="59077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760253" cy="221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Service Usage Features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822862" y="5125799"/>
            <a:ext cx="734169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Gender, Senior citizen status and partner and dependents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85556" y="6959043"/>
            <a:ext cx="754744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ntract type, Payment method, Monthly and total charges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5556" y="8813744"/>
            <a:ext cx="807727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nternet service type, Technical support, Online security services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08987" y="4430302"/>
            <a:ext cx="786396" cy="855755"/>
          </a:xfrm>
          <a:custGeom>
            <a:avLst/>
            <a:gdLst/>
            <a:ahLst/>
            <a:cxnLst/>
            <a:rect r="r" b="b" t="t" l="l"/>
            <a:pathLst>
              <a:path h="855755" w="786396">
                <a:moveTo>
                  <a:pt x="0" y="0"/>
                </a:moveTo>
                <a:lnTo>
                  <a:pt x="786396" y="0"/>
                </a:lnTo>
                <a:lnTo>
                  <a:pt x="786396" y="855756"/>
                </a:lnTo>
                <a:lnTo>
                  <a:pt x="0" y="85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071342" y="4702175"/>
            <a:ext cx="372427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7,043 customer records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08987" y="6002733"/>
            <a:ext cx="786396" cy="763519"/>
          </a:xfrm>
          <a:custGeom>
            <a:avLst/>
            <a:gdLst/>
            <a:ahLst/>
            <a:cxnLst/>
            <a:rect r="r" b="b" t="t" l="l"/>
            <a:pathLst>
              <a:path h="763519" w="786396">
                <a:moveTo>
                  <a:pt x="0" y="0"/>
                </a:moveTo>
                <a:lnTo>
                  <a:pt x="786396" y="0"/>
                </a:lnTo>
                <a:lnTo>
                  <a:pt x="786396" y="763520"/>
                </a:lnTo>
                <a:lnTo>
                  <a:pt x="0" y="7635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071342" y="5936058"/>
            <a:ext cx="625000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21 features describing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customer information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127717" y="7407353"/>
            <a:ext cx="767667" cy="767667"/>
          </a:xfrm>
          <a:custGeom>
            <a:avLst/>
            <a:gdLst/>
            <a:ahLst/>
            <a:cxnLst/>
            <a:rect r="r" b="b" t="t" l="l"/>
            <a:pathLst>
              <a:path h="767667" w="767667">
                <a:moveTo>
                  <a:pt x="0" y="0"/>
                </a:moveTo>
                <a:lnTo>
                  <a:pt x="767666" y="0"/>
                </a:lnTo>
                <a:lnTo>
                  <a:pt x="767666" y="767667"/>
                </a:lnTo>
                <a:lnTo>
                  <a:pt x="0" y="767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2" id="32"/>
          <p:cNvSpPr txBox="true"/>
          <p:nvPr/>
        </p:nvSpPr>
        <p:spPr>
          <a:xfrm rot="0">
            <a:off x="2071342" y="7426269"/>
            <a:ext cx="6250003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binary target variable (</a:t>
            </a:r>
            <a:r>
              <a:rPr lang="en-US" sz="24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Churn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 indicating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whether a customer leaves the service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90113" y="1929025"/>
            <a:ext cx="6730921" cy="379246"/>
            <a:chOff x="0" y="0"/>
            <a:chExt cx="8974562" cy="50566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9061"/>
              <a:ext cx="8974562" cy="55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8"/>
                </a:lnSpc>
              </a:pPr>
              <a:r>
                <a:rPr lang="en-US" b="true" sz="2370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APPROACH ANALYTICAL METHODS APPLIED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-8687136">
              <a:off x="8443725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9962" y="3097379"/>
            <a:ext cx="2445931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399" spc="-153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D</a:t>
            </a:r>
            <a:r>
              <a:rPr lang="en-US" b="true" sz="2399" spc="-153" u="none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ata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12968" y="3097379"/>
            <a:ext cx="2445931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</a:t>
            </a: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loratory</a:t>
            </a: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Data Analysis (EDA)</a:t>
            </a:r>
          </a:p>
          <a:p>
            <a:pPr algn="ctr" marL="0" indent="0" lvl="0">
              <a:lnSpc>
                <a:spcPts val="344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904067" y="3131669"/>
            <a:ext cx="2445931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49"/>
              </a:lnSpc>
              <a:spcBef>
                <a:spcPct val="0"/>
              </a:spcBef>
            </a:pP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</a:t>
            </a: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achine Learni</a:t>
            </a: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ng Models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901" y="3328837"/>
            <a:ext cx="2445931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49"/>
              </a:lnSpc>
              <a:spcBef>
                <a:spcPct val="0"/>
              </a:spcBef>
            </a:pP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</a:t>
            </a: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odel</a:t>
            </a: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Evaluation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69204" y="3114524"/>
            <a:ext cx="2541683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49"/>
              </a:lnSpc>
              <a:spcBef>
                <a:spcPct val="0"/>
              </a:spcBef>
            </a:pP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Fe</a:t>
            </a: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ature Importance An</a:t>
            </a:r>
            <a:r>
              <a:rPr lang="en-US" b="true" sz="2299" spc="-147">
                <a:solidFill>
                  <a:srgbClr val="293E9C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alysis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4162" y="4106997"/>
            <a:ext cx="2754686" cy="5494596"/>
            <a:chOff x="0" y="0"/>
            <a:chExt cx="2021767" cy="40326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1767" cy="4032690"/>
            </a:xfrm>
            <a:custGeom>
              <a:avLst/>
              <a:gdLst/>
              <a:ahLst/>
              <a:cxnLst/>
              <a:rect r="r" b="b" t="t" l="l"/>
              <a:pathLst>
                <a:path h="4032690" w="2021767">
                  <a:moveTo>
                    <a:pt x="1897307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897307" y="0"/>
                  </a:lnTo>
                  <a:cubicBezTo>
                    <a:pt x="1965887" y="0"/>
                    <a:pt x="2021767" y="55880"/>
                    <a:pt x="2021767" y="124460"/>
                  </a:cubicBezTo>
                  <a:lnTo>
                    <a:pt x="2021767" y="3908229"/>
                  </a:lnTo>
                  <a:cubicBezTo>
                    <a:pt x="2021767" y="3976809"/>
                    <a:pt x="1965887" y="4032690"/>
                    <a:pt x="1897307" y="4032690"/>
                  </a:cubicBezTo>
                  <a:close/>
                </a:path>
              </a:pathLst>
            </a:custGeom>
            <a:solidFill>
              <a:srgbClr val="293E9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95999" y="4106997"/>
            <a:ext cx="3046502" cy="5494596"/>
            <a:chOff x="0" y="0"/>
            <a:chExt cx="2219332" cy="40027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9332" cy="4002733"/>
            </a:xfrm>
            <a:custGeom>
              <a:avLst/>
              <a:gdLst/>
              <a:ahLst/>
              <a:cxnLst/>
              <a:rect r="r" b="b" t="t" l="l"/>
              <a:pathLst>
                <a:path h="4002733" w="2219332">
                  <a:moveTo>
                    <a:pt x="2094872" y="4002733"/>
                  </a:moveTo>
                  <a:lnTo>
                    <a:pt x="124460" y="4002733"/>
                  </a:lnTo>
                  <a:cubicBezTo>
                    <a:pt x="55880" y="4002733"/>
                    <a:pt x="0" y="3946853"/>
                    <a:pt x="0" y="387827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94872" y="0"/>
                  </a:lnTo>
                  <a:cubicBezTo>
                    <a:pt x="2163452" y="0"/>
                    <a:pt x="2219332" y="55880"/>
                    <a:pt x="2219332" y="124460"/>
                  </a:cubicBezTo>
                  <a:lnTo>
                    <a:pt x="2219332" y="3878273"/>
                  </a:lnTo>
                  <a:cubicBezTo>
                    <a:pt x="2219332" y="3946853"/>
                    <a:pt x="2163452" y="4002733"/>
                    <a:pt x="2094872" y="4002733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732484" y="4106997"/>
            <a:ext cx="2793304" cy="5494596"/>
            <a:chOff x="0" y="0"/>
            <a:chExt cx="2050110" cy="40326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50111" cy="4032690"/>
            </a:xfrm>
            <a:custGeom>
              <a:avLst/>
              <a:gdLst/>
              <a:ahLst/>
              <a:cxnLst/>
              <a:rect r="r" b="b" t="t" l="l"/>
              <a:pathLst>
                <a:path h="4032690" w="2050111">
                  <a:moveTo>
                    <a:pt x="1925650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925650" y="0"/>
                  </a:lnTo>
                  <a:cubicBezTo>
                    <a:pt x="1994230" y="0"/>
                    <a:pt x="2050111" y="55880"/>
                    <a:pt x="2050111" y="124460"/>
                  </a:cubicBezTo>
                  <a:lnTo>
                    <a:pt x="2050111" y="3908229"/>
                  </a:lnTo>
                  <a:cubicBezTo>
                    <a:pt x="2050111" y="3976809"/>
                    <a:pt x="1994230" y="4032690"/>
                    <a:pt x="1925650" y="4032690"/>
                  </a:cubicBezTo>
                  <a:close/>
                </a:path>
              </a:pathLst>
            </a:custGeom>
            <a:solidFill>
              <a:srgbClr val="293E9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339944" y="4151601"/>
            <a:ext cx="2919356" cy="5424792"/>
            <a:chOff x="0" y="0"/>
            <a:chExt cx="2700288" cy="50177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00288" cy="5017718"/>
            </a:xfrm>
            <a:custGeom>
              <a:avLst/>
              <a:gdLst/>
              <a:ahLst/>
              <a:cxnLst/>
              <a:rect r="r" b="b" t="t" l="l"/>
              <a:pathLst>
                <a:path h="5017718" w="2700288">
                  <a:moveTo>
                    <a:pt x="2575828" y="5017718"/>
                  </a:moveTo>
                  <a:lnTo>
                    <a:pt x="124460" y="5017718"/>
                  </a:lnTo>
                  <a:cubicBezTo>
                    <a:pt x="55880" y="5017718"/>
                    <a:pt x="0" y="4961838"/>
                    <a:pt x="0" y="489325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575828" y="0"/>
                  </a:lnTo>
                  <a:cubicBezTo>
                    <a:pt x="2644408" y="0"/>
                    <a:pt x="2700288" y="55880"/>
                    <a:pt x="2700288" y="124460"/>
                  </a:cubicBezTo>
                  <a:lnTo>
                    <a:pt x="2700288" y="4893258"/>
                  </a:lnTo>
                  <a:cubicBezTo>
                    <a:pt x="2700288" y="4961838"/>
                    <a:pt x="2644408" y="5017718"/>
                    <a:pt x="2575828" y="5017718"/>
                  </a:cubicBezTo>
                  <a:close/>
                </a:path>
              </a:pathLst>
            </a:custGeom>
            <a:solidFill>
              <a:srgbClr val="293E9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011563" y="4151601"/>
            <a:ext cx="2842606" cy="5449992"/>
            <a:chOff x="0" y="0"/>
            <a:chExt cx="2103369" cy="40326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3369" cy="4032690"/>
            </a:xfrm>
            <a:custGeom>
              <a:avLst/>
              <a:gdLst/>
              <a:ahLst/>
              <a:cxnLst/>
              <a:rect r="r" b="b" t="t" l="l"/>
              <a:pathLst>
                <a:path h="4032690" w="2103369">
                  <a:moveTo>
                    <a:pt x="1978909" y="4032689"/>
                  </a:moveTo>
                  <a:lnTo>
                    <a:pt x="124460" y="4032689"/>
                  </a:lnTo>
                  <a:cubicBezTo>
                    <a:pt x="55880" y="4032689"/>
                    <a:pt x="0" y="3976809"/>
                    <a:pt x="0" y="390822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978909" y="0"/>
                  </a:lnTo>
                  <a:cubicBezTo>
                    <a:pt x="2047489" y="0"/>
                    <a:pt x="2103369" y="55880"/>
                    <a:pt x="2103369" y="124460"/>
                  </a:cubicBezTo>
                  <a:lnTo>
                    <a:pt x="2103369" y="3908229"/>
                  </a:lnTo>
                  <a:cubicBezTo>
                    <a:pt x="2103369" y="3976809"/>
                    <a:pt x="2047489" y="4032690"/>
                    <a:pt x="1978909" y="403269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52898" y="4571308"/>
            <a:ext cx="2260059" cy="399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This step includes: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Handling missing values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Converting categorical variables into numerical format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Checking data types and removing inconsistencies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04687" y="4567826"/>
            <a:ext cx="2462493" cy="399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1896">
                <a:solidFill>
                  <a:srgbClr val="2B42A8"/>
                </a:solidFill>
                <a:latin typeface="Canva Sans"/>
                <a:ea typeface="Canva Sans"/>
                <a:cs typeface="Canva Sans"/>
                <a:sym typeface="Canva Sans"/>
              </a:rPr>
              <a:t>Us</a:t>
            </a:r>
            <a:r>
              <a:rPr lang="en-US" sz="1896">
                <a:solidFill>
                  <a:srgbClr val="2B42A8"/>
                </a:solidFill>
                <a:latin typeface="Canva Sans"/>
                <a:ea typeface="Canva Sans"/>
                <a:cs typeface="Canva Sans"/>
                <a:sym typeface="Canva Sans"/>
              </a:rPr>
              <a:t>ing Python and Pandas, we:</a:t>
            </a:r>
          </a:p>
          <a:p>
            <a:pPr algn="l" marL="409406" indent="-204703" lvl="1">
              <a:lnSpc>
                <a:spcPts val="2654"/>
              </a:lnSpc>
              <a:buFont typeface="Arial"/>
              <a:buChar char="•"/>
            </a:pPr>
            <a:r>
              <a:rPr lang="en-US" sz="1896">
                <a:solidFill>
                  <a:srgbClr val="2B42A8"/>
                </a:solidFill>
                <a:latin typeface="Canva Sans"/>
                <a:ea typeface="Canva Sans"/>
                <a:cs typeface="Canva Sans"/>
                <a:sym typeface="Canva Sans"/>
              </a:rPr>
              <a:t>Explore data distributions</a:t>
            </a:r>
          </a:p>
          <a:p>
            <a:pPr algn="l" marL="409406" indent="-204703" lvl="1">
              <a:lnSpc>
                <a:spcPts val="2654"/>
              </a:lnSpc>
              <a:buFont typeface="Arial"/>
              <a:buChar char="•"/>
            </a:pPr>
            <a:r>
              <a:rPr lang="en-US" sz="1896">
                <a:solidFill>
                  <a:srgbClr val="2B42A8"/>
                </a:solidFill>
                <a:latin typeface="Canva Sans"/>
                <a:ea typeface="Canva Sans"/>
                <a:cs typeface="Canva Sans"/>
                <a:sym typeface="Canva Sans"/>
              </a:rPr>
              <a:t>Identify relationships between variables and churn</a:t>
            </a:r>
          </a:p>
          <a:p>
            <a:pPr algn="l" marL="409406" indent="-204703" lvl="1">
              <a:lnSpc>
                <a:spcPts val="2654"/>
              </a:lnSpc>
              <a:buFont typeface="Arial"/>
              <a:buChar char="•"/>
            </a:pPr>
            <a:r>
              <a:rPr lang="en-US" sz="1896">
                <a:solidFill>
                  <a:srgbClr val="2B42A8"/>
                </a:solidFill>
                <a:latin typeface="Canva Sans"/>
                <a:ea typeface="Canva Sans"/>
                <a:cs typeface="Canva Sans"/>
                <a:sym typeface="Canva Sans"/>
              </a:rPr>
              <a:t>Visualize patterns using charts.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23526" y="4571308"/>
            <a:ext cx="2607012" cy="465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inary classification models are used to</a:t>
            </a: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 predict customer churn: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Logistic Regression: simple and interpretable baseline model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Random Forest: improves prediction by combining multiple decision trees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29360" y="4657538"/>
            <a:ext cx="2607012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B41A2"/>
                </a:solidFill>
                <a:latin typeface="Canva Sans"/>
                <a:ea typeface="Canva Sans"/>
                <a:cs typeface="Canva Sans"/>
                <a:sym typeface="Canva Sans"/>
              </a:rPr>
              <a:t>Evaluating</a:t>
            </a:r>
            <a:r>
              <a:rPr lang="en-US" sz="1899">
                <a:solidFill>
                  <a:srgbClr val="2B41A2"/>
                </a:solidFill>
                <a:latin typeface="Canva Sans"/>
                <a:ea typeface="Canva Sans"/>
                <a:cs typeface="Canva Sans"/>
                <a:sym typeface="Canva Sans"/>
              </a:rPr>
              <a:t> model’s performance: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41A2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899">
                <a:solidFill>
                  <a:srgbClr val="2B41A2"/>
                </a:solidFill>
                <a:latin typeface="Canva Sans"/>
                <a:ea typeface="Canva Sans"/>
                <a:cs typeface="Canva Sans"/>
                <a:sym typeface="Canva Sans"/>
              </a:rPr>
              <a:t>ccuracy, 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41A2"/>
                </a:solidFill>
                <a:latin typeface="Canva Sans"/>
                <a:ea typeface="Canva Sans"/>
                <a:cs typeface="Canva Sans"/>
                <a:sym typeface="Canva Sans"/>
              </a:rPr>
              <a:t>Ability to correctly identify churn customers,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41A2"/>
                </a:solidFill>
                <a:latin typeface="Canva Sans"/>
                <a:ea typeface="Canva Sans"/>
                <a:cs typeface="Canva Sans"/>
                <a:sym typeface="Canva Sans"/>
              </a:rPr>
              <a:t>Overall prediction performance.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36539" y="4657538"/>
            <a:ext cx="2607012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Finding the most</a:t>
            </a: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 important variables aff</a:t>
            </a: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ecting churn are analyzed.</a:t>
            </a:r>
          </a:p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Examples include: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Contract type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Tenure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8F8F8"/>
                </a:solidFill>
                <a:latin typeface="Canva Sans"/>
                <a:ea typeface="Canva Sans"/>
                <a:cs typeface="Canva Sans"/>
                <a:sym typeface="Canva Sans"/>
              </a:rPr>
              <a:t>Monthly charges.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76956" y="575466"/>
            <a:ext cx="40440" cy="1732806"/>
            <a:chOff x="0" y="0"/>
            <a:chExt cx="12543" cy="5374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2B41A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44162" y="928686"/>
            <a:ext cx="8443451" cy="91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6999" spc="-44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7396" y="3025963"/>
            <a:ext cx="8172450" cy="379246"/>
            <a:chOff x="0" y="0"/>
            <a:chExt cx="10896600" cy="50566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9061"/>
              <a:ext cx="10820400" cy="55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8"/>
                </a:lnSpc>
              </a:pPr>
              <a:r>
                <a:rPr lang="en-US" b="true" sz="2370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EXISTING APPROACHES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17396" y="3987983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1" y="0"/>
                </a:lnTo>
                <a:lnTo>
                  <a:pt x="489071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7396" y="4959588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1" y="0"/>
                </a:lnTo>
                <a:lnTo>
                  <a:pt x="489071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7396" y="5934434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1" y="0"/>
                </a:lnTo>
                <a:lnTo>
                  <a:pt x="489071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1209" y="6912395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1" y="0"/>
                </a:lnTo>
                <a:lnTo>
                  <a:pt x="489071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932809" y="3025963"/>
            <a:ext cx="8172450" cy="379246"/>
            <a:chOff x="0" y="0"/>
            <a:chExt cx="10896600" cy="5056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49061"/>
              <a:ext cx="10820400" cy="554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8"/>
                </a:lnSpc>
              </a:pPr>
              <a:r>
                <a:rPr lang="en-US" b="true" sz="2370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KEY FINDINGS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9872705" y="3987983"/>
            <a:ext cx="465425" cy="465425"/>
          </a:xfrm>
          <a:custGeom>
            <a:avLst/>
            <a:gdLst/>
            <a:ahLst/>
            <a:cxnLst/>
            <a:rect r="r" b="b" t="t" l="l"/>
            <a:pathLst>
              <a:path h="465425" w="465425">
                <a:moveTo>
                  <a:pt x="0" y="0"/>
                </a:moveTo>
                <a:lnTo>
                  <a:pt x="465425" y="0"/>
                </a:lnTo>
                <a:lnTo>
                  <a:pt x="465425" y="465425"/>
                </a:lnTo>
                <a:lnTo>
                  <a:pt x="0" y="46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003746" y="3832587"/>
            <a:ext cx="3086100" cy="30861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1A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  <a:r>
                <a:rPr lang="en-US" b="true" sz="3500">
                  <a:solidFill>
                    <a:srgbClr val="FFFF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Churn Prediction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87460" y="3994330"/>
            <a:ext cx="7273799" cy="40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Logistic Regression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87460" y="4967556"/>
            <a:ext cx="2159507" cy="40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ecision Trees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87460" y="5940782"/>
            <a:ext cx="7273799" cy="40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andom Forest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1273" y="6918742"/>
            <a:ext cx="7273799" cy="40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radient Boosting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1209" y="7711300"/>
            <a:ext cx="486980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Focus: H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elp identify patterns in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 behavior and predict churn risk.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34534" y="3997255"/>
            <a:ext cx="7273799" cy="40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Contract type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34534" y="4965936"/>
            <a:ext cx="7273799" cy="40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Customer tenure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34534" y="5959832"/>
            <a:ext cx="7273799" cy="40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Monthly charges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34534" y="6918742"/>
            <a:ext cx="7273799" cy="40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Service usage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32809" y="7711300"/>
            <a:ext cx="558068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Focus: 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Understanding these factors helps 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companies design effective retention strategies.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6828" y="9228801"/>
            <a:ext cx="17316971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b="true">
                <a:solidFill>
                  <a:srgbClr val="2B42A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Resources: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Zhang, Y. (2025). Machine Learning Based Prediction of Telecom Customer Churn: Comparative Model Analysis. 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 Attar, A., &amp; El Hajj, M. (2026). Explainable AI driven customer churn prediction: a multi model ensemble approach with SHAP based feature analysis. 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860882" y="4959588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1" y="0"/>
                </a:lnTo>
                <a:lnTo>
                  <a:pt x="489071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860882" y="5953484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1" y="0"/>
                </a:lnTo>
                <a:lnTo>
                  <a:pt x="489071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872705" y="6947381"/>
            <a:ext cx="489071" cy="489071"/>
          </a:xfrm>
          <a:custGeom>
            <a:avLst/>
            <a:gdLst/>
            <a:ahLst/>
            <a:cxnLst/>
            <a:rect r="r" b="b" t="t" l="l"/>
            <a:pathLst>
              <a:path h="489071" w="489071">
                <a:moveTo>
                  <a:pt x="0" y="0"/>
                </a:moveTo>
                <a:lnTo>
                  <a:pt x="489071" y="0"/>
                </a:lnTo>
                <a:lnTo>
                  <a:pt x="489071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876956" y="575466"/>
            <a:ext cx="40440" cy="1732806"/>
            <a:chOff x="0" y="0"/>
            <a:chExt cx="12543" cy="5374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2B41A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86470" y="620179"/>
            <a:ext cx="8443451" cy="178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6999" spc="-44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Related Work &amp; </a:t>
            </a:r>
          </a:p>
          <a:p>
            <a:pPr algn="l">
              <a:lnSpc>
                <a:spcPts val="6859"/>
              </a:lnSpc>
            </a:pPr>
            <a:r>
              <a:rPr lang="en-US" sz="6999" spc="-44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Existing Approaches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6956" y="575466"/>
            <a:ext cx="40440" cy="1732806"/>
            <a:chOff x="0" y="0"/>
            <a:chExt cx="12543" cy="5374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2B41A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86470" y="620179"/>
            <a:ext cx="4908339" cy="178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6999" spc="-44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Desired </a:t>
            </a:r>
          </a:p>
          <a:p>
            <a:pPr algn="l">
              <a:lnSpc>
                <a:spcPts val="6859"/>
              </a:lnSpc>
            </a:pPr>
            <a:r>
              <a:rPr lang="en-US" sz="6999" spc="-44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Outcomes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6956" y="2661632"/>
            <a:ext cx="6082070" cy="2037574"/>
            <a:chOff x="0" y="0"/>
            <a:chExt cx="1294972" cy="4338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4972" cy="433833"/>
            </a:xfrm>
            <a:custGeom>
              <a:avLst/>
              <a:gdLst/>
              <a:ahLst/>
              <a:cxnLst/>
              <a:rect r="r" b="b" t="t" l="l"/>
              <a:pathLst>
                <a:path h="433833" w="1294972">
                  <a:moveTo>
                    <a:pt x="63645" y="0"/>
                  </a:moveTo>
                  <a:lnTo>
                    <a:pt x="1231327" y="0"/>
                  </a:lnTo>
                  <a:cubicBezTo>
                    <a:pt x="1266477" y="0"/>
                    <a:pt x="1294972" y="28495"/>
                    <a:pt x="1294972" y="63645"/>
                  </a:cubicBezTo>
                  <a:lnTo>
                    <a:pt x="1294972" y="370188"/>
                  </a:lnTo>
                  <a:cubicBezTo>
                    <a:pt x="1294972" y="387067"/>
                    <a:pt x="1288267" y="403256"/>
                    <a:pt x="1276331" y="415192"/>
                  </a:cubicBezTo>
                  <a:cubicBezTo>
                    <a:pt x="1264395" y="427127"/>
                    <a:pt x="1248207" y="433833"/>
                    <a:pt x="1231327" y="433833"/>
                  </a:cubicBezTo>
                  <a:lnTo>
                    <a:pt x="63645" y="433833"/>
                  </a:lnTo>
                  <a:cubicBezTo>
                    <a:pt x="46766" y="433833"/>
                    <a:pt x="30577" y="427127"/>
                    <a:pt x="18641" y="415192"/>
                  </a:cubicBezTo>
                  <a:cubicBezTo>
                    <a:pt x="6705" y="403256"/>
                    <a:pt x="0" y="387067"/>
                    <a:pt x="0" y="370188"/>
                  </a:cubicBezTo>
                  <a:lnTo>
                    <a:pt x="0" y="63645"/>
                  </a:lnTo>
                  <a:cubicBezTo>
                    <a:pt x="0" y="46766"/>
                    <a:pt x="6705" y="30577"/>
                    <a:pt x="18641" y="18641"/>
                  </a:cubicBezTo>
                  <a:cubicBezTo>
                    <a:pt x="30577" y="6705"/>
                    <a:pt x="46766" y="0"/>
                    <a:pt x="63645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94972" cy="471933"/>
            </a:xfrm>
            <a:prstGeom prst="rect">
              <a:avLst/>
            </a:prstGeom>
          </p:spPr>
          <p:txBody>
            <a:bodyPr anchor="ctr" rtlCol="false" tIns="45266" lIns="45266" bIns="45266" rIns="452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14749" y="3315562"/>
            <a:ext cx="987037" cy="985803"/>
          </a:xfrm>
          <a:custGeom>
            <a:avLst/>
            <a:gdLst/>
            <a:ahLst/>
            <a:cxnLst/>
            <a:rect r="r" b="b" t="t" l="l"/>
            <a:pathLst>
              <a:path h="985803" w="987037">
                <a:moveTo>
                  <a:pt x="0" y="0"/>
                </a:moveTo>
                <a:lnTo>
                  <a:pt x="987037" y="0"/>
                </a:lnTo>
                <a:lnTo>
                  <a:pt x="987037" y="985803"/>
                </a:lnTo>
                <a:lnTo>
                  <a:pt x="0" y="985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86470" y="3194169"/>
            <a:ext cx="972500" cy="9725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5266" lIns="45266" bIns="45266" rIns="4526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6956" y="5209533"/>
            <a:ext cx="6082070" cy="2037574"/>
            <a:chOff x="0" y="0"/>
            <a:chExt cx="1294972" cy="4338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94972" cy="433833"/>
            </a:xfrm>
            <a:custGeom>
              <a:avLst/>
              <a:gdLst/>
              <a:ahLst/>
              <a:cxnLst/>
              <a:rect r="r" b="b" t="t" l="l"/>
              <a:pathLst>
                <a:path h="433833" w="1294972">
                  <a:moveTo>
                    <a:pt x="63645" y="0"/>
                  </a:moveTo>
                  <a:lnTo>
                    <a:pt x="1231327" y="0"/>
                  </a:lnTo>
                  <a:cubicBezTo>
                    <a:pt x="1266477" y="0"/>
                    <a:pt x="1294972" y="28495"/>
                    <a:pt x="1294972" y="63645"/>
                  </a:cubicBezTo>
                  <a:lnTo>
                    <a:pt x="1294972" y="370188"/>
                  </a:lnTo>
                  <a:cubicBezTo>
                    <a:pt x="1294972" y="387067"/>
                    <a:pt x="1288267" y="403256"/>
                    <a:pt x="1276331" y="415192"/>
                  </a:cubicBezTo>
                  <a:cubicBezTo>
                    <a:pt x="1264395" y="427127"/>
                    <a:pt x="1248207" y="433833"/>
                    <a:pt x="1231327" y="433833"/>
                  </a:cubicBezTo>
                  <a:lnTo>
                    <a:pt x="63645" y="433833"/>
                  </a:lnTo>
                  <a:cubicBezTo>
                    <a:pt x="46766" y="433833"/>
                    <a:pt x="30577" y="427127"/>
                    <a:pt x="18641" y="415192"/>
                  </a:cubicBezTo>
                  <a:cubicBezTo>
                    <a:pt x="6705" y="403256"/>
                    <a:pt x="0" y="387067"/>
                    <a:pt x="0" y="370188"/>
                  </a:cubicBezTo>
                  <a:lnTo>
                    <a:pt x="0" y="63645"/>
                  </a:lnTo>
                  <a:cubicBezTo>
                    <a:pt x="0" y="46766"/>
                    <a:pt x="6705" y="30577"/>
                    <a:pt x="18641" y="18641"/>
                  </a:cubicBezTo>
                  <a:cubicBezTo>
                    <a:pt x="30577" y="6705"/>
                    <a:pt x="46766" y="0"/>
                    <a:pt x="63645" y="0"/>
                  </a:cubicBezTo>
                  <a:close/>
                </a:path>
              </a:pathLst>
            </a:custGeom>
            <a:solidFill>
              <a:srgbClr val="293E9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94972" cy="471933"/>
            </a:xfrm>
            <a:prstGeom prst="rect">
              <a:avLst/>
            </a:prstGeom>
          </p:spPr>
          <p:txBody>
            <a:bodyPr anchor="ctr" rtlCol="false" tIns="45266" lIns="45266" bIns="45266" rIns="452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514533" y="5368187"/>
            <a:ext cx="3967198" cy="83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  <a:spcBef>
                <a:spcPct val="0"/>
              </a:spcBef>
            </a:pPr>
            <a:r>
              <a:rPr lang="en-US" b="true" sz="23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Drivers &amp; Model Interpretability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14749" y="5863462"/>
            <a:ext cx="987037" cy="985803"/>
          </a:xfrm>
          <a:custGeom>
            <a:avLst/>
            <a:gdLst/>
            <a:ahLst/>
            <a:cxnLst/>
            <a:rect r="r" b="b" t="t" l="l"/>
            <a:pathLst>
              <a:path h="985803" w="987037">
                <a:moveTo>
                  <a:pt x="0" y="0"/>
                </a:moveTo>
                <a:lnTo>
                  <a:pt x="987037" y="0"/>
                </a:lnTo>
                <a:lnTo>
                  <a:pt x="987037" y="985804"/>
                </a:lnTo>
                <a:lnTo>
                  <a:pt x="0" y="985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77753" y="5794581"/>
            <a:ext cx="972500" cy="9725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5266" lIns="45266" bIns="45266" rIns="4526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7396" y="7761457"/>
            <a:ext cx="6041630" cy="2037574"/>
            <a:chOff x="0" y="0"/>
            <a:chExt cx="1286362" cy="4338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6362" cy="433833"/>
            </a:xfrm>
            <a:custGeom>
              <a:avLst/>
              <a:gdLst/>
              <a:ahLst/>
              <a:cxnLst/>
              <a:rect r="r" b="b" t="t" l="l"/>
              <a:pathLst>
                <a:path h="433833" w="1286362">
                  <a:moveTo>
                    <a:pt x="64071" y="0"/>
                  </a:moveTo>
                  <a:lnTo>
                    <a:pt x="1222291" y="0"/>
                  </a:lnTo>
                  <a:cubicBezTo>
                    <a:pt x="1257676" y="0"/>
                    <a:pt x="1286362" y="28686"/>
                    <a:pt x="1286362" y="64071"/>
                  </a:cubicBezTo>
                  <a:lnTo>
                    <a:pt x="1286362" y="369762"/>
                  </a:lnTo>
                  <a:cubicBezTo>
                    <a:pt x="1286362" y="405147"/>
                    <a:pt x="1257676" y="433833"/>
                    <a:pt x="1222291" y="433833"/>
                  </a:cubicBezTo>
                  <a:lnTo>
                    <a:pt x="64071" y="433833"/>
                  </a:lnTo>
                  <a:cubicBezTo>
                    <a:pt x="28686" y="433833"/>
                    <a:pt x="0" y="405147"/>
                    <a:pt x="0" y="369762"/>
                  </a:cubicBezTo>
                  <a:lnTo>
                    <a:pt x="0" y="64071"/>
                  </a:lnTo>
                  <a:cubicBezTo>
                    <a:pt x="0" y="28686"/>
                    <a:pt x="28686" y="0"/>
                    <a:pt x="64071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86362" cy="471933"/>
            </a:xfrm>
            <a:prstGeom prst="rect">
              <a:avLst/>
            </a:prstGeom>
          </p:spPr>
          <p:txBody>
            <a:bodyPr anchor="ctr" rtlCol="false" tIns="45266" lIns="45266" bIns="45266" rIns="452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514533" y="7913857"/>
            <a:ext cx="3967198" cy="83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  <a:spcBef>
                <a:spcPct val="0"/>
              </a:spcBef>
            </a:pPr>
            <a:r>
              <a:rPr lang="en-US" b="true" sz="235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Actionable Business Strategy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527496" y="8415387"/>
            <a:ext cx="987037" cy="985803"/>
          </a:xfrm>
          <a:custGeom>
            <a:avLst/>
            <a:gdLst/>
            <a:ahLst/>
            <a:cxnLst/>
            <a:rect r="r" b="b" t="t" l="l"/>
            <a:pathLst>
              <a:path h="985803" w="987037">
                <a:moveTo>
                  <a:pt x="0" y="0"/>
                </a:moveTo>
                <a:lnTo>
                  <a:pt x="987037" y="0"/>
                </a:lnTo>
                <a:lnTo>
                  <a:pt x="987037" y="985803"/>
                </a:lnTo>
                <a:lnTo>
                  <a:pt x="0" y="985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57981" y="8293994"/>
            <a:ext cx="972500" cy="97250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5266" lIns="45266" bIns="45266" rIns="4526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664003" y="8627659"/>
            <a:ext cx="360456" cy="279804"/>
          </a:xfrm>
          <a:custGeom>
            <a:avLst/>
            <a:gdLst/>
            <a:ahLst/>
            <a:cxnLst/>
            <a:rect r="r" b="b" t="t" l="l"/>
            <a:pathLst>
              <a:path h="279804" w="360456">
                <a:moveTo>
                  <a:pt x="0" y="0"/>
                </a:moveTo>
                <a:lnTo>
                  <a:pt x="360457" y="0"/>
                </a:lnTo>
                <a:lnTo>
                  <a:pt x="360457" y="279805"/>
                </a:lnTo>
                <a:lnTo>
                  <a:pt x="0" y="279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514533" y="2896528"/>
            <a:ext cx="3967198" cy="41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  <a:spcBef>
                <a:spcPct val="0"/>
              </a:spcBef>
            </a:pPr>
            <a:r>
              <a:rPr lang="en-US" b="true" sz="235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Predictive Modeling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89082" y="3500555"/>
            <a:ext cx="355150" cy="359728"/>
          </a:xfrm>
          <a:custGeom>
            <a:avLst/>
            <a:gdLst/>
            <a:ahLst/>
            <a:cxnLst/>
            <a:rect r="r" b="b" t="t" l="l"/>
            <a:pathLst>
              <a:path h="359728" w="355150">
                <a:moveTo>
                  <a:pt x="0" y="0"/>
                </a:moveTo>
                <a:lnTo>
                  <a:pt x="355150" y="0"/>
                </a:lnTo>
                <a:lnTo>
                  <a:pt x="355150" y="359728"/>
                </a:lnTo>
                <a:lnTo>
                  <a:pt x="0" y="3597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460837" y="6053791"/>
            <a:ext cx="406334" cy="395991"/>
          </a:xfrm>
          <a:custGeom>
            <a:avLst/>
            <a:gdLst/>
            <a:ahLst/>
            <a:cxnLst/>
            <a:rect r="r" b="b" t="t" l="l"/>
            <a:pathLst>
              <a:path h="395991" w="406334">
                <a:moveTo>
                  <a:pt x="0" y="0"/>
                </a:moveTo>
                <a:lnTo>
                  <a:pt x="406333" y="0"/>
                </a:lnTo>
                <a:lnTo>
                  <a:pt x="406333" y="395991"/>
                </a:lnTo>
                <a:lnTo>
                  <a:pt x="0" y="3959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2514533" y="8982531"/>
            <a:ext cx="3936596" cy="5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87"/>
              </a:lnSpc>
            </a:pPr>
            <a:r>
              <a:rPr lang="en-US" sz="149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Provide actionable insights for customer retention strategies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514533" y="6438801"/>
            <a:ext cx="3936596" cy="5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87"/>
              </a:lnSpc>
            </a:pPr>
            <a:r>
              <a:rPr lang="en-US" sz="14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 and rank the most important factors that drive churn risk.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14533" y="3531323"/>
            <a:ext cx="3936596" cy="77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87"/>
              </a:lnSpc>
            </a:pPr>
            <a:r>
              <a:rPr lang="en-US" sz="149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"/>
                <a:ea typeface="Poppins"/>
                <a:cs typeface="Poppins"/>
                <a:sym typeface="Poppins"/>
              </a:rPr>
              <a:t>Build an end to end model to classify customers as churn or non churn using historical data.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97209" y="5165984"/>
            <a:ext cx="2308522" cy="178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6999" spc="-44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Team </a:t>
            </a:r>
          </a:p>
          <a:p>
            <a:pPr algn="ctr">
              <a:lnSpc>
                <a:spcPts val="6859"/>
              </a:lnSpc>
            </a:pPr>
            <a:r>
              <a:rPr lang="en-US" sz="6999" spc="-44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Role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651947" y="2406434"/>
            <a:ext cx="3211867" cy="2435700"/>
            <a:chOff x="0" y="0"/>
            <a:chExt cx="1187622" cy="90062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87622" cy="900626"/>
            </a:xfrm>
            <a:custGeom>
              <a:avLst/>
              <a:gdLst/>
              <a:ahLst/>
              <a:cxnLst/>
              <a:rect r="r" b="b" t="t" l="l"/>
              <a:pathLst>
                <a:path h="900626" w="1187622">
                  <a:moveTo>
                    <a:pt x="0" y="0"/>
                  </a:moveTo>
                  <a:lnTo>
                    <a:pt x="1187622" y="0"/>
                  </a:lnTo>
                  <a:lnTo>
                    <a:pt x="1187622" y="900626"/>
                  </a:lnTo>
                  <a:lnTo>
                    <a:pt x="0" y="900626"/>
                  </a:ln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187622" cy="938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651947" y="2406434"/>
            <a:ext cx="3211867" cy="709694"/>
            <a:chOff x="0" y="0"/>
            <a:chExt cx="1187622" cy="26241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87622" cy="262417"/>
            </a:xfrm>
            <a:custGeom>
              <a:avLst/>
              <a:gdLst/>
              <a:ahLst/>
              <a:cxnLst/>
              <a:rect r="r" b="b" t="t" l="l"/>
              <a:pathLst>
                <a:path h="262417" w="1187622">
                  <a:moveTo>
                    <a:pt x="0" y="0"/>
                  </a:moveTo>
                  <a:lnTo>
                    <a:pt x="1187622" y="0"/>
                  </a:lnTo>
                  <a:lnTo>
                    <a:pt x="1187622" y="262417"/>
                  </a:lnTo>
                  <a:lnTo>
                    <a:pt x="0" y="262417"/>
                  </a:lnTo>
                  <a:close/>
                </a:path>
              </a:pathLst>
            </a:custGeom>
            <a:solidFill>
              <a:srgbClr val="3A58E4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187622" cy="300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8885743" y="2518427"/>
            <a:ext cx="2978070" cy="41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  <a:spcBef>
                <a:spcPct val="0"/>
              </a:spcBef>
            </a:pPr>
            <a:r>
              <a:rPr lang="en-US" b="true" sz="23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01. Shi Xiaoyu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819139" y="3188486"/>
            <a:ext cx="2877484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Leader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938539" y="2406434"/>
            <a:ext cx="3211867" cy="2435700"/>
            <a:chOff x="0" y="0"/>
            <a:chExt cx="1187622" cy="90062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87622" cy="900626"/>
            </a:xfrm>
            <a:custGeom>
              <a:avLst/>
              <a:gdLst/>
              <a:ahLst/>
              <a:cxnLst/>
              <a:rect r="r" b="b" t="t" l="l"/>
              <a:pathLst>
                <a:path h="900626" w="1187622">
                  <a:moveTo>
                    <a:pt x="0" y="0"/>
                  </a:moveTo>
                  <a:lnTo>
                    <a:pt x="1187622" y="0"/>
                  </a:lnTo>
                  <a:lnTo>
                    <a:pt x="1187622" y="900626"/>
                  </a:lnTo>
                  <a:lnTo>
                    <a:pt x="0" y="900626"/>
                  </a:ln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187622" cy="938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938539" y="2406434"/>
            <a:ext cx="3211867" cy="709694"/>
            <a:chOff x="0" y="0"/>
            <a:chExt cx="1187622" cy="26241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87622" cy="262417"/>
            </a:xfrm>
            <a:custGeom>
              <a:avLst/>
              <a:gdLst/>
              <a:ahLst/>
              <a:cxnLst/>
              <a:rect r="r" b="b" t="t" l="l"/>
              <a:pathLst>
                <a:path h="262417" w="1187622">
                  <a:moveTo>
                    <a:pt x="0" y="0"/>
                  </a:moveTo>
                  <a:lnTo>
                    <a:pt x="1187622" y="0"/>
                  </a:lnTo>
                  <a:lnTo>
                    <a:pt x="1187622" y="262417"/>
                  </a:lnTo>
                  <a:lnTo>
                    <a:pt x="0" y="262417"/>
                  </a:lnTo>
                  <a:close/>
                </a:path>
              </a:pathLst>
            </a:custGeom>
            <a:solidFill>
              <a:srgbClr val="3A58E4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187622" cy="300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4172336" y="2518427"/>
            <a:ext cx="2978070" cy="41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  <a:spcBef>
                <a:spcPct val="0"/>
              </a:spcBef>
            </a:pPr>
            <a:r>
              <a:rPr lang="en-US" b="true" sz="23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02. Jessica Novita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105731" y="3188486"/>
            <a:ext cx="2877484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Data Engineer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651947" y="7133214"/>
            <a:ext cx="3211867" cy="709694"/>
            <a:chOff x="0" y="0"/>
            <a:chExt cx="1187622" cy="26241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87622" cy="262417"/>
            </a:xfrm>
            <a:custGeom>
              <a:avLst/>
              <a:gdLst/>
              <a:ahLst/>
              <a:cxnLst/>
              <a:rect r="r" b="b" t="t" l="l"/>
              <a:pathLst>
                <a:path h="262417" w="1187622">
                  <a:moveTo>
                    <a:pt x="0" y="0"/>
                  </a:moveTo>
                  <a:lnTo>
                    <a:pt x="1187622" y="0"/>
                  </a:lnTo>
                  <a:lnTo>
                    <a:pt x="1187622" y="262417"/>
                  </a:lnTo>
                  <a:lnTo>
                    <a:pt x="0" y="262417"/>
                  </a:lnTo>
                  <a:close/>
                </a:path>
              </a:pathLst>
            </a:custGeom>
            <a:solidFill>
              <a:srgbClr val="3A58E4"/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187622" cy="300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885743" y="7245207"/>
            <a:ext cx="2978070" cy="41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  <a:spcBef>
                <a:spcPct val="0"/>
              </a:spcBef>
            </a:pPr>
            <a:r>
              <a:rPr lang="en-US" b="true" sz="23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03. Arij Faiha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651947" y="7842908"/>
            <a:ext cx="3211867" cy="1956124"/>
            <a:chOff x="0" y="0"/>
            <a:chExt cx="1187622" cy="72329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87622" cy="723297"/>
            </a:xfrm>
            <a:custGeom>
              <a:avLst/>
              <a:gdLst/>
              <a:ahLst/>
              <a:cxnLst/>
              <a:rect r="r" b="b" t="t" l="l"/>
              <a:pathLst>
                <a:path h="723297" w="1187622">
                  <a:moveTo>
                    <a:pt x="0" y="0"/>
                  </a:moveTo>
                  <a:lnTo>
                    <a:pt x="1187622" y="0"/>
                  </a:lnTo>
                  <a:lnTo>
                    <a:pt x="1187622" y="723297"/>
                  </a:lnTo>
                  <a:lnTo>
                    <a:pt x="0" y="723297"/>
                  </a:ln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187622" cy="761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8819139" y="7937501"/>
            <a:ext cx="2877484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Machine-Learning Engineer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3938539" y="7133214"/>
            <a:ext cx="3211867" cy="709694"/>
            <a:chOff x="0" y="0"/>
            <a:chExt cx="1187622" cy="26241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87622" cy="262417"/>
            </a:xfrm>
            <a:custGeom>
              <a:avLst/>
              <a:gdLst/>
              <a:ahLst/>
              <a:cxnLst/>
              <a:rect r="r" b="b" t="t" l="l"/>
              <a:pathLst>
                <a:path h="262417" w="1187622">
                  <a:moveTo>
                    <a:pt x="0" y="0"/>
                  </a:moveTo>
                  <a:lnTo>
                    <a:pt x="1187622" y="0"/>
                  </a:lnTo>
                  <a:lnTo>
                    <a:pt x="1187622" y="262417"/>
                  </a:lnTo>
                  <a:lnTo>
                    <a:pt x="0" y="262417"/>
                  </a:lnTo>
                  <a:close/>
                </a:path>
              </a:pathLst>
            </a:custGeom>
            <a:solidFill>
              <a:srgbClr val="3A58E4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187622" cy="300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4172336" y="7245207"/>
            <a:ext cx="2978070" cy="41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0"/>
              </a:lnSpc>
              <a:spcBef>
                <a:spcPct val="0"/>
              </a:spcBef>
            </a:pPr>
            <a:r>
              <a:rPr lang="en-US" b="true" sz="23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04. Huyngim Eng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3938539" y="7842908"/>
            <a:ext cx="3211867" cy="1704318"/>
            <a:chOff x="0" y="0"/>
            <a:chExt cx="1187622" cy="63019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87622" cy="630190"/>
            </a:xfrm>
            <a:custGeom>
              <a:avLst/>
              <a:gdLst/>
              <a:ahLst/>
              <a:cxnLst/>
              <a:rect r="r" b="b" t="t" l="l"/>
              <a:pathLst>
                <a:path h="630190" w="1187622">
                  <a:moveTo>
                    <a:pt x="0" y="0"/>
                  </a:moveTo>
                  <a:lnTo>
                    <a:pt x="1187622" y="0"/>
                  </a:lnTo>
                  <a:lnTo>
                    <a:pt x="1187622" y="630190"/>
                  </a:lnTo>
                  <a:lnTo>
                    <a:pt x="0" y="630190"/>
                  </a:lnTo>
                  <a:close/>
                </a:path>
              </a:pathLst>
            </a:custGeom>
            <a:solidFill>
              <a:srgbClr val="F8F8F8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187622" cy="668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4105731" y="7937501"/>
            <a:ext cx="287748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Data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Analyst</a:t>
            </a:r>
          </a:p>
        </p:txBody>
      </p:sp>
      <p:sp>
        <p:nvSpPr>
          <p:cNvPr name="Freeform 74" id="74"/>
          <p:cNvSpPr/>
          <p:nvPr/>
        </p:nvSpPr>
        <p:spPr>
          <a:xfrm flipH="false" flipV="false" rot="-7900054">
            <a:off x="11138752" y="5173491"/>
            <a:ext cx="600223" cy="269555"/>
          </a:xfrm>
          <a:custGeom>
            <a:avLst/>
            <a:gdLst/>
            <a:ahLst/>
            <a:cxnLst/>
            <a:rect r="r" b="b" t="t" l="l"/>
            <a:pathLst>
              <a:path h="269555" w="600223">
                <a:moveTo>
                  <a:pt x="0" y="0"/>
                </a:moveTo>
                <a:lnTo>
                  <a:pt x="600223" y="0"/>
                </a:lnTo>
                <a:lnTo>
                  <a:pt x="600223" y="269555"/>
                </a:lnTo>
                <a:lnTo>
                  <a:pt x="0" y="2695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7797249">
            <a:off x="11201058" y="6235618"/>
            <a:ext cx="600223" cy="269555"/>
          </a:xfrm>
          <a:custGeom>
            <a:avLst/>
            <a:gdLst/>
            <a:ahLst/>
            <a:cxnLst/>
            <a:rect r="r" b="b" t="t" l="l"/>
            <a:pathLst>
              <a:path h="269555" w="600223">
                <a:moveTo>
                  <a:pt x="0" y="0"/>
                </a:moveTo>
                <a:lnTo>
                  <a:pt x="600224" y="0"/>
                </a:lnTo>
                <a:lnTo>
                  <a:pt x="600224" y="269555"/>
                </a:lnTo>
                <a:lnTo>
                  <a:pt x="0" y="2695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true" flipV="false" rot="-7900054">
            <a:off x="14105816" y="6232803"/>
            <a:ext cx="600223" cy="269555"/>
          </a:xfrm>
          <a:custGeom>
            <a:avLst/>
            <a:gdLst/>
            <a:ahLst/>
            <a:cxnLst/>
            <a:rect r="r" b="b" t="t" l="l"/>
            <a:pathLst>
              <a:path h="269555" w="600223">
                <a:moveTo>
                  <a:pt x="600224" y="0"/>
                </a:moveTo>
                <a:lnTo>
                  <a:pt x="0" y="0"/>
                </a:lnTo>
                <a:lnTo>
                  <a:pt x="0" y="269555"/>
                </a:lnTo>
                <a:lnTo>
                  <a:pt x="600224" y="269555"/>
                </a:lnTo>
                <a:lnTo>
                  <a:pt x="60022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true" flipV="false" rot="7797249">
            <a:off x="14101658" y="5204936"/>
            <a:ext cx="600223" cy="269555"/>
          </a:xfrm>
          <a:custGeom>
            <a:avLst/>
            <a:gdLst/>
            <a:ahLst/>
            <a:cxnLst/>
            <a:rect r="r" b="b" t="t" l="l"/>
            <a:pathLst>
              <a:path h="269555" w="600223">
                <a:moveTo>
                  <a:pt x="600223" y="0"/>
                </a:moveTo>
                <a:lnTo>
                  <a:pt x="0" y="0"/>
                </a:lnTo>
                <a:lnTo>
                  <a:pt x="0" y="269554"/>
                </a:lnTo>
                <a:lnTo>
                  <a:pt x="600223" y="269554"/>
                </a:lnTo>
                <a:lnTo>
                  <a:pt x="60022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03000" y="0"/>
            <a:ext cx="4785000" cy="10287000"/>
            <a:chOff x="0" y="0"/>
            <a:chExt cx="741322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1322" cy="1593725"/>
            </a:xfrm>
            <a:custGeom>
              <a:avLst/>
              <a:gdLst/>
              <a:ahLst/>
              <a:cxnLst/>
              <a:rect r="r" b="b" t="t" l="l"/>
              <a:pathLst>
                <a:path h="1593725" w="741322">
                  <a:moveTo>
                    <a:pt x="0" y="0"/>
                  </a:moveTo>
                  <a:lnTo>
                    <a:pt x="741322" y="0"/>
                  </a:lnTo>
                  <a:lnTo>
                    <a:pt x="74132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24270" t="0" r="-157923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cap="rnd" w="19050">
            <a:solidFill>
              <a:srgbClr val="2B41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2889226"/>
            <a:ext cx="6671890" cy="146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14"/>
              </a:lnSpc>
              <a:spcBef>
                <a:spcPct val="0"/>
              </a:spcBef>
            </a:pPr>
            <a:r>
              <a:rPr lang="en-US" b="true" sz="8510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027112"/>
            <a:ext cx="6671890" cy="323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39"/>
              </a:lnSpc>
            </a:pPr>
            <a:r>
              <a:rPr lang="en-US" sz="8510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We</a:t>
            </a:r>
            <a:r>
              <a:rPr lang="en-US" sz="8510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 appreciate</a:t>
            </a:r>
          </a:p>
          <a:p>
            <a:pPr algn="just">
              <a:lnSpc>
                <a:spcPts val="8339"/>
              </a:lnSpc>
            </a:pPr>
            <a:r>
              <a:rPr lang="en-US" sz="8510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your valued</a:t>
            </a:r>
          </a:p>
          <a:p>
            <a:pPr algn="just">
              <a:lnSpc>
                <a:spcPts val="8339"/>
              </a:lnSpc>
            </a:pPr>
            <a:r>
              <a:rPr lang="en-US" sz="8510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presence!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DAHDQ3ElyQk</dc:identifier>
  <dcterms:modified xsi:type="dcterms:W3CDTF">2011-08-01T06:04:30Z</dcterms:modified>
  <cp:revision>1</cp:revision>
  <dc:title>Team 1 - Project Proposal</dc:title>
</cp:coreProperties>
</file>