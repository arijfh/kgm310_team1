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Extenda 50 Mega" charset="1" panose="020B0003020200000002"/>
      <p:regular r:id="rId32"/>
    </p:embeddedFont>
    <p:embeddedFont>
      <p:font typeface="Canva Sans Bold" charset="1" panose="020B0803030501040103"/>
      <p:regular r:id="rId33"/>
    </p:embeddedFont>
    <p:embeddedFont>
      <p:font typeface="Canva Sans" charset="1" panose="020B0503030501040103"/>
      <p:regular r:id="rId34"/>
    </p:embeddedFont>
    <p:embeddedFont>
      <p:font typeface="Poppins Bold" charset="1" panose="00000800000000000000"/>
      <p:regular r:id="rId35"/>
    </p:embeddedFont>
    <p:embeddedFont>
      <p:font typeface="Poppins" charset="1" panose="00000500000000000000"/>
      <p:regular r:id="rId36"/>
    </p:embeddedFont>
    <p:embeddedFont>
      <p:font typeface="Lora Bold" charset="1" panose="00000800000000000000"/>
      <p:regular r:id="rId37"/>
    </p:embeddedFont>
    <p:embeddedFont>
      <p:font typeface="Lora" charset="1" panose="00000500000000000000"/>
      <p:regular r:id="rId38"/>
    </p:embeddedFont>
    <p:embeddedFont>
      <p:font typeface="Poppins Italics" charset="1" panose="00000500000000000000"/>
      <p:regular r:id="rId40"/>
    </p:embeddedFont>
    <p:embeddedFont>
      <p:font typeface="Open Sauce Bold" charset="1" panose="000008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prediction need to use Y at time t+h and X at time T (Prediction Horizon) and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Will result for more practical telecom company recently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Check the beta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search?q=https://doi.org/10.1111/ajfs.12467" TargetMode="External" Type="http://schemas.openxmlformats.org/officeDocument/2006/relationships/hyperlink"/><Relationship Id="rId3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8929" y="6438847"/>
            <a:ext cx="6691857" cy="2307801"/>
            <a:chOff x="0" y="0"/>
            <a:chExt cx="1762464" cy="607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2465" cy="607816"/>
            </a:xfrm>
            <a:custGeom>
              <a:avLst/>
              <a:gdLst/>
              <a:ahLst/>
              <a:cxnLst/>
              <a:rect r="r" b="b" t="t" l="l"/>
              <a:pathLst>
                <a:path h="607816" w="1762465">
                  <a:moveTo>
                    <a:pt x="0" y="0"/>
                  </a:moveTo>
                  <a:lnTo>
                    <a:pt x="1762465" y="0"/>
                  </a:lnTo>
                  <a:lnTo>
                    <a:pt x="1762465" y="607816"/>
                  </a:lnTo>
                  <a:lnTo>
                    <a:pt x="0" y="607816"/>
                  </a:lnTo>
                  <a:close/>
                </a:path>
              </a:pathLst>
            </a:custGeom>
            <a:solidFill>
              <a:srgbClr val="669A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62464" cy="645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78617" y="140599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3799" y="2178779"/>
            <a:ext cx="4128119" cy="301954"/>
            <a:chOff x="0" y="0"/>
            <a:chExt cx="1087241" cy="795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7241" cy="79527"/>
            </a:xfrm>
            <a:custGeom>
              <a:avLst/>
              <a:gdLst/>
              <a:ahLst/>
              <a:cxnLst/>
              <a:rect r="r" b="b" t="t" l="l"/>
              <a:pathLst>
                <a:path h="79527" w="1087241">
                  <a:moveTo>
                    <a:pt x="0" y="0"/>
                  </a:moveTo>
                  <a:lnTo>
                    <a:pt x="1087241" y="0"/>
                  </a:lnTo>
                  <a:lnTo>
                    <a:pt x="1087241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87241" cy="11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46078" y="9335948"/>
            <a:ext cx="3525702" cy="301954"/>
            <a:chOff x="0" y="0"/>
            <a:chExt cx="928580" cy="795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580" cy="79527"/>
            </a:xfrm>
            <a:custGeom>
              <a:avLst/>
              <a:gdLst/>
              <a:ahLst/>
              <a:cxnLst/>
              <a:rect r="r" b="b" t="t" l="l"/>
              <a:pathLst>
                <a:path h="79527" w="928580">
                  <a:moveTo>
                    <a:pt x="0" y="0"/>
                  </a:moveTo>
                  <a:lnTo>
                    <a:pt x="928580" y="0"/>
                  </a:lnTo>
                  <a:lnTo>
                    <a:pt x="928580" y="79527"/>
                  </a:lnTo>
                  <a:lnTo>
                    <a:pt x="0" y="79527"/>
                  </a:ln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580" cy="11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4062238" y="1016731"/>
            <a:ext cx="8566823" cy="0"/>
          </a:xfrm>
          <a:prstGeom prst="line">
            <a:avLst/>
          </a:prstGeom>
          <a:ln cap="flat" w="19050">
            <a:solidFill>
              <a:srgbClr val="669A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571469"/>
            <a:ext cx="11727454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8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CUSTOMER CHURN PREDICTION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799" y="7909339"/>
            <a:ext cx="2864239" cy="33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b="true" sz="2196" spc="-123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: Team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3799" y="8235501"/>
            <a:ext cx="2181576" cy="140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Arij Faiha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Huyngim Eng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Jessica Novita</a:t>
            </a:r>
          </a:p>
          <a:p>
            <a:pPr algn="l">
              <a:lnSpc>
                <a:spcPts val="2781"/>
              </a:lnSpc>
            </a:pPr>
            <a:r>
              <a:rPr lang="en-US" sz="2207" spc="-123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Shi Xiao Yu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8518" y="857663"/>
            <a:ext cx="239372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spc="-1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Korea University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3799" y="6202627"/>
            <a:ext cx="1122783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3000" spc="-168">
                <a:solidFill>
                  <a:srgbClr val="1055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3000" spc="-168">
                <a:solidFill>
                  <a:srgbClr val="1055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sing Machine Learning</a:t>
            </a:r>
            <a:r>
              <a:rPr lang="en-US" sz="3000" spc="-168">
                <a:solidFill>
                  <a:srgbClr val="105584"/>
                </a:solidFill>
                <a:latin typeface="Canva Sans"/>
                <a:ea typeface="Canva Sans"/>
                <a:cs typeface="Canva Sans"/>
                <a:sym typeface="Canva Sans"/>
              </a:rPr>
              <a:t> in Telecom Subscription Services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912431" y="1405995"/>
            <a:ext cx="8788356" cy="8804364"/>
          </a:xfrm>
          <a:custGeom>
            <a:avLst/>
            <a:gdLst/>
            <a:ahLst/>
            <a:cxnLst/>
            <a:rect r="r" b="b" t="t" l="l"/>
            <a:pathLst>
              <a:path h="8804364" w="8788356">
                <a:moveTo>
                  <a:pt x="0" y="0"/>
                </a:moveTo>
                <a:lnTo>
                  <a:pt x="8788356" y="0"/>
                </a:lnTo>
                <a:lnTo>
                  <a:pt x="8788356" y="8804363"/>
                </a:lnTo>
                <a:lnTo>
                  <a:pt x="0" y="8804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85" y="3256264"/>
            <a:ext cx="8201025" cy="431917"/>
            <a:chOff x="0" y="0"/>
            <a:chExt cx="10934700" cy="5758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76200"/>
              <a:ext cx="10820400" cy="652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18"/>
                </a:lnSpc>
              </a:pPr>
              <a:r>
                <a:rPr lang="en-US" b="true" sz="2870" spc="-7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 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-8687136">
              <a:off x="10617680" y="115048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510990" y="3256264"/>
            <a:ext cx="8201025" cy="415407"/>
            <a:chOff x="0" y="0"/>
            <a:chExt cx="10934700" cy="55387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0820400" cy="630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8"/>
                </a:lnSpc>
              </a:pPr>
              <a:r>
                <a:rPr lang="en-US" b="true" sz="2770" spc="-6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-8687136">
              <a:off x="10617680" y="93034"/>
              <a:ext cx="252200" cy="304858"/>
            </a:xfrm>
            <a:custGeom>
              <a:avLst/>
              <a:gdLst/>
              <a:ahLst/>
              <a:cxnLst/>
              <a:rect r="r" b="b" t="t" l="l"/>
              <a:pathLst>
                <a:path h="304858" w="252200">
                  <a:moveTo>
                    <a:pt x="0" y="0"/>
                  </a:moveTo>
                  <a:lnTo>
                    <a:pt x="252200" y="0"/>
                  </a:lnTo>
                  <a:lnTo>
                    <a:pt x="252200" y="304858"/>
                  </a:lnTo>
                  <a:lnTo>
                    <a:pt x="0" y="304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727012" y="28046"/>
            <a:ext cx="1717487" cy="2001309"/>
          </a:xfrm>
          <a:custGeom>
            <a:avLst/>
            <a:gdLst/>
            <a:ahLst/>
            <a:cxnLst/>
            <a:rect r="r" b="b" t="t" l="l"/>
            <a:pathLst>
              <a:path h="2001309" w="1717487">
                <a:moveTo>
                  <a:pt x="0" y="0"/>
                </a:moveTo>
                <a:lnTo>
                  <a:pt x="1717487" y="0"/>
                </a:lnTo>
                <a:lnTo>
                  <a:pt x="1717487" y="2001308"/>
                </a:lnTo>
                <a:lnTo>
                  <a:pt x="0" y="200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65502" y="3920643"/>
            <a:ext cx="8030362" cy="502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7"/>
              </a:lnSpc>
            </a:pP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Customer churn represents a major challenge for telecommunication companies because </a:t>
            </a:r>
            <a:r>
              <a:rPr lang="en-US" b="true" sz="2619" spc="-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losing customers directly affects long-term profitability and competitive advantage.</a:t>
            </a:r>
          </a:p>
          <a:p>
            <a:pPr algn="just">
              <a:lnSpc>
                <a:spcPts val="3667"/>
              </a:lnSpc>
            </a:pP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Acqu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iti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costs </a:t>
            </a:r>
            <a:r>
              <a:rPr lang="en-US" b="true" sz="2619" spc="-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5-25x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mor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than r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etent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(Mi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e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al., 2016)</a:t>
            </a: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5% retention increase can boost profits by </a:t>
            </a:r>
            <a:r>
              <a:rPr lang="en-US" b="true" sz="2619" spc="-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25-95% 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(Reichheld &amp; Schefter, 2000)</a:t>
            </a:r>
          </a:p>
          <a:p>
            <a:pPr algn="l" marL="565630" indent="-282815" lvl="1">
              <a:lnSpc>
                <a:spcPts val="3667"/>
              </a:lnSpc>
              <a:buFont typeface="Arial"/>
              <a:buChar char="•"/>
            </a:pP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Telecom churn rates average</a:t>
            </a:r>
            <a:r>
              <a:rPr lang="en-US" b="true" sz="2619" spc="-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20-50%</a:t>
            </a:r>
            <a:r>
              <a:rPr lang="en-US" sz="2619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annually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7012" y="3920643"/>
            <a:ext cx="6985003" cy="4115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Improving the company’s retention strategy by build predictive churn models to: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ify high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-ri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sk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customer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arly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der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 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rn dr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ct, tenure, charges)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targeted retention campaigns</a:t>
            </a:r>
          </a:p>
          <a:p>
            <a:pPr algn="l" marL="561420" indent="-280710" lvl="1">
              <a:lnSpc>
                <a:spcPts val="3640"/>
              </a:lnSpc>
              <a:buFont typeface="Arial"/>
              <a:buChar char="•"/>
            </a:pPr>
            <a:r>
              <a:rPr lang="en-US" sz="2600" spc="-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 acquisition costs through improved retention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7369" y="9207148"/>
            <a:ext cx="15099286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</a:t>
            </a: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et al. (2016) - Acquisition vs. retention cost analysis  Journal of Marketing Research</a:t>
            </a:r>
          </a:p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Reichheld &amp; Schefter (2000) - Retention impact on profitability | Harvard Business Review</a:t>
            </a:r>
          </a:p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https://tridenstechnology.com/telecom-churn/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985" y="144883"/>
            <a:ext cx="10128331" cy="240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0"/>
              </a:lnSpc>
              <a:spcBef>
                <a:spcPct val="0"/>
              </a:spcBef>
            </a:pPr>
            <a:r>
              <a:rPr lang="en-US" sz="14000" spc="12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54863" y="1325503"/>
            <a:ext cx="7675928" cy="2263235"/>
          </a:xfrm>
          <a:custGeom>
            <a:avLst/>
            <a:gdLst/>
            <a:ahLst/>
            <a:cxnLst/>
            <a:rect r="r" b="b" t="t" l="l"/>
            <a:pathLst>
              <a:path h="2263235" w="7675928">
                <a:moveTo>
                  <a:pt x="0" y="0"/>
                </a:moveTo>
                <a:lnTo>
                  <a:pt x="7675928" y="0"/>
                </a:lnTo>
                <a:lnTo>
                  <a:pt x="7675928" y="2263235"/>
                </a:lnTo>
                <a:lnTo>
                  <a:pt x="0" y="2263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5" t="0" r="-40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7826" y="3699047"/>
            <a:ext cx="6169677" cy="2671134"/>
          </a:xfrm>
          <a:custGeom>
            <a:avLst/>
            <a:gdLst/>
            <a:ahLst/>
            <a:cxnLst/>
            <a:rect r="r" b="b" t="t" l="l"/>
            <a:pathLst>
              <a:path h="2671134" w="6169677">
                <a:moveTo>
                  <a:pt x="0" y="0"/>
                </a:moveTo>
                <a:lnTo>
                  <a:pt x="6169678" y="0"/>
                </a:lnTo>
                <a:lnTo>
                  <a:pt x="6169678" y="2671134"/>
                </a:lnTo>
                <a:lnTo>
                  <a:pt x="0" y="2671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114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1735" y="1784042"/>
            <a:ext cx="4058762" cy="1038601"/>
            <a:chOff x="0" y="0"/>
            <a:chExt cx="1068974" cy="2735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9DB7DB">
                <a:alpha val="4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1735" y="3091987"/>
            <a:ext cx="4058762" cy="1038601"/>
            <a:chOff x="0" y="0"/>
            <a:chExt cx="1068974" cy="2735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9DB7DB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1735" y="4624200"/>
            <a:ext cx="4058762" cy="1038601"/>
            <a:chOff x="0" y="0"/>
            <a:chExt cx="1068974" cy="2735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9DB7DB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2489" y="6522352"/>
            <a:ext cx="3362204" cy="3611591"/>
            <a:chOff x="0" y="0"/>
            <a:chExt cx="885519" cy="9512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5519" cy="951201"/>
            </a:xfrm>
            <a:custGeom>
              <a:avLst/>
              <a:gdLst/>
              <a:ahLst/>
              <a:cxnLst/>
              <a:rect r="r" b="b" t="t" l="l"/>
              <a:pathLst>
                <a:path h="951201" w="885519">
                  <a:moveTo>
                    <a:pt x="0" y="0"/>
                  </a:moveTo>
                  <a:lnTo>
                    <a:pt x="885519" y="0"/>
                  </a:lnTo>
                  <a:lnTo>
                    <a:pt x="885519" y="951201"/>
                  </a:lnTo>
                  <a:lnTo>
                    <a:pt x="0" y="951201"/>
                  </a:lnTo>
                  <a:close/>
                </a:path>
              </a:pathLst>
            </a:custGeom>
            <a:solidFill>
              <a:srgbClr val="E95850">
                <a:alpha val="35686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885519" cy="960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81139" y="6522352"/>
            <a:ext cx="3362204" cy="3611591"/>
            <a:chOff x="0" y="0"/>
            <a:chExt cx="885519" cy="9512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5519" cy="951201"/>
            </a:xfrm>
            <a:custGeom>
              <a:avLst/>
              <a:gdLst/>
              <a:ahLst/>
              <a:cxnLst/>
              <a:rect r="r" b="b" t="t" l="l"/>
              <a:pathLst>
                <a:path h="951201" w="885519">
                  <a:moveTo>
                    <a:pt x="0" y="0"/>
                  </a:moveTo>
                  <a:lnTo>
                    <a:pt x="885519" y="0"/>
                  </a:lnTo>
                  <a:lnTo>
                    <a:pt x="885519" y="951201"/>
                  </a:lnTo>
                  <a:lnTo>
                    <a:pt x="0" y="951201"/>
                  </a:lnTo>
                  <a:close/>
                </a:path>
              </a:pathLst>
            </a:custGeom>
            <a:solidFill>
              <a:srgbClr val="E95850">
                <a:alpha val="35686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85519" cy="960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452893" y="6522352"/>
            <a:ext cx="3362204" cy="3611591"/>
            <a:chOff x="0" y="0"/>
            <a:chExt cx="885519" cy="9512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5519" cy="951201"/>
            </a:xfrm>
            <a:custGeom>
              <a:avLst/>
              <a:gdLst/>
              <a:ahLst/>
              <a:cxnLst/>
              <a:rect r="r" b="b" t="t" l="l"/>
              <a:pathLst>
                <a:path h="951201" w="885519">
                  <a:moveTo>
                    <a:pt x="0" y="0"/>
                  </a:moveTo>
                  <a:lnTo>
                    <a:pt x="885519" y="0"/>
                  </a:lnTo>
                  <a:lnTo>
                    <a:pt x="885519" y="951201"/>
                  </a:lnTo>
                  <a:lnTo>
                    <a:pt x="0" y="951201"/>
                  </a:lnTo>
                  <a:close/>
                </a:path>
              </a:pathLst>
            </a:custGeom>
            <a:solidFill>
              <a:srgbClr val="E95850">
                <a:alpha val="35686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85519" cy="960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24647" y="6522352"/>
            <a:ext cx="3362204" cy="3611591"/>
            <a:chOff x="0" y="0"/>
            <a:chExt cx="885519" cy="9512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85519" cy="951201"/>
            </a:xfrm>
            <a:custGeom>
              <a:avLst/>
              <a:gdLst/>
              <a:ahLst/>
              <a:cxnLst/>
              <a:rect r="r" b="b" t="t" l="l"/>
              <a:pathLst>
                <a:path h="951201" w="885519">
                  <a:moveTo>
                    <a:pt x="0" y="0"/>
                  </a:moveTo>
                  <a:lnTo>
                    <a:pt x="885519" y="0"/>
                  </a:lnTo>
                  <a:lnTo>
                    <a:pt x="885519" y="951201"/>
                  </a:lnTo>
                  <a:lnTo>
                    <a:pt x="0" y="951201"/>
                  </a:lnTo>
                  <a:close/>
                </a:path>
              </a:pathLst>
            </a:custGeom>
            <a:solidFill>
              <a:srgbClr val="E95850">
                <a:alpha val="35686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85519" cy="960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596401" y="6522352"/>
            <a:ext cx="3362204" cy="3611591"/>
            <a:chOff x="0" y="0"/>
            <a:chExt cx="885519" cy="9512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5519" cy="951201"/>
            </a:xfrm>
            <a:custGeom>
              <a:avLst/>
              <a:gdLst/>
              <a:ahLst/>
              <a:cxnLst/>
              <a:rect r="r" b="b" t="t" l="l"/>
              <a:pathLst>
                <a:path h="951201" w="885519">
                  <a:moveTo>
                    <a:pt x="0" y="0"/>
                  </a:moveTo>
                  <a:lnTo>
                    <a:pt x="885519" y="0"/>
                  </a:lnTo>
                  <a:lnTo>
                    <a:pt x="885519" y="951201"/>
                  </a:lnTo>
                  <a:lnTo>
                    <a:pt x="0" y="951201"/>
                  </a:lnTo>
                  <a:close/>
                </a:path>
              </a:pathLst>
            </a:custGeom>
            <a:solidFill>
              <a:srgbClr val="E95850">
                <a:alpha val="35686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85519" cy="960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7072" y="6522352"/>
            <a:ext cx="873038" cy="87303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54902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51045" y="6522352"/>
            <a:ext cx="873038" cy="87303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54902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08556" y="6522352"/>
            <a:ext cx="873038" cy="873038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54902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69145" y="6522352"/>
            <a:ext cx="873038" cy="873038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54902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829905" y="6522352"/>
            <a:ext cx="873038" cy="873038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54902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103419" y="2457121"/>
            <a:ext cx="2308334" cy="2308334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121F">
                <a:alpha val="29804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8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4240498" y="3611288"/>
            <a:ext cx="18629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6657581" y="1660017"/>
            <a:ext cx="1200010" cy="1086009"/>
          </a:xfrm>
          <a:custGeom>
            <a:avLst/>
            <a:gdLst/>
            <a:ahLst/>
            <a:cxnLst/>
            <a:rect r="r" b="b" t="t" l="l"/>
            <a:pathLst>
              <a:path h="1086009" w="1200010">
                <a:moveTo>
                  <a:pt x="0" y="0"/>
                </a:moveTo>
                <a:lnTo>
                  <a:pt x="1200010" y="0"/>
                </a:lnTo>
                <a:lnTo>
                  <a:pt x="1200010" y="1086010"/>
                </a:lnTo>
                <a:lnTo>
                  <a:pt x="0" y="108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922454" y="6902955"/>
            <a:ext cx="638387" cy="644835"/>
          </a:xfrm>
          <a:custGeom>
            <a:avLst/>
            <a:gdLst/>
            <a:ahLst/>
            <a:cxnLst/>
            <a:rect r="r" b="b" t="t" l="l"/>
            <a:pathLst>
              <a:path h="644835" w="638387">
                <a:moveTo>
                  <a:pt x="0" y="0"/>
                </a:moveTo>
                <a:lnTo>
                  <a:pt x="638387" y="0"/>
                </a:lnTo>
                <a:lnTo>
                  <a:pt x="638387" y="644835"/>
                </a:lnTo>
                <a:lnTo>
                  <a:pt x="0" y="6448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576931" y="7024395"/>
            <a:ext cx="574115" cy="741990"/>
          </a:xfrm>
          <a:custGeom>
            <a:avLst/>
            <a:gdLst/>
            <a:ahLst/>
            <a:cxnLst/>
            <a:rect r="r" b="b" t="t" l="l"/>
            <a:pathLst>
              <a:path h="741990" w="574115">
                <a:moveTo>
                  <a:pt x="0" y="0"/>
                </a:moveTo>
                <a:lnTo>
                  <a:pt x="574114" y="0"/>
                </a:lnTo>
                <a:lnTo>
                  <a:pt x="574114" y="741990"/>
                </a:lnTo>
                <a:lnTo>
                  <a:pt x="0" y="7419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066391" y="6880010"/>
            <a:ext cx="604065" cy="604065"/>
          </a:xfrm>
          <a:custGeom>
            <a:avLst/>
            <a:gdLst/>
            <a:ahLst/>
            <a:cxnLst/>
            <a:rect r="r" b="b" t="t" l="l"/>
            <a:pathLst>
              <a:path h="604065" w="604065">
                <a:moveTo>
                  <a:pt x="0" y="0"/>
                </a:moveTo>
                <a:lnTo>
                  <a:pt x="604065" y="0"/>
                </a:lnTo>
                <a:lnTo>
                  <a:pt x="604065" y="604065"/>
                </a:lnTo>
                <a:lnTo>
                  <a:pt x="0" y="604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624722" y="6833302"/>
            <a:ext cx="606322" cy="606322"/>
          </a:xfrm>
          <a:custGeom>
            <a:avLst/>
            <a:gdLst/>
            <a:ahLst/>
            <a:cxnLst/>
            <a:rect r="r" b="b" t="t" l="l"/>
            <a:pathLst>
              <a:path h="606322" w="606322">
                <a:moveTo>
                  <a:pt x="0" y="0"/>
                </a:moveTo>
                <a:lnTo>
                  <a:pt x="606323" y="0"/>
                </a:lnTo>
                <a:lnTo>
                  <a:pt x="606323" y="606322"/>
                </a:lnTo>
                <a:lnTo>
                  <a:pt x="0" y="60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291726" y="6958871"/>
            <a:ext cx="588919" cy="588919"/>
          </a:xfrm>
          <a:custGeom>
            <a:avLst/>
            <a:gdLst/>
            <a:ahLst/>
            <a:cxnLst/>
            <a:rect r="r" b="b" t="t" l="l"/>
            <a:pathLst>
              <a:path h="588919" w="588919">
                <a:moveTo>
                  <a:pt x="0" y="0"/>
                </a:moveTo>
                <a:lnTo>
                  <a:pt x="588920" y="0"/>
                </a:lnTo>
                <a:lnTo>
                  <a:pt x="588920" y="588919"/>
                </a:lnTo>
                <a:lnTo>
                  <a:pt x="0" y="588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8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30940" y="-76200"/>
            <a:ext cx="9685176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  <a:spcBef>
                <a:spcPct val="0"/>
              </a:spcBef>
            </a:pPr>
            <a:r>
              <a:rPr lang="en-US" sz="9999" spc="8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DATASET &amp; METHODOLOGY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1094" y="1832084"/>
            <a:ext cx="3340044" cy="91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IBM Telco Customer Churn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1094" y="3053887"/>
            <a:ext cx="3340044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b="true" sz="3999" spc="-119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7043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1094" y="3604115"/>
            <a:ext cx="334004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 spc="-89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Customers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1094" y="4605150"/>
            <a:ext cx="3340044" cy="54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500" spc="-105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21 Features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41094" y="5136327"/>
            <a:ext cx="334004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000" spc="-89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20 Variables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6566" y="6716212"/>
            <a:ext cx="69405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4003" y="8166915"/>
            <a:ext cx="3387586" cy="179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Handle missing values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Encode categorical variables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Dropc olumn (TotalCharges)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34649" y="7538265"/>
            <a:ext cx="3340044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Data Preprocessing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240539" y="6716212"/>
            <a:ext cx="69405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849398" y="8166915"/>
            <a:ext cx="3387586" cy="179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Distribution Analysis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Correlation Heatmap Analysis 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Visualization of Churn Patterns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17542" y="7538265"/>
            <a:ext cx="3340044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EDA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798049" y="6716212"/>
            <a:ext cx="69405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465611" y="8166915"/>
            <a:ext cx="3387586" cy="143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45 Features Encoded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Stratified Split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StandardScaler pipeline</a:t>
            </a:r>
          </a:p>
          <a:p>
            <a:pPr algn="l">
              <a:lnSpc>
                <a:spcPts val="2898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7475053" y="7538265"/>
            <a:ext cx="3340044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Feature Engineering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358638" y="6716212"/>
            <a:ext cx="69405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81797" y="8166915"/>
            <a:ext cx="3387586" cy="251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7 classifiers tested:</a:t>
            </a:r>
          </a:p>
          <a:p>
            <a:pPr algn="l">
              <a:lnSpc>
                <a:spcPts val="2898"/>
              </a:lnSpc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Logistic Regression, Random Forest, Decision Tree, AdaBoost, Gradient BM, XGBoost, LightGBM</a:t>
            </a:r>
          </a:p>
          <a:p>
            <a:pPr algn="l">
              <a:lnSpc>
                <a:spcPts val="2898"/>
              </a:lnSpc>
            </a:pPr>
          </a:p>
          <a:p>
            <a:pPr algn="l">
              <a:lnSpc>
                <a:spcPts val="2898"/>
              </a:lnSpc>
            </a:pPr>
          </a:p>
        </p:txBody>
      </p:sp>
      <p:sp>
        <p:nvSpPr>
          <p:cNvPr name="TextBox 70" id="70"/>
          <p:cNvSpPr txBox="true"/>
          <p:nvPr/>
        </p:nvSpPr>
        <p:spPr>
          <a:xfrm rot="0">
            <a:off x="11035641" y="7538265"/>
            <a:ext cx="3340044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Model Training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919398" y="6716212"/>
            <a:ext cx="69405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5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596401" y="7538265"/>
            <a:ext cx="3340044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Evaluation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640834" y="8166915"/>
            <a:ext cx="3387586" cy="179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Acuracy, Recall, Precision, F1 Score, AUC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Focus on Churn Recall</a:t>
            </a:r>
          </a:p>
          <a:p>
            <a:pPr algn="l" marL="496571" indent="-248285" lvl="1">
              <a:lnSpc>
                <a:spcPts val="2898"/>
              </a:lnSpc>
              <a:buFont typeface="Arial"/>
              <a:buChar char="•"/>
            </a:pPr>
            <a:r>
              <a:rPr lang="en-US" sz="2300" spc="-128">
                <a:solidFill>
                  <a:srgbClr val="013048"/>
                </a:solidFill>
                <a:latin typeface="Lora"/>
                <a:ea typeface="Lora"/>
                <a:cs typeface="Lora"/>
                <a:sym typeface="Lora"/>
              </a:rPr>
              <a:t>Cost-Benefit Analysis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333723" y="2813118"/>
            <a:ext cx="1806522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Target: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415458" y="4946650"/>
            <a:ext cx="3684257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Objective: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354325" y="3209462"/>
            <a:ext cx="1806522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000" spc="-89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Churn (Yes/No)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176742" y="5413822"/>
            <a:ext cx="4161689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9"/>
              </a:lnSpc>
              <a:spcBef>
                <a:spcPct val="0"/>
              </a:spcBef>
            </a:pPr>
            <a:r>
              <a:rPr lang="en-US" b="true" sz="2499" spc="-74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Predict Customer Churn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70492" y="3325019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0492" y="4580257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70492" y="586089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70492" y="7122484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70492" y="8403122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990883" y="3487730"/>
            <a:ext cx="0" cy="1255238"/>
          </a:xfrm>
          <a:prstGeom prst="line">
            <a:avLst/>
          </a:prstGeom>
          <a:ln cap="rnd" w="19050">
            <a:solidFill>
              <a:srgbClr val="475FC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 flipV="true">
            <a:off x="1990883" y="4652290"/>
            <a:ext cx="0" cy="1371317"/>
          </a:xfrm>
          <a:prstGeom prst="line">
            <a:avLst/>
          </a:prstGeom>
          <a:ln cap="rnd" w="19050">
            <a:solidFill>
              <a:srgbClr val="475FC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2000408" y="5963235"/>
            <a:ext cx="0" cy="1371317"/>
          </a:xfrm>
          <a:prstGeom prst="line">
            <a:avLst/>
          </a:prstGeom>
          <a:ln cap="rnd" w="19050">
            <a:solidFill>
              <a:srgbClr val="475FC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V="true">
            <a:off x="2000408" y="7240730"/>
            <a:ext cx="0" cy="1371317"/>
          </a:xfrm>
          <a:prstGeom prst="line">
            <a:avLst/>
          </a:prstGeom>
          <a:ln cap="rnd" w="19050">
            <a:solidFill>
              <a:srgbClr val="475FC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flipV="true">
            <a:off x="9572932" y="3513614"/>
            <a:ext cx="0" cy="1255238"/>
          </a:xfrm>
          <a:prstGeom prst="line">
            <a:avLst/>
          </a:prstGeom>
          <a:ln cap="rnd" w="19050">
            <a:solidFill>
              <a:srgbClr val="FF575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 flipV="true">
            <a:off x="9572932" y="4678173"/>
            <a:ext cx="0" cy="1371317"/>
          </a:xfrm>
          <a:prstGeom prst="line">
            <a:avLst/>
          </a:prstGeom>
          <a:ln cap="rnd" w="19050">
            <a:solidFill>
              <a:srgbClr val="FF575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9572932" y="5989118"/>
            <a:ext cx="9525" cy="1593303"/>
          </a:xfrm>
          <a:prstGeom prst="line">
            <a:avLst/>
          </a:prstGeom>
          <a:ln cap="rnd" w="19050">
            <a:solidFill>
              <a:srgbClr val="FF575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361925" y="887353"/>
            <a:ext cx="919048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12000" spc="108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DATA RATIONALE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8157" y="2566345"/>
            <a:ext cx="3792781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3048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047146" y="3341055"/>
            <a:ext cx="386476" cy="386476"/>
          </a:xfrm>
          <a:custGeom>
            <a:avLst/>
            <a:gdLst/>
            <a:ahLst/>
            <a:cxnLst/>
            <a:rect r="r" b="b" t="t" l="l"/>
            <a:pathLst>
              <a:path h="386476" w="386476">
                <a:moveTo>
                  <a:pt x="0" y="0"/>
                </a:moveTo>
                <a:lnTo>
                  <a:pt x="386476" y="0"/>
                </a:lnTo>
                <a:lnTo>
                  <a:pt x="386476" y="386476"/>
                </a:lnTo>
                <a:lnTo>
                  <a:pt x="0" y="386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47146" y="4575614"/>
            <a:ext cx="386476" cy="386476"/>
          </a:xfrm>
          <a:custGeom>
            <a:avLst/>
            <a:gdLst/>
            <a:ahLst/>
            <a:cxnLst/>
            <a:rect r="r" b="b" t="t" l="l"/>
            <a:pathLst>
              <a:path h="386476" w="386476">
                <a:moveTo>
                  <a:pt x="0" y="0"/>
                </a:moveTo>
                <a:lnTo>
                  <a:pt x="386476" y="0"/>
                </a:lnTo>
                <a:lnTo>
                  <a:pt x="386476" y="386476"/>
                </a:lnTo>
                <a:lnTo>
                  <a:pt x="0" y="386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047146" y="5795881"/>
            <a:ext cx="386476" cy="386476"/>
          </a:xfrm>
          <a:custGeom>
            <a:avLst/>
            <a:gdLst/>
            <a:ahLst/>
            <a:cxnLst/>
            <a:rect r="r" b="b" t="t" l="l"/>
            <a:pathLst>
              <a:path h="386476" w="386476">
                <a:moveTo>
                  <a:pt x="0" y="0"/>
                </a:moveTo>
                <a:lnTo>
                  <a:pt x="386476" y="0"/>
                </a:lnTo>
                <a:lnTo>
                  <a:pt x="386476" y="386475"/>
                </a:lnTo>
                <a:lnTo>
                  <a:pt x="0" y="3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47146" y="7398709"/>
            <a:ext cx="386476" cy="386476"/>
          </a:xfrm>
          <a:custGeom>
            <a:avLst/>
            <a:gdLst/>
            <a:ahLst/>
            <a:cxnLst/>
            <a:rect r="r" b="b" t="t" l="l"/>
            <a:pathLst>
              <a:path h="386476" w="386476">
                <a:moveTo>
                  <a:pt x="0" y="0"/>
                </a:moveTo>
                <a:lnTo>
                  <a:pt x="386476" y="0"/>
                </a:lnTo>
                <a:lnTo>
                  <a:pt x="386476" y="386475"/>
                </a:lnTo>
                <a:lnTo>
                  <a:pt x="0" y="3864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0">
            <a:off x="16062440" y="2550985"/>
            <a:ext cx="898150" cy="898150"/>
          </a:xfrm>
          <a:custGeom>
            <a:avLst/>
            <a:gdLst/>
            <a:ahLst/>
            <a:cxnLst/>
            <a:rect r="r" b="b" t="t" l="l"/>
            <a:pathLst>
              <a:path h="898150" w="898150">
                <a:moveTo>
                  <a:pt x="0" y="898150"/>
                </a:moveTo>
                <a:lnTo>
                  <a:pt x="898150" y="898150"/>
                </a:lnTo>
                <a:lnTo>
                  <a:pt x="898150" y="0"/>
                </a:lnTo>
                <a:lnTo>
                  <a:pt x="0" y="0"/>
                </a:lnTo>
                <a:lnTo>
                  <a:pt x="0" y="89815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true" rot="5300579">
            <a:off x="450977" y="2683918"/>
            <a:ext cx="898150" cy="898150"/>
          </a:xfrm>
          <a:custGeom>
            <a:avLst/>
            <a:gdLst/>
            <a:ahLst/>
            <a:cxnLst/>
            <a:rect r="r" b="b" t="t" l="l"/>
            <a:pathLst>
              <a:path h="898150" w="898150">
                <a:moveTo>
                  <a:pt x="0" y="898150"/>
                </a:moveTo>
                <a:lnTo>
                  <a:pt x="898151" y="898150"/>
                </a:lnTo>
                <a:lnTo>
                  <a:pt x="898151" y="0"/>
                </a:lnTo>
                <a:lnTo>
                  <a:pt x="0" y="0"/>
                </a:lnTo>
                <a:lnTo>
                  <a:pt x="0" y="89815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137598">
            <a:off x="16547641" y="8336522"/>
            <a:ext cx="1895244" cy="1843555"/>
          </a:xfrm>
          <a:custGeom>
            <a:avLst/>
            <a:gdLst/>
            <a:ahLst/>
            <a:cxnLst/>
            <a:rect r="r" b="b" t="t" l="l"/>
            <a:pathLst>
              <a:path h="1843555" w="1895244">
                <a:moveTo>
                  <a:pt x="0" y="0"/>
                </a:moveTo>
                <a:lnTo>
                  <a:pt x="1895244" y="0"/>
                </a:lnTo>
                <a:lnTo>
                  <a:pt x="1895244" y="1843556"/>
                </a:lnTo>
                <a:lnTo>
                  <a:pt x="0" y="1843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939533" y="3735224"/>
            <a:ext cx="456971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The IBM Telco dataset is commonly used in chu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rn prediction studies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39533" y="3241985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Widely used and credible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1950" y="2566345"/>
            <a:ext cx="5411374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3048"/>
                </a:solidFill>
                <a:latin typeface="Poppins Bold"/>
                <a:ea typeface="Poppins Bold"/>
                <a:cs typeface="Poppins Bold"/>
                <a:sym typeface="Poppins Bold"/>
              </a:rPr>
              <a:t>Why this dataset?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39533" y="4990462"/>
            <a:ext cx="456971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Supports bi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nary classification with Churn (Yes/No)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39533" y="4497224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Clear target variable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39533" y="6271100"/>
            <a:ext cx="456971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Large enough to achieve statistical 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significance and detect patterns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39533" y="5777862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Managable size &amp; structure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39533" y="7532688"/>
            <a:ext cx="456971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It includes demographics, tenure, contract, and billing information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39533" y="7039450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relevant features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39533" y="9230678"/>
            <a:ext cx="6204467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Easy for all team members to u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se, replicate, and compare with prior studies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39533" y="8320088"/>
            <a:ext cx="65286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Accesible, reproducable &amp; benchmarkable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35882" y="5016346"/>
            <a:ext cx="609160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Has more non-churn than churn can make models may be biased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35882" y="4523107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Possible class imbalance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35882" y="6220784"/>
            <a:ext cx="609160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Important factors such as customer satisfactio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n, complaints, or network quality are missing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33647" y="5757541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real world variables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35882" y="3735707"/>
            <a:ext cx="587563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May not fully reflect the complexity and noise of real telecom customer behavior.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35882" y="3242469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Synthetic Sample Dataset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35882" y="7336677"/>
            <a:ext cx="456971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No Time Dimension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35882" y="7829915"/>
            <a:ext cx="609160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Cannot analyze chu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rn over time and  track behavior changes or predict when churn happens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102" y="2384098"/>
            <a:ext cx="11037610" cy="5518805"/>
          </a:xfrm>
          <a:custGeom>
            <a:avLst/>
            <a:gdLst/>
            <a:ahLst/>
            <a:cxnLst/>
            <a:rect r="r" b="b" t="t" l="l"/>
            <a:pathLst>
              <a:path h="5518805" w="11037610">
                <a:moveTo>
                  <a:pt x="0" y="0"/>
                </a:moveTo>
                <a:lnTo>
                  <a:pt x="11037610" y="0"/>
                </a:lnTo>
                <a:lnTo>
                  <a:pt x="11037610" y="5518804"/>
                </a:lnTo>
                <a:lnTo>
                  <a:pt x="0" y="551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732583" y="670560"/>
            <a:ext cx="14753938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EDA: KEY FINDINGS - CHURN BY TENURE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08257" y="3691318"/>
            <a:ext cx="6379743" cy="287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New customers (month 0) churn the MOST: </a:t>
            </a:r>
            <a:r>
              <a:rPr lang="en-US" b="true" sz="2599" spc="-145">
                <a:solidFill>
                  <a:srgbClr val="013048"/>
                </a:solidFill>
                <a:latin typeface="Poppins Bold"/>
                <a:ea typeface="Poppins Bold"/>
                <a:cs typeface="Poppins Bold"/>
                <a:sym typeface="Poppins Bold"/>
              </a:rPr>
              <a:t>359 out of 503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Churn drops sharply as tenure increases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70-month customers: 628 stayed, only 23 churned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 Early retention programs are critical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963" y="2044698"/>
            <a:ext cx="9916168" cy="6197605"/>
          </a:xfrm>
          <a:custGeom>
            <a:avLst/>
            <a:gdLst/>
            <a:ahLst/>
            <a:cxnLst/>
            <a:rect r="r" b="b" t="t" l="l"/>
            <a:pathLst>
              <a:path h="6197605" w="9916168">
                <a:moveTo>
                  <a:pt x="0" y="0"/>
                </a:moveTo>
                <a:lnTo>
                  <a:pt x="9916168" y="0"/>
                </a:lnTo>
                <a:lnTo>
                  <a:pt x="9916168" y="6197604"/>
                </a:lnTo>
                <a:lnTo>
                  <a:pt x="0" y="6197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1963" y="670560"/>
            <a:ext cx="17413968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EDA: KEY FINDING - MONTHLY CHARGES VS CHURN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61856" y="3896106"/>
            <a:ext cx="7015326" cy="246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Churned customers pay a higher median: $79.7/month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Retained customers median: $64.4/month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High-paying customers feel less valued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Consider loyalty discounts for high-spend customers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18773" y="1758315"/>
            <a:ext cx="9540527" cy="7954415"/>
          </a:xfrm>
          <a:custGeom>
            <a:avLst/>
            <a:gdLst/>
            <a:ahLst/>
            <a:cxnLst/>
            <a:rect r="r" b="b" t="t" l="l"/>
            <a:pathLst>
              <a:path h="7954415" w="9540527">
                <a:moveTo>
                  <a:pt x="0" y="0"/>
                </a:moveTo>
                <a:lnTo>
                  <a:pt x="9540527" y="0"/>
                </a:lnTo>
                <a:lnTo>
                  <a:pt x="9540527" y="7954415"/>
                </a:lnTo>
                <a:lnTo>
                  <a:pt x="0" y="7954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709043" y="670560"/>
            <a:ext cx="10705043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EDA: CORRELATION HEATMAP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9043" y="2773025"/>
            <a:ext cx="5767701" cy="164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Contract_Month_to_Month </a:t>
            </a:r>
            <a:r>
              <a:rPr lang="en-US" b="true" sz="2599" spc="-145">
                <a:solidFill>
                  <a:srgbClr val="C1121F"/>
                </a:solidFill>
                <a:latin typeface="Poppins Bold"/>
                <a:ea typeface="Poppins Bold"/>
                <a:cs typeface="Poppins Bold"/>
                <a:sym typeface="Poppins Bold"/>
              </a:rPr>
              <a:t>+0.41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Online_Security_No </a:t>
            </a:r>
            <a:r>
              <a:rPr lang="en-US" b="true" sz="2599" spc="-145">
                <a:solidFill>
                  <a:srgbClr val="C1121F"/>
                </a:solidFill>
                <a:latin typeface="Poppins Bold"/>
                <a:ea typeface="Poppins Bold"/>
                <a:cs typeface="Poppins Bold"/>
                <a:sym typeface="Poppins Bold"/>
              </a:rPr>
              <a:t>+0.34</a:t>
            </a:r>
          </a:p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Tech_Support_No </a:t>
            </a:r>
            <a:r>
              <a:rPr lang="en-US" b="true" sz="2599" spc="-145">
                <a:solidFill>
                  <a:srgbClr val="C1121F"/>
                </a:solidFill>
                <a:latin typeface="Poppins Bold"/>
                <a:ea typeface="Poppins Bold"/>
                <a:cs typeface="Poppins Bold"/>
                <a:sym typeface="Poppins Bold"/>
              </a:rPr>
              <a:t>+0.34</a:t>
            </a:r>
          </a:p>
          <a:p>
            <a:pPr algn="l" marL="561339" indent="-280669" lvl="1">
              <a:lnSpc>
                <a:spcPts val="3275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InternetService_Fiber_optic </a:t>
            </a:r>
            <a:r>
              <a:rPr lang="en-US" b="true" sz="2599" spc="-145">
                <a:solidFill>
                  <a:srgbClr val="C1121F"/>
                </a:solidFill>
                <a:latin typeface="Poppins Bold"/>
                <a:ea typeface="Poppins Bold"/>
                <a:cs typeface="Poppins Bold"/>
                <a:sym typeface="Poppins Bold"/>
              </a:rPr>
              <a:t>+0.31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4639" y="5420213"/>
            <a:ext cx="5767701" cy="82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275"/>
              </a:lnSpc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tenure </a:t>
            </a:r>
            <a:r>
              <a:rPr lang="en-US" b="true" sz="2599" spc="-145">
                <a:solidFill>
                  <a:srgbClr val="2B41A2"/>
                </a:solidFill>
                <a:latin typeface="Poppins Bold"/>
                <a:ea typeface="Poppins Bold"/>
                <a:cs typeface="Poppins Bold"/>
                <a:sym typeface="Poppins Bold"/>
              </a:rPr>
              <a:t>-0.35</a:t>
            </a:r>
          </a:p>
          <a:p>
            <a:pPr algn="l" marL="561339" indent="-280669" lvl="1">
              <a:lnSpc>
                <a:spcPts val="3275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-145">
                <a:solidFill>
                  <a:srgbClr val="013048"/>
                </a:solidFill>
                <a:latin typeface="Poppins"/>
                <a:ea typeface="Poppins"/>
                <a:cs typeface="Poppins"/>
                <a:sym typeface="Poppins"/>
              </a:rPr>
              <a:t>Contract_Two_year </a:t>
            </a:r>
            <a:r>
              <a:rPr lang="en-US" b="true" sz="2599" spc="-145">
                <a:solidFill>
                  <a:srgbClr val="2B41A2"/>
                </a:solidFill>
                <a:latin typeface="Poppins Bold"/>
                <a:ea typeface="Poppins Bold"/>
                <a:cs typeface="Poppins Bold"/>
                <a:sym typeface="Poppins Bold"/>
              </a:rPr>
              <a:t>-0.30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296" y="2059285"/>
            <a:ext cx="379278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Top Churn Driver: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4296" y="4706473"/>
            <a:ext cx="426358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Protective Factors: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9590" y="670560"/>
            <a:ext cx="10705043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MODELLING APPROACH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993817" y="1758315"/>
            <a:ext cx="4058762" cy="1038601"/>
            <a:chOff x="0" y="0"/>
            <a:chExt cx="1068974" cy="2735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76558" y="1758315"/>
            <a:ext cx="4058762" cy="1038601"/>
            <a:chOff x="0" y="0"/>
            <a:chExt cx="1068974" cy="2735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9DB7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55510" y="2034956"/>
            <a:ext cx="3340044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Logistic Regression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23978" y="2034956"/>
            <a:ext cx="2398441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Decision Tree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52679" y="1758315"/>
            <a:ext cx="4058762" cy="1038601"/>
            <a:chOff x="0" y="0"/>
            <a:chExt cx="1068974" cy="273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8974" cy="273541"/>
            </a:xfrm>
            <a:custGeom>
              <a:avLst/>
              <a:gdLst/>
              <a:ahLst/>
              <a:cxnLst/>
              <a:rect r="r" b="b" t="t" l="l"/>
              <a:pathLst>
                <a:path h="273541" w="1068974">
                  <a:moveTo>
                    <a:pt x="43872" y="0"/>
                  </a:moveTo>
                  <a:lnTo>
                    <a:pt x="1025103" y="0"/>
                  </a:lnTo>
                  <a:cubicBezTo>
                    <a:pt x="1036738" y="0"/>
                    <a:pt x="1047897" y="4622"/>
                    <a:pt x="1056125" y="12850"/>
                  </a:cubicBezTo>
                  <a:cubicBezTo>
                    <a:pt x="1064352" y="21077"/>
                    <a:pt x="1068974" y="32236"/>
                    <a:pt x="1068974" y="43872"/>
                  </a:cubicBezTo>
                  <a:lnTo>
                    <a:pt x="1068974" y="229669"/>
                  </a:lnTo>
                  <a:cubicBezTo>
                    <a:pt x="1068974" y="241305"/>
                    <a:pt x="1064352" y="252464"/>
                    <a:pt x="1056125" y="260691"/>
                  </a:cubicBezTo>
                  <a:cubicBezTo>
                    <a:pt x="1047897" y="268919"/>
                    <a:pt x="1036738" y="273541"/>
                    <a:pt x="1025103" y="273541"/>
                  </a:cubicBezTo>
                  <a:lnTo>
                    <a:pt x="43872" y="273541"/>
                  </a:lnTo>
                  <a:cubicBezTo>
                    <a:pt x="32236" y="273541"/>
                    <a:pt x="21077" y="268919"/>
                    <a:pt x="12850" y="260691"/>
                  </a:cubicBezTo>
                  <a:cubicBezTo>
                    <a:pt x="4622" y="252464"/>
                    <a:pt x="0" y="241305"/>
                    <a:pt x="0" y="229669"/>
                  </a:cubicBezTo>
                  <a:lnTo>
                    <a:pt x="0" y="43872"/>
                  </a:lnTo>
                  <a:cubicBezTo>
                    <a:pt x="0" y="32236"/>
                    <a:pt x="4622" y="21077"/>
                    <a:pt x="12850" y="12850"/>
                  </a:cubicBezTo>
                  <a:cubicBezTo>
                    <a:pt x="21077" y="4622"/>
                    <a:pt x="32236" y="0"/>
                    <a:pt x="43872" y="0"/>
                  </a:cubicBezTo>
                  <a:close/>
                </a:path>
              </a:pathLst>
            </a:custGeom>
            <a:solidFill>
              <a:srgbClr val="1B418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68974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600450" y="2034956"/>
            <a:ext cx="2563222" cy="45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7"/>
              </a:lnSpc>
              <a:spcBef>
                <a:spcPct val="0"/>
              </a:spcBef>
            </a:pPr>
            <a:r>
              <a:rPr lang="en-US" b="true" sz="2857" spc="-85">
                <a:solidFill>
                  <a:srgbClr val="FDF3DF"/>
                </a:solidFill>
                <a:latin typeface="Lora Bold"/>
                <a:ea typeface="Lora Bold"/>
                <a:cs typeface="Lora Bold"/>
                <a:sym typeface="Lora Bold"/>
              </a:rPr>
              <a:t>Random Forest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685" y="3330316"/>
            <a:ext cx="414946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Data Split Strategy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1395" y="4222491"/>
            <a:ext cx="8305503" cy="2012851"/>
            <a:chOff x="0" y="0"/>
            <a:chExt cx="11074004" cy="268380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2700" y="604803"/>
              <a:ext cx="11061304" cy="2078998"/>
              <a:chOff x="0" y="0"/>
              <a:chExt cx="2184949" cy="4106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84949" cy="410666"/>
              </a:xfrm>
              <a:custGeom>
                <a:avLst/>
                <a:gdLst/>
                <a:ahLst/>
                <a:cxnLst/>
                <a:rect r="r" b="b" t="t" l="l"/>
                <a:pathLst>
                  <a:path h="410666" w="2184949">
                    <a:moveTo>
                      <a:pt x="21464" y="0"/>
                    </a:moveTo>
                    <a:lnTo>
                      <a:pt x="2163485" y="0"/>
                    </a:lnTo>
                    <a:cubicBezTo>
                      <a:pt x="2169178" y="0"/>
                      <a:pt x="2174637" y="2261"/>
                      <a:pt x="2178662" y="6287"/>
                    </a:cubicBezTo>
                    <a:cubicBezTo>
                      <a:pt x="2182688" y="10312"/>
                      <a:pt x="2184949" y="15771"/>
                      <a:pt x="2184949" y="21464"/>
                    </a:cubicBezTo>
                    <a:lnTo>
                      <a:pt x="2184949" y="389202"/>
                    </a:lnTo>
                    <a:cubicBezTo>
                      <a:pt x="2184949" y="394895"/>
                      <a:pt x="2182688" y="400354"/>
                      <a:pt x="2178662" y="404380"/>
                    </a:cubicBezTo>
                    <a:cubicBezTo>
                      <a:pt x="2174637" y="408405"/>
                      <a:pt x="2169178" y="410666"/>
                      <a:pt x="2163485" y="410666"/>
                    </a:cubicBezTo>
                    <a:lnTo>
                      <a:pt x="21464" y="410666"/>
                    </a:lnTo>
                    <a:cubicBezTo>
                      <a:pt x="15771" y="410666"/>
                      <a:pt x="10312" y="408405"/>
                      <a:pt x="6287" y="404380"/>
                    </a:cubicBezTo>
                    <a:cubicBezTo>
                      <a:pt x="2261" y="400354"/>
                      <a:pt x="0" y="394895"/>
                      <a:pt x="0" y="389202"/>
                    </a:cubicBezTo>
                    <a:lnTo>
                      <a:pt x="0" y="21464"/>
                    </a:lnTo>
                    <a:cubicBezTo>
                      <a:pt x="0" y="15771"/>
                      <a:pt x="2261" y="10312"/>
                      <a:pt x="6287" y="6287"/>
                    </a:cubicBezTo>
                    <a:cubicBezTo>
                      <a:pt x="10312" y="2261"/>
                      <a:pt x="15771" y="0"/>
                      <a:pt x="21464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2184949" cy="420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6196353" cy="976773"/>
              <a:chOff x="0" y="0"/>
              <a:chExt cx="1223971" cy="19294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23971" cy="192943"/>
              </a:xfrm>
              <a:custGeom>
                <a:avLst/>
                <a:gdLst/>
                <a:ahLst/>
                <a:cxnLst/>
                <a:rect r="r" b="b" t="t" l="l"/>
                <a:pathLst>
                  <a:path h="192943" w="1223971">
                    <a:moveTo>
                      <a:pt x="38316" y="0"/>
                    </a:moveTo>
                    <a:lnTo>
                      <a:pt x="1185655" y="0"/>
                    </a:lnTo>
                    <a:cubicBezTo>
                      <a:pt x="1195817" y="0"/>
                      <a:pt x="1205563" y="4037"/>
                      <a:pt x="1212748" y="11222"/>
                    </a:cubicBezTo>
                    <a:cubicBezTo>
                      <a:pt x="1219934" y="18408"/>
                      <a:pt x="1223971" y="28154"/>
                      <a:pt x="1223971" y="38316"/>
                    </a:cubicBezTo>
                    <a:lnTo>
                      <a:pt x="1223971" y="154627"/>
                    </a:lnTo>
                    <a:cubicBezTo>
                      <a:pt x="1223971" y="175788"/>
                      <a:pt x="1206816" y="192943"/>
                      <a:pt x="1185655" y="192943"/>
                    </a:cubicBezTo>
                    <a:lnTo>
                      <a:pt x="38316" y="192943"/>
                    </a:lnTo>
                    <a:cubicBezTo>
                      <a:pt x="17155" y="192943"/>
                      <a:pt x="0" y="175788"/>
                      <a:pt x="0" y="154627"/>
                    </a:cubicBezTo>
                    <a:lnTo>
                      <a:pt x="0" y="38316"/>
                    </a:lnTo>
                    <a:cubicBezTo>
                      <a:pt x="0" y="17155"/>
                      <a:pt x="17155" y="0"/>
                      <a:pt x="38316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1223971" cy="202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57419" y="199969"/>
              <a:ext cx="5681514" cy="548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5"/>
                </a:lnSpc>
                <a:spcBef>
                  <a:spcPct val="0"/>
                </a:spcBef>
              </a:pPr>
              <a:r>
                <a:rPr lang="en-US" b="true" sz="2599" spc="-14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80% Train | 10% Val | 10% Test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6229" y="875952"/>
              <a:ext cx="10764130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149"/>
                </a:lnSpc>
                <a:buFont typeface="Arial"/>
                <a:buChar char="•"/>
              </a:pPr>
              <a:r>
                <a:rPr lang="en-US" sz="2499" spc="-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Applied stratify to preserve churn ratio across all sets</a:t>
              </a:r>
            </a:p>
            <a:p>
              <a:pPr algn="l" marL="539749" indent="-269875" lvl="1">
                <a:lnSpc>
                  <a:spcPts val="3149"/>
                </a:lnSpc>
                <a:buFont typeface="Arial"/>
                <a:buChar char="•"/>
              </a:pPr>
              <a:r>
                <a:rPr lang="en-US" sz="2499" spc="-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Added Pipeline (StandardScaler to the model) to prevent data leakage during scaling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437962" y="3330316"/>
            <a:ext cx="630233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Handling Class Imbalance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0" y="0"/>
            <a:ext cx="1470540" cy="1470540"/>
          </a:xfrm>
          <a:custGeom>
            <a:avLst/>
            <a:gdLst/>
            <a:ahLst/>
            <a:cxnLst/>
            <a:rect r="r" b="b" t="t" l="l"/>
            <a:pathLst>
              <a:path h="1470540" w="1470540">
                <a:moveTo>
                  <a:pt x="0" y="0"/>
                </a:moveTo>
                <a:lnTo>
                  <a:pt x="1470540" y="0"/>
                </a:lnTo>
                <a:lnTo>
                  <a:pt x="1470540" y="1470540"/>
                </a:lnTo>
                <a:lnTo>
                  <a:pt x="0" y="1470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383835" y="4222491"/>
            <a:ext cx="8092769" cy="1636209"/>
            <a:chOff x="0" y="0"/>
            <a:chExt cx="10790359" cy="218161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12700" y="604803"/>
              <a:ext cx="9962767" cy="1576809"/>
              <a:chOff x="0" y="0"/>
              <a:chExt cx="1967954" cy="31146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67954" cy="311469"/>
              </a:xfrm>
              <a:custGeom>
                <a:avLst/>
                <a:gdLst/>
                <a:ahLst/>
                <a:cxnLst/>
                <a:rect r="r" b="b" t="t" l="l"/>
                <a:pathLst>
                  <a:path h="311469" w="1967954">
                    <a:moveTo>
                      <a:pt x="23831" y="0"/>
                    </a:moveTo>
                    <a:lnTo>
                      <a:pt x="1944123" y="0"/>
                    </a:lnTo>
                    <a:cubicBezTo>
                      <a:pt x="1950444" y="0"/>
                      <a:pt x="1956505" y="2511"/>
                      <a:pt x="1960974" y="6980"/>
                    </a:cubicBezTo>
                    <a:cubicBezTo>
                      <a:pt x="1965443" y="11449"/>
                      <a:pt x="1967954" y="17510"/>
                      <a:pt x="1967954" y="23831"/>
                    </a:cubicBezTo>
                    <a:lnTo>
                      <a:pt x="1967954" y="287638"/>
                    </a:lnTo>
                    <a:cubicBezTo>
                      <a:pt x="1967954" y="293958"/>
                      <a:pt x="1965443" y="300020"/>
                      <a:pt x="1960974" y="304489"/>
                    </a:cubicBezTo>
                    <a:cubicBezTo>
                      <a:pt x="1956505" y="308958"/>
                      <a:pt x="1950444" y="311469"/>
                      <a:pt x="1944123" y="311469"/>
                    </a:cubicBezTo>
                    <a:lnTo>
                      <a:pt x="23831" y="311469"/>
                    </a:lnTo>
                    <a:cubicBezTo>
                      <a:pt x="17510" y="311469"/>
                      <a:pt x="11449" y="308958"/>
                      <a:pt x="6980" y="304489"/>
                    </a:cubicBezTo>
                    <a:cubicBezTo>
                      <a:pt x="2511" y="300020"/>
                      <a:pt x="0" y="293958"/>
                      <a:pt x="0" y="287638"/>
                    </a:cubicBezTo>
                    <a:lnTo>
                      <a:pt x="0" y="23831"/>
                    </a:lnTo>
                    <a:cubicBezTo>
                      <a:pt x="0" y="17510"/>
                      <a:pt x="2511" y="11449"/>
                      <a:pt x="6980" y="6980"/>
                    </a:cubicBezTo>
                    <a:cubicBezTo>
                      <a:pt x="11449" y="2511"/>
                      <a:pt x="17510" y="0"/>
                      <a:pt x="23831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1967954" cy="32099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6196353" cy="976773"/>
              <a:chOff x="0" y="0"/>
              <a:chExt cx="1223971" cy="19294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23971" cy="192943"/>
              </a:xfrm>
              <a:custGeom>
                <a:avLst/>
                <a:gdLst/>
                <a:ahLst/>
                <a:cxnLst/>
                <a:rect r="r" b="b" t="t" l="l"/>
                <a:pathLst>
                  <a:path h="192943" w="1223971">
                    <a:moveTo>
                      <a:pt x="38316" y="0"/>
                    </a:moveTo>
                    <a:lnTo>
                      <a:pt x="1185655" y="0"/>
                    </a:lnTo>
                    <a:cubicBezTo>
                      <a:pt x="1195817" y="0"/>
                      <a:pt x="1205563" y="4037"/>
                      <a:pt x="1212748" y="11222"/>
                    </a:cubicBezTo>
                    <a:cubicBezTo>
                      <a:pt x="1219934" y="18408"/>
                      <a:pt x="1223971" y="28154"/>
                      <a:pt x="1223971" y="38316"/>
                    </a:cubicBezTo>
                    <a:lnTo>
                      <a:pt x="1223971" y="154627"/>
                    </a:lnTo>
                    <a:cubicBezTo>
                      <a:pt x="1223971" y="175788"/>
                      <a:pt x="1206816" y="192943"/>
                      <a:pt x="1185655" y="192943"/>
                    </a:cubicBezTo>
                    <a:lnTo>
                      <a:pt x="38316" y="192943"/>
                    </a:lnTo>
                    <a:cubicBezTo>
                      <a:pt x="17155" y="192943"/>
                      <a:pt x="0" y="175788"/>
                      <a:pt x="0" y="154627"/>
                    </a:cubicBezTo>
                    <a:lnTo>
                      <a:pt x="0" y="38316"/>
                    </a:lnTo>
                    <a:cubicBezTo>
                      <a:pt x="0" y="17155"/>
                      <a:pt x="17155" y="0"/>
                      <a:pt x="38316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1223971" cy="202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57419" y="209494"/>
              <a:ext cx="5681514" cy="478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8"/>
                </a:lnSpc>
                <a:spcBef>
                  <a:spcPct val="0"/>
                </a:spcBef>
              </a:pPr>
              <a:r>
                <a:rPr lang="en-US" b="true" sz="2300" spc="-12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73.5% stayed vs 26.5% churned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6229" y="875952"/>
              <a:ext cx="10764130" cy="105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149"/>
                </a:lnSpc>
                <a:buFont typeface="Arial"/>
                <a:buChar char="•"/>
              </a:pPr>
              <a:r>
                <a:rPr lang="en-US" sz="2499" spc="-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Applied class_weight='balanced' to Logistic Regression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11395" y="6482991"/>
            <a:ext cx="771474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Hyperparameter Tuning (Random Forest)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35270" y="7245449"/>
            <a:ext cx="8305503" cy="1838064"/>
            <a:chOff x="0" y="0"/>
            <a:chExt cx="11074004" cy="2450752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12700" y="604803"/>
              <a:ext cx="11061304" cy="1845949"/>
              <a:chOff x="0" y="0"/>
              <a:chExt cx="2184949" cy="36463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184949" cy="364632"/>
              </a:xfrm>
              <a:custGeom>
                <a:avLst/>
                <a:gdLst/>
                <a:ahLst/>
                <a:cxnLst/>
                <a:rect r="r" b="b" t="t" l="l"/>
                <a:pathLst>
                  <a:path h="364632" w="2184949">
                    <a:moveTo>
                      <a:pt x="21464" y="0"/>
                    </a:moveTo>
                    <a:lnTo>
                      <a:pt x="2163485" y="0"/>
                    </a:lnTo>
                    <a:cubicBezTo>
                      <a:pt x="2169178" y="0"/>
                      <a:pt x="2174637" y="2261"/>
                      <a:pt x="2178662" y="6287"/>
                    </a:cubicBezTo>
                    <a:cubicBezTo>
                      <a:pt x="2182688" y="10312"/>
                      <a:pt x="2184949" y="15771"/>
                      <a:pt x="2184949" y="21464"/>
                    </a:cubicBezTo>
                    <a:lnTo>
                      <a:pt x="2184949" y="343168"/>
                    </a:lnTo>
                    <a:cubicBezTo>
                      <a:pt x="2184949" y="355022"/>
                      <a:pt x="2175339" y="364632"/>
                      <a:pt x="2163485" y="364632"/>
                    </a:cubicBezTo>
                    <a:lnTo>
                      <a:pt x="21464" y="364632"/>
                    </a:lnTo>
                    <a:cubicBezTo>
                      <a:pt x="15771" y="364632"/>
                      <a:pt x="10312" y="362371"/>
                      <a:pt x="6287" y="358345"/>
                    </a:cubicBezTo>
                    <a:cubicBezTo>
                      <a:pt x="2261" y="354320"/>
                      <a:pt x="0" y="348861"/>
                      <a:pt x="0" y="343168"/>
                    </a:cubicBezTo>
                    <a:lnTo>
                      <a:pt x="0" y="21464"/>
                    </a:lnTo>
                    <a:cubicBezTo>
                      <a:pt x="0" y="15771"/>
                      <a:pt x="2261" y="10312"/>
                      <a:pt x="6287" y="6287"/>
                    </a:cubicBezTo>
                    <a:cubicBezTo>
                      <a:pt x="10312" y="2261"/>
                      <a:pt x="15771" y="0"/>
                      <a:pt x="21464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"/>
                <a:ext cx="2184949" cy="374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6196353" cy="976773"/>
              <a:chOff x="0" y="0"/>
              <a:chExt cx="1223971" cy="19294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223971" cy="192943"/>
              </a:xfrm>
              <a:custGeom>
                <a:avLst/>
                <a:gdLst/>
                <a:ahLst/>
                <a:cxnLst/>
                <a:rect r="r" b="b" t="t" l="l"/>
                <a:pathLst>
                  <a:path h="192943" w="1223971">
                    <a:moveTo>
                      <a:pt x="38316" y="0"/>
                    </a:moveTo>
                    <a:lnTo>
                      <a:pt x="1185655" y="0"/>
                    </a:lnTo>
                    <a:cubicBezTo>
                      <a:pt x="1195817" y="0"/>
                      <a:pt x="1205563" y="4037"/>
                      <a:pt x="1212748" y="11222"/>
                    </a:cubicBezTo>
                    <a:cubicBezTo>
                      <a:pt x="1219934" y="18408"/>
                      <a:pt x="1223971" y="28154"/>
                      <a:pt x="1223971" y="38316"/>
                    </a:cubicBezTo>
                    <a:lnTo>
                      <a:pt x="1223971" y="154627"/>
                    </a:lnTo>
                    <a:cubicBezTo>
                      <a:pt x="1223971" y="175788"/>
                      <a:pt x="1206816" y="192943"/>
                      <a:pt x="1185655" y="192943"/>
                    </a:cubicBezTo>
                    <a:lnTo>
                      <a:pt x="38316" y="192943"/>
                    </a:lnTo>
                    <a:cubicBezTo>
                      <a:pt x="17155" y="192943"/>
                      <a:pt x="0" y="175788"/>
                      <a:pt x="0" y="154627"/>
                    </a:cubicBezTo>
                    <a:lnTo>
                      <a:pt x="0" y="38316"/>
                    </a:lnTo>
                    <a:cubicBezTo>
                      <a:pt x="0" y="17155"/>
                      <a:pt x="17155" y="0"/>
                      <a:pt x="38316" y="0"/>
                    </a:cubicBezTo>
                    <a:close/>
                  </a:path>
                </a:pathLst>
              </a:custGeom>
              <a:solidFill>
                <a:srgbClr val="FFB95C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9525"/>
                <a:ext cx="1223971" cy="2024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314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257419" y="199969"/>
              <a:ext cx="5681514" cy="548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75"/>
                </a:lnSpc>
                <a:spcBef>
                  <a:spcPct val="0"/>
                </a:spcBef>
              </a:pPr>
              <a:r>
                <a:rPr lang="en-US" b="true" sz="2599" spc="-14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Method: GridSearchCV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08367" y="787052"/>
              <a:ext cx="10669969" cy="157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149"/>
                </a:lnSpc>
                <a:buFont typeface="Arial"/>
                <a:buChar char="•"/>
              </a:pPr>
              <a:r>
                <a:rPr lang="en-US" sz="2499" spc="-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Result hyperparameter to be tuned:</a:t>
              </a:r>
            </a:p>
            <a:p>
              <a:pPr algn="l">
                <a:lnSpc>
                  <a:spcPts val="3149"/>
                </a:lnSpc>
              </a:pPr>
              <a:r>
                <a:rPr lang="en-US" sz="2499" spc="-13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{'max_depth': 10, 'min_samples_split': 5, 'n_estimators': 50}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04456" y="7245449"/>
            <a:ext cx="7451528" cy="1838064"/>
            <a:chOff x="0" y="0"/>
            <a:chExt cx="1962542" cy="48409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62542" cy="484099"/>
            </a:xfrm>
            <a:custGeom>
              <a:avLst/>
              <a:gdLst/>
              <a:ahLst/>
              <a:cxnLst/>
              <a:rect r="r" b="b" t="t" l="l"/>
              <a:pathLst>
                <a:path h="484099" w="1962542">
                  <a:moveTo>
                    <a:pt x="23896" y="0"/>
                  </a:moveTo>
                  <a:lnTo>
                    <a:pt x="1938646" y="0"/>
                  </a:lnTo>
                  <a:cubicBezTo>
                    <a:pt x="1944984" y="0"/>
                    <a:pt x="1951062" y="2518"/>
                    <a:pt x="1955543" y="6999"/>
                  </a:cubicBezTo>
                  <a:cubicBezTo>
                    <a:pt x="1960025" y="11481"/>
                    <a:pt x="1962542" y="17559"/>
                    <a:pt x="1962542" y="23896"/>
                  </a:cubicBezTo>
                  <a:lnTo>
                    <a:pt x="1962542" y="460203"/>
                  </a:lnTo>
                  <a:cubicBezTo>
                    <a:pt x="1962542" y="466541"/>
                    <a:pt x="1960025" y="472619"/>
                    <a:pt x="1955543" y="477100"/>
                  </a:cubicBezTo>
                  <a:cubicBezTo>
                    <a:pt x="1951062" y="481582"/>
                    <a:pt x="1944984" y="484099"/>
                    <a:pt x="1938646" y="484099"/>
                  </a:cubicBezTo>
                  <a:lnTo>
                    <a:pt x="23896" y="484099"/>
                  </a:lnTo>
                  <a:cubicBezTo>
                    <a:pt x="17559" y="484099"/>
                    <a:pt x="11481" y="481582"/>
                    <a:pt x="6999" y="477100"/>
                  </a:cubicBezTo>
                  <a:cubicBezTo>
                    <a:pt x="2518" y="472619"/>
                    <a:pt x="0" y="466541"/>
                    <a:pt x="0" y="460203"/>
                  </a:cubicBezTo>
                  <a:lnTo>
                    <a:pt x="0" y="23896"/>
                  </a:lnTo>
                  <a:cubicBezTo>
                    <a:pt x="0" y="17559"/>
                    <a:pt x="2518" y="11481"/>
                    <a:pt x="6999" y="6999"/>
                  </a:cubicBezTo>
                  <a:cubicBezTo>
                    <a:pt x="11481" y="2518"/>
                    <a:pt x="17559" y="0"/>
                    <a:pt x="23896" y="0"/>
                  </a:cubicBezTo>
                  <a:close/>
                </a:path>
              </a:pathLst>
            </a:custGeom>
            <a:solidFill>
              <a:srgbClr val="9DB7D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962542" cy="493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04456" y="7699280"/>
            <a:ext cx="7451528" cy="91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3"/>
              </a:lnSpc>
              <a:spcBef>
                <a:spcPct val="0"/>
              </a:spcBef>
            </a:pPr>
            <a:r>
              <a:rPr lang="en-US" b="true" sz="2899" spc="-16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</a:t>
            </a:r>
            <a:r>
              <a:rPr lang="en-US" b="true" sz="2899" spc="-162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rioritize Recall over Accuracy due to class imbalance (26.5% churn)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84" y="1679359"/>
            <a:ext cx="9691378" cy="7268533"/>
          </a:xfrm>
          <a:custGeom>
            <a:avLst/>
            <a:gdLst/>
            <a:ahLst/>
            <a:cxnLst/>
            <a:rect r="r" b="b" t="t" l="l"/>
            <a:pathLst>
              <a:path h="7268533" w="9691378">
                <a:moveTo>
                  <a:pt x="0" y="0"/>
                </a:moveTo>
                <a:lnTo>
                  <a:pt x="9691378" y="0"/>
                </a:lnTo>
                <a:lnTo>
                  <a:pt x="9691378" y="7268534"/>
                </a:lnTo>
                <a:lnTo>
                  <a:pt x="0" y="726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67802" y="670560"/>
            <a:ext cx="13930035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MODEL COMPARISON - VALIDATION SET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152995" y="2162968"/>
            <a:ext cx="7831973" cy="3368256"/>
            <a:chOff x="0" y="0"/>
            <a:chExt cx="10442631" cy="4491008"/>
          </a:xfrm>
        </p:grpSpPr>
        <p:sp>
          <p:nvSpPr>
            <p:cNvPr name="Freeform 5" id="5"/>
            <p:cNvSpPr/>
            <p:nvPr/>
          </p:nvSpPr>
          <p:spPr>
            <a:xfrm flipH="false" flipV="false" rot="-893241">
              <a:off x="58254" y="1003871"/>
              <a:ext cx="551227" cy="525503"/>
            </a:xfrm>
            <a:custGeom>
              <a:avLst/>
              <a:gdLst/>
              <a:ahLst/>
              <a:cxnLst/>
              <a:rect r="r" b="b" t="t" l="l"/>
              <a:pathLst>
                <a:path h="525503" w="551227">
                  <a:moveTo>
                    <a:pt x="0" y="0"/>
                  </a:moveTo>
                  <a:lnTo>
                    <a:pt x="551227" y="0"/>
                  </a:lnTo>
                  <a:lnTo>
                    <a:pt x="551227" y="525503"/>
                  </a:lnTo>
                  <a:lnTo>
                    <a:pt x="0" y="525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0">
              <a:off x="3087579" y="-668641"/>
              <a:ext cx="8023693" cy="5828290"/>
            </a:xfrm>
            <a:prstGeom prst="rect">
              <a:avLst/>
            </a:prstGeom>
          </p:spPr>
        </p:pic>
        <p:sp>
          <p:nvSpPr>
            <p:cNvPr name="TextBox 7" id="7"/>
            <p:cNvSpPr txBox="true"/>
            <p:nvPr/>
          </p:nvSpPr>
          <p:spPr>
            <a:xfrm rot="0">
              <a:off x="451856" y="1032025"/>
              <a:ext cx="3190554" cy="459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2"/>
                </a:lnSpc>
              </a:pPr>
              <a:r>
                <a:rPr lang="en-US" b="true" sz="2272" spc="-127">
                  <a:solidFill>
                    <a:srgbClr val="013048"/>
                  </a:solidFill>
                  <a:latin typeface="Lora Bold"/>
                  <a:ea typeface="Lora Bold"/>
                  <a:cs typeface="Lora Bold"/>
                  <a:sym typeface="Lora Bold"/>
                </a:rPr>
                <a:t>Logistic Regression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529824" y="2337226"/>
              <a:ext cx="2506534" cy="459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2"/>
                </a:lnSpc>
              </a:pPr>
              <a:r>
                <a:rPr lang="en-US" b="true" sz="2272" spc="-127">
                  <a:solidFill>
                    <a:srgbClr val="013048"/>
                  </a:solidFill>
                  <a:latin typeface="Lora Bold"/>
                  <a:ea typeface="Lora Bold"/>
                  <a:cs typeface="Lora Bold"/>
                  <a:sym typeface="Lora Bold"/>
                </a:rPr>
                <a:t>Random Forest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9824" y="3629953"/>
              <a:ext cx="2268476" cy="459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2"/>
                </a:lnSpc>
              </a:pPr>
              <a:r>
                <a:rPr lang="en-US" b="true" sz="2272" spc="-127">
                  <a:solidFill>
                    <a:srgbClr val="013048"/>
                  </a:solidFill>
                  <a:latin typeface="Lora Bold"/>
                  <a:ea typeface="Lora Bold"/>
                  <a:cs typeface="Lora Bold"/>
                  <a:sym typeface="Lora Bold"/>
                </a:rPr>
                <a:t>Decision Tree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52995" y="6418583"/>
            <a:ext cx="7831973" cy="1767855"/>
            <a:chOff x="0" y="0"/>
            <a:chExt cx="2062742" cy="465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2742" cy="465608"/>
            </a:xfrm>
            <a:custGeom>
              <a:avLst/>
              <a:gdLst/>
              <a:ahLst/>
              <a:cxnLst/>
              <a:rect r="r" b="b" t="t" l="l"/>
              <a:pathLst>
                <a:path h="465608" w="2062742">
                  <a:moveTo>
                    <a:pt x="23724" y="0"/>
                  </a:moveTo>
                  <a:lnTo>
                    <a:pt x="2039018" y="0"/>
                  </a:lnTo>
                  <a:cubicBezTo>
                    <a:pt x="2045310" y="0"/>
                    <a:pt x="2051344" y="2499"/>
                    <a:pt x="2055793" y="6949"/>
                  </a:cubicBezTo>
                  <a:cubicBezTo>
                    <a:pt x="2060242" y="11398"/>
                    <a:pt x="2062742" y="17432"/>
                    <a:pt x="2062742" y="23724"/>
                  </a:cubicBezTo>
                  <a:lnTo>
                    <a:pt x="2062742" y="441884"/>
                  </a:lnTo>
                  <a:cubicBezTo>
                    <a:pt x="2062742" y="454986"/>
                    <a:pt x="2052120" y="465608"/>
                    <a:pt x="2039018" y="465608"/>
                  </a:cubicBezTo>
                  <a:lnTo>
                    <a:pt x="23724" y="465608"/>
                  </a:lnTo>
                  <a:cubicBezTo>
                    <a:pt x="17432" y="465608"/>
                    <a:pt x="11398" y="463108"/>
                    <a:pt x="6949" y="458659"/>
                  </a:cubicBezTo>
                  <a:cubicBezTo>
                    <a:pt x="2499" y="454210"/>
                    <a:pt x="0" y="448176"/>
                    <a:pt x="0" y="441884"/>
                  </a:cubicBezTo>
                  <a:lnTo>
                    <a:pt x="0" y="23724"/>
                  </a:lnTo>
                  <a:cubicBezTo>
                    <a:pt x="0" y="10622"/>
                    <a:pt x="10622" y="0"/>
                    <a:pt x="23724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62742" cy="475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9534" y="9220200"/>
            <a:ext cx="9672328" cy="29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  <a:spcBef>
                <a:spcPct val="0"/>
              </a:spcBef>
            </a:pPr>
            <a:r>
              <a:rPr lang="en-US" sz="1699" i="true" spc="-95">
                <a:solidFill>
                  <a:srgbClr val="01304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AUC = probability that the model ranks a churner above a non-churner. Closer to 1.0 = better.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484" y="9455658"/>
            <a:ext cx="11343674" cy="29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  <a:spcBef>
                <a:spcPct val="0"/>
              </a:spcBef>
            </a:pPr>
            <a:r>
              <a:rPr lang="en-US" sz="1699" i="true" spc="-95">
                <a:solidFill>
                  <a:srgbClr val="01304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Recall</a:t>
            </a:r>
            <a:r>
              <a:rPr lang="en-US" sz="1699" i="true" spc="-95">
                <a:solidFill>
                  <a:srgbClr val="01304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= % of actual churners correctly caught. We prioritise this over accuracy due to class imbalance (26.5% churn).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38836" y="5780408"/>
            <a:ext cx="524613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499" spc="-139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→ Selected LR for Final Test evaluation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1909" y="6604079"/>
            <a:ext cx="7454144" cy="1430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  <a:spcBef>
                <a:spcPct val="0"/>
              </a:spcBef>
            </a:pPr>
            <a:r>
              <a:rPr lang="en-US" sz="2300" spc="-12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Our results align with published benchmarks on the IBM Telco Churn dataset, where well-validated models typically achieve 77–85% accuracy and AUC 0.82–0.87 (Mandak, 2019; arXiv, 2022).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02179" y="8434088"/>
            <a:ext cx="778278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  <a:spcBef>
                <a:spcPct val="0"/>
              </a:spcBef>
            </a:pPr>
            <a:r>
              <a:rPr lang="en-US" b="true" sz="2499" spc="-139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Accuracy above 90% on this dataset is a red flag, likely indicating data leakage or overfitting, not a better model.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9534" y="9728454"/>
            <a:ext cx="11868247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  <a:spcBef>
                <a:spcPct val="0"/>
              </a:spcBef>
            </a:pPr>
            <a:r>
              <a:rPr lang="en-US" sz="1500" i="true" spc="-84">
                <a:solidFill>
                  <a:srgbClr val="01304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Mandak,</a:t>
            </a:r>
            <a:r>
              <a:rPr lang="en-US" sz="1500" i="true" spc="-84">
                <a:solidFill>
                  <a:srgbClr val="01304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J. (2019). Analyses of customer churn prediction in telecommunications (No. 32019719Q2_129). Czech Statistical Office. https://csu.gov.cz/docs/107508/7e7d54fb-dc58-527a-c0f5-78b12254b8dd/32019719q2_129_mandak_analyses.pdf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802" y="1758315"/>
            <a:ext cx="9661109" cy="7245831"/>
          </a:xfrm>
          <a:custGeom>
            <a:avLst/>
            <a:gdLst/>
            <a:ahLst/>
            <a:cxnLst/>
            <a:rect r="r" b="b" t="t" l="l"/>
            <a:pathLst>
              <a:path h="7245831" w="9661109">
                <a:moveTo>
                  <a:pt x="0" y="0"/>
                </a:moveTo>
                <a:lnTo>
                  <a:pt x="9661109" y="0"/>
                </a:lnTo>
                <a:lnTo>
                  <a:pt x="9661109" y="7245831"/>
                </a:lnTo>
                <a:lnTo>
                  <a:pt x="0" y="7245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567802" y="670560"/>
            <a:ext cx="16388599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</a:pPr>
            <a:r>
              <a:rPr lang="en-US" sz="9600" spc="8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OVERFITTING ANALYSIS - TEST &amp; TRAIN SET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536862" y="2277167"/>
            <a:ext cx="6936726" cy="1105407"/>
            <a:chOff x="0" y="0"/>
            <a:chExt cx="1826957" cy="291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6957" cy="291136"/>
            </a:xfrm>
            <a:custGeom>
              <a:avLst/>
              <a:gdLst/>
              <a:ahLst/>
              <a:cxnLst/>
              <a:rect r="r" b="b" t="t" l="l"/>
              <a:pathLst>
                <a:path h="291136" w="1826957">
                  <a:moveTo>
                    <a:pt x="15625" y="0"/>
                  </a:moveTo>
                  <a:lnTo>
                    <a:pt x="1811332" y="0"/>
                  </a:lnTo>
                  <a:cubicBezTo>
                    <a:pt x="1815476" y="0"/>
                    <a:pt x="1819450" y="1646"/>
                    <a:pt x="1822380" y="4576"/>
                  </a:cubicBezTo>
                  <a:cubicBezTo>
                    <a:pt x="1825310" y="7507"/>
                    <a:pt x="1826957" y="11481"/>
                    <a:pt x="1826957" y="15625"/>
                  </a:cubicBezTo>
                  <a:lnTo>
                    <a:pt x="1826957" y="275511"/>
                  </a:lnTo>
                  <a:cubicBezTo>
                    <a:pt x="1826957" y="279655"/>
                    <a:pt x="1825310" y="283629"/>
                    <a:pt x="1822380" y="286560"/>
                  </a:cubicBezTo>
                  <a:cubicBezTo>
                    <a:pt x="1819450" y="289490"/>
                    <a:pt x="1815476" y="291136"/>
                    <a:pt x="1811332" y="291136"/>
                  </a:cubicBezTo>
                  <a:lnTo>
                    <a:pt x="15625" y="291136"/>
                  </a:lnTo>
                  <a:cubicBezTo>
                    <a:pt x="11481" y="291136"/>
                    <a:pt x="7507" y="289490"/>
                    <a:pt x="4576" y="286560"/>
                  </a:cubicBezTo>
                  <a:cubicBezTo>
                    <a:pt x="1646" y="283629"/>
                    <a:pt x="0" y="279655"/>
                    <a:pt x="0" y="275511"/>
                  </a:cubicBezTo>
                  <a:lnTo>
                    <a:pt x="0" y="15625"/>
                  </a:lnTo>
                  <a:cubicBezTo>
                    <a:pt x="0" y="11481"/>
                    <a:pt x="1646" y="7507"/>
                    <a:pt x="4576" y="4576"/>
                  </a:cubicBezTo>
                  <a:cubicBezTo>
                    <a:pt x="7507" y="1646"/>
                    <a:pt x="11481" y="0"/>
                    <a:pt x="15625" y="0"/>
                  </a:cubicBezTo>
                  <a:close/>
                </a:path>
              </a:pathLst>
            </a:custGeom>
            <a:solidFill>
              <a:srgbClr val="1B418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26957" cy="300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36862" y="1692429"/>
            <a:ext cx="3559487" cy="1087230"/>
            <a:chOff x="0" y="0"/>
            <a:chExt cx="937478" cy="286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7478" cy="286349"/>
            </a:xfrm>
            <a:custGeom>
              <a:avLst/>
              <a:gdLst/>
              <a:ahLst/>
              <a:cxnLst/>
              <a:rect r="r" b="b" t="t" l="l"/>
              <a:pathLst>
                <a:path h="286349" w="937478">
                  <a:moveTo>
                    <a:pt x="30450" y="0"/>
                  </a:moveTo>
                  <a:lnTo>
                    <a:pt x="907028" y="0"/>
                  </a:lnTo>
                  <a:cubicBezTo>
                    <a:pt x="915104" y="0"/>
                    <a:pt x="922849" y="3208"/>
                    <a:pt x="928559" y="8919"/>
                  </a:cubicBezTo>
                  <a:cubicBezTo>
                    <a:pt x="934270" y="14629"/>
                    <a:pt x="937478" y="22374"/>
                    <a:pt x="937478" y="30450"/>
                  </a:cubicBezTo>
                  <a:lnTo>
                    <a:pt x="937478" y="255899"/>
                  </a:lnTo>
                  <a:cubicBezTo>
                    <a:pt x="937478" y="272716"/>
                    <a:pt x="923845" y="286349"/>
                    <a:pt x="907028" y="286349"/>
                  </a:cubicBezTo>
                  <a:lnTo>
                    <a:pt x="30450" y="286349"/>
                  </a:lnTo>
                  <a:cubicBezTo>
                    <a:pt x="22374" y="286349"/>
                    <a:pt x="14629" y="283141"/>
                    <a:pt x="8919" y="277430"/>
                  </a:cubicBezTo>
                  <a:cubicBezTo>
                    <a:pt x="3208" y="271720"/>
                    <a:pt x="0" y="263974"/>
                    <a:pt x="0" y="255899"/>
                  </a:cubicBezTo>
                  <a:lnTo>
                    <a:pt x="0" y="30450"/>
                  </a:lnTo>
                  <a:cubicBezTo>
                    <a:pt x="0" y="13633"/>
                    <a:pt x="13633" y="0"/>
                    <a:pt x="30450" y="0"/>
                  </a:cubicBezTo>
                  <a:close/>
                </a:path>
              </a:pathLst>
            </a:custGeom>
            <a:solidFill>
              <a:srgbClr val="1B41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37478" cy="2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862294" y="1801679"/>
            <a:ext cx="3080073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599" spc="-145">
                <a:solidFill>
                  <a:srgbClr val="FDF3D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6862" y="2370084"/>
            <a:ext cx="674840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 spc="-139">
                <a:solidFill>
                  <a:srgbClr val="FDF3D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 spc="-139">
                <a:solidFill>
                  <a:srgbClr val="FDF3DF"/>
                </a:solidFill>
                <a:latin typeface="Poppins"/>
                <a:ea typeface="Poppins"/>
                <a:cs typeface="Poppins"/>
                <a:sym typeface="Poppins"/>
              </a:rPr>
              <a:t>rain: 0.845  |  Test: 0.849  |  Gap: -0.004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 spc="-139">
                <a:solidFill>
                  <a:srgbClr val="FDF3DF"/>
                </a:solidFill>
                <a:latin typeface="Poppins"/>
                <a:ea typeface="Poppins"/>
                <a:cs typeface="Poppins"/>
                <a:sym typeface="Poppins"/>
              </a:rPr>
              <a:t>Model generalises perfectly, zero overfitting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536862" y="4157813"/>
            <a:ext cx="6936726" cy="685499"/>
            <a:chOff x="0" y="0"/>
            <a:chExt cx="1826957" cy="180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6957" cy="180543"/>
            </a:xfrm>
            <a:custGeom>
              <a:avLst/>
              <a:gdLst/>
              <a:ahLst/>
              <a:cxnLst/>
              <a:rect r="r" b="b" t="t" l="l"/>
              <a:pathLst>
                <a:path h="180543" w="1826957">
                  <a:moveTo>
                    <a:pt x="15625" y="0"/>
                  </a:moveTo>
                  <a:lnTo>
                    <a:pt x="1811332" y="0"/>
                  </a:lnTo>
                  <a:cubicBezTo>
                    <a:pt x="1815476" y="0"/>
                    <a:pt x="1819450" y="1646"/>
                    <a:pt x="1822380" y="4576"/>
                  </a:cubicBezTo>
                  <a:cubicBezTo>
                    <a:pt x="1825310" y="7507"/>
                    <a:pt x="1826957" y="11481"/>
                    <a:pt x="1826957" y="15625"/>
                  </a:cubicBezTo>
                  <a:lnTo>
                    <a:pt x="1826957" y="164918"/>
                  </a:lnTo>
                  <a:cubicBezTo>
                    <a:pt x="1826957" y="169062"/>
                    <a:pt x="1825310" y="173036"/>
                    <a:pt x="1822380" y="175967"/>
                  </a:cubicBezTo>
                  <a:cubicBezTo>
                    <a:pt x="1819450" y="178897"/>
                    <a:pt x="1815476" y="180543"/>
                    <a:pt x="1811332" y="180543"/>
                  </a:cubicBezTo>
                  <a:lnTo>
                    <a:pt x="15625" y="180543"/>
                  </a:lnTo>
                  <a:cubicBezTo>
                    <a:pt x="11481" y="180543"/>
                    <a:pt x="7507" y="178897"/>
                    <a:pt x="4576" y="175967"/>
                  </a:cubicBezTo>
                  <a:cubicBezTo>
                    <a:pt x="1646" y="173036"/>
                    <a:pt x="0" y="169062"/>
                    <a:pt x="0" y="164918"/>
                  </a:cubicBezTo>
                  <a:lnTo>
                    <a:pt x="0" y="15625"/>
                  </a:lnTo>
                  <a:cubicBezTo>
                    <a:pt x="0" y="11481"/>
                    <a:pt x="1646" y="7507"/>
                    <a:pt x="4576" y="4576"/>
                  </a:cubicBezTo>
                  <a:cubicBezTo>
                    <a:pt x="7507" y="1646"/>
                    <a:pt x="11481" y="0"/>
                    <a:pt x="15625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26957" cy="190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36862" y="3573074"/>
            <a:ext cx="3559487" cy="1087230"/>
            <a:chOff x="0" y="0"/>
            <a:chExt cx="937478" cy="2863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7478" cy="286349"/>
            </a:xfrm>
            <a:custGeom>
              <a:avLst/>
              <a:gdLst/>
              <a:ahLst/>
              <a:cxnLst/>
              <a:rect r="r" b="b" t="t" l="l"/>
              <a:pathLst>
                <a:path h="286349" w="937478">
                  <a:moveTo>
                    <a:pt x="30450" y="0"/>
                  </a:moveTo>
                  <a:lnTo>
                    <a:pt x="907028" y="0"/>
                  </a:lnTo>
                  <a:cubicBezTo>
                    <a:pt x="915104" y="0"/>
                    <a:pt x="922849" y="3208"/>
                    <a:pt x="928559" y="8919"/>
                  </a:cubicBezTo>
                  <a:cubicBezTo>
                    <a:pt x="934270" y="14629"/>
                    <a:pt x="937478" y="22374"/>
                    <a:pt x="937478" y="30450"/>
                  </a:cubicBezTo>
                  <a:lnTo>
                    <a:pt x="937478" y="255899"/>
                  </a:lnTo>
                  <a:cubicBezTo>
                    <a:pt x="937478" y="272716"/>
                    <a:pt x="923845" y="286349"/>
                    <a:pt x="907028" y="286349"/>
                  </a:cubicBezTo>
                  <a:lnTo>
                    <a:pt x="30450" y="286349"/>
                  </a:lnTo>
                  <a:cubicBezTo>
                    <a:pt x="22374" y="286349"/>
                    <a:pt x="14629" y="283141"/>
                    <a:pt x="8919" y="277430"/>
                  </a:cubicBezTo>
                  <a:cubicBezTo>
                    <a:pt x="3208" y="271720"/>
                    <a:pt x="0" y="263974"/>
                    <a:pt x="0" y="255899"/>
                  </a:cubicBezTo>
                  <a:lnTo>
                    <a:pt x="0" y="30450"/>
                  </a:lnTo>
                  <a:cubicBezTo>
                    <a:pt x="0" y="13633"/>
                    <a:pt x="13633" y="0"/>
                    <a:pt x="30450" y="0"/>
                  </a:cubicBezTo>
                  <a:close/>
                </a:path>
              </a:pathLst>
            </a:custGeom>
            <a:solidFill>
              <a:srgbClr val="669AB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37478" cy="2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862294" y="3682325"/>
            <a:ext cx="3080073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599" spc="-1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Tree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6862" y="4260254"/>
            <a:ext cx="601259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Train: 0.852  |  Test: 0.843  |  Gap: +0.009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536862" y="5634491"/>
            <a:ext cx="6936726" cy="1038601"/>
            <a:chOff x="0" y="0"/>
            <a:chExt cx="1826957" cy="2735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26957" cy="273541"/>
            </a:xfrm>
            <a:custGeom>
              <a:avLst/>
              <a:gdLst/>
              <a:ahLst/>
              <a:cxnLst/>
              <a:rect r="r" b="b" t="t" l="l"/>
              <a:pathLst>
                <a:path h="273541" w="1826957">
                  <a:moveTo>
                    <a:pt x="15625" y="0"/>
                  </a:moveTo>
                  <a:lnTo>
                    <a:pt x="1811332" y="0"/>
                  </a:lnTo>
                  <a:cubicBezTo>
                    <a:pt x="1815476" y="0"/>
                    <a:pt x="1819450" y="1646"/>
                    <a:pt x="1822380" y="4576"/>
                  </a:cubicBezTo>
                  <a:cubicBezTo>
                    <a:pt x="1825310" y="7507"/>
                    <a:pt x="1826957" y="11481"/>
                    <a:pt x="1826957" y="15625"/>
                  </a:cubicBezTo>
                  <a:lnTo>
                    <a:pt x="1826957" y="257916"/>
                  </a:lnTo>
                  <a:cubicBezTo>
                    <a:pt x="1826957" y="262060"/>
                    <a:pt x="1825310" y="266034"/>
                    <a:pt x="1822380" y="268964"/>
                  </a:cubicBezTo>
                  <a:cubicBezTo>
                    <a:pt x="1819450" y="271895"/>
                    <a:pt x="1815476" y="273541"/>
                    <a:pt x="1811332" y="273541"/>
                  </a:cubicBezTo>
                  <a:lnTo>
                    <a:pt x="15625" y="273541"/>
                  </a:lnTo>
                  <a:cubicBezTo>
                    <a:pt x="11481" y="273541"/>
                    <a:pt x="7507" y="271895"/>
                    <a:pt x="4576" y="268964"/>
                  </a:cubicBezTo>
                  <a:cubicBezTo>
                    <a:pt x="1646" y="266034"/>
                    <a:pt x="0" y="262060"/>
                    <a:pt x="0" y="257916"/>
                  </a:cubicBezTo>
                  <a:lnTo>
                    <a:pt x="0" y="15625"/>
                  </a:lnTo>
                  <a:cubicBezTo>
                    <a:pt x="0" y="11481"/>
                    <a:pt x="1646" y="7507"/>
                    <a:pt x="4576" y="4576"/>
                  </a:cubicBezTo>
                  <a:cubicBezTo>
                    <a:pt x="7507" y="1646"/>
                    <a:pt x="11481" y="0"/>
                    <a:pt x="15625" y="0"/>
                  </a:cubicBezTo>
                  <a:close/>
                </a:path>
              </a:pathLst>
            </a:custGeom>
            <a:solidFill>
              <a:srgbClr val="9DB7D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826957" cy="283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36862" y="5049753"/>
            <a:ext cx="3559487" cy="1087230"/>
            <a:chOff x="0" y="0"/>
            <a:chExt cx="937478" cy="2863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7478" cy="286349"/>
            </a:xfrm>
            <a:custGeom>
              <a:avLst/>
              <a:gdLst/>
              <a:ahLst/>
              <a:cxnLst/>
              <a:rect r="r" b="b" t="t" l="l"/>
              <a:pathLst>
                <a:path h="286349" w="937478">
                  <a:moveTo>
                    <a:pt x="30450" y="0"/>
                  </a:moveTo>
                  <a:lnTo>
                    <a:pt x="907028" y="0"/>
                  </a:lnTo>
                  <a:cubicBezTo>
                    <a:pt x="915104" y="0"/>
                    <a:pt x="922849" y="3208"/>
                    <a:pt x="928559" y="8919"/>
                  </a:cubicBezTo>
                  <a:cubicBezTo>
                    <a:pt x="934270" y="14629"/>
                    <a:pt x="937478" y="22374"/>
                    <a:pt x="937478" y="30450"/>
                  </a:cubicBezTo>
                  <a:lnTo>
                    <a:pt x="937478" y="255899"/>
                  </a:lnTo>
                  <a:cubicBezTo>
                    <a:pt x="937478" y="272716"/>
                    <a:pt x="923845" y="286349"/>
                    <a:pt x="907028" y="286349"/>
                  </a:cubicBezTo>
                  <a:lnTo>
                    <a:pt x="30450" y="286349"/>
                  </a:lnTo>
                  <a:cubicBezTo>
                    <a:pt x="22374" y="286349"/>
                    <a:pt x="14629" y="283141"/>
                    <a:pt x="8919" y="277430"/>
                  </a:cubicBezTo>
                  <a:cubicBezTo>
                    <a:pt x="3208" y="271720"/>
                    <a:pt x="0" y="263974"/>
                    <a:pt x="0" y="255899"/>
                  </a:cubicBezTo>
                  <a:lnTo>
                    <a:pt x="0" y="30450"/>
                  </a:lnTo>
                  <a:cubicBezTo>
                    <a:pt x="0" y="13633"/>
                    <a:pt x="13633" y="0"/>
                    <a:pt x="30450" y="0"/>
                  </a:cubicBezTo>
                  <a:close/>
                </a:path>
              </a:pathLst>
            </a:custGeom>
            <a:solidFill>
              <a:srgbClr val="9DB7D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37478" cy="295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862294" y="5159003"/>
            <a:ext cx="3080073" cy="4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  <a:spcBef>
                <a:spcPct val="0"/>
              </a:spcBef>
            </a:pPr>
            <a:r>
              <a:rPr lang="en-US" b="true" sz="2599" spc="-1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36862" y="5727408"/>
            <a:ext cx="693672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Train: 0.929  |  Test: 0.844  |  Gap: +0.085 ⚠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odel memorised training data (overfitting)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536862" y="7054092"/>
            <a:ext cx="6936726" cy="2204208"/>
            <a:chOff x="0" y="0"/>
            <a:chExt cx="1826957" cy="5805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6957" cy="580532"/>
            </a:xfrm>
            <a:custGeom>
              <a:avLst/>
              <a:gdLst/>
              <a:ahLst/>
              <a:cxnLst/>
              <a:rect r="r" b="b" t="t" l="l"/>
              <a:pathLst>
                <a:path h="580532" w="1826957">
                  <a:moveTo>
                    <a:pt x="15625" y="0"/>
                  </a:moveTo>
                  <a:lnTo>
                    <a:pt x="1811332" y="0"/>
                  </a:lnTo>
                  <a:cubicBezTo>
                    <a:pt x="1815476" y="0"/>
                    <a:pt x="1819450" y="1646"/>
                    <a:pt x="1822380" y="4576"/>
                  </a:cubicBezTo>
                  <a:cubicBezTo>
                    <a:pt x="1825310" y="7507"/>
                    <a:pt x="1826957" y="11481"/>
                    <a:pt x="1826957" y="15625"/>
                  </a:cubicBezTo>
                  <a:lnTo>
                    <a:pt x="1826957" y="564907"/>
                  </a:lnTo>
                  <a:cubicBezTo>
                    <a:pt x="1826957" y="573537"/>
                    <a:pt x="1819961" y="580532"/>
                    <a:pt x="1811332" y="580532"/>
                  </a:cubicBezTo>
                  <a:lnTo>
                    <a:pt x="15625" y="580532"/>
                  </a:lnTo>
                  <a:cubicBezTo>
                    <a:pt x="11481" y="580532"/>
                    <a:pt x="7507" y="578886"/>
                    <a:pt x="4576" y="575956"/>
                  </a:cubicBezTo>
                  <a:cubicBezTo>
                    <a:pt x="1646" y="573025"/>
                    <a:pt x="0" y="569051"/>
                    <a:pt x="0" y="564907"/>
                  </a:cubicBezTo>
                  <a:lnTo>
                    <a:pt x="0" y="15625"/>
                  </a:lnTo>
                  <a:cubicBezTo>
                    <a:pt x="0" y="11481"/>
                    <a:pt x="1646" y="7507"/>
                    <a:pt x="4576" y="4576"/>
                  </a:cubicBezTo>
                  <a:cubicBezTo>
                    <a:pt x="7507" y="1646"/>
                    <a:pt x="11481" y="0"/>
                    <a:pt x="15625" y="0"/>
                  </a:cubicBezTo>
                  <a:close/>
                </a:path>
              </a:pathLst>
            </a:custGeom>
            <a:solidFill>
              <a:srgbClr val="FFB95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826957" cy="590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768133" y="7387467"/>
            <a:ext cx="6611295" cy="159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 spc="-14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Higher complexity ≠ better gene</a:t>
            </a:r>
            <a:r>
              <a:rPr lang="en-US" b="true" sz="2599" spc="-14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ralisation</a:t>
            </a:r>
          </a:p>
          <a:p>
            <a:pPr algn="l">
              <a:lnSpc>
                <a:spcPts val="3149"/>
              </a:lnSpc>
            </a:pP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Regression (simplest model) matches Random Forest on Test AUC (0.849 vs 0.844)</a:t>
            </a:r>
            <a:r>
              <a:rPr lang="en-US" sz="2499" spc="-13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zero overfitting risk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982369" y="6924822"/>
            <a:ext cx="982440" cy="982440"/>
          </a:xfrm>
          <a:custGeom>
            <a:avLst/>
            <a:gdLst/>
            <a:ahLst/>
            <a:cxnLst/>
            <a:rect r="r" b="b" t="t" l="l"/>
            <a:pathLst>
              <a:path h="982440" w="982440">
                <a:moveTo>
                  <a:pt x="0" y="0"/>
                </a:moveTo>
                <a:lnTo>
                  <a:pt x="982439" y="0"/>
                </a:lnTo>
                <a:lnTo>
                  <a:pt x="982439" y="982440"/>
                </a:lnTo>
                <a:lnTo>
                  <a:pt x="0" y="982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7864425"/>
            <a:ext cx="8762951" cy="852365"/>
            <a:chOff x="0" y="0"/>
            <a:chExt cx="2307938" cy="224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7938" cy="224491"/>
            </a:xfrm>
            <a:custGeom>
              <a:avLst/>
              <a:gdLst/>
              <a:ahLst/>
              <a:cxnLst/>
              <a:rect r="r" b="b" t="t" l="l"/>
              <a:pathLst>
                <a:path h="224491" w="2307938">
                  <a:moveTo>
                    <a:pt x="20320" y="0"/>
                  </a:moveTo>
                  <a:lnTo>
                    <a:pt x="2287618" y="0"/>
                  </a:lnTo>
                  <a:cubicBezTo>
                    <a:pt x="2293007" y="0"/>
                    <a:pt x="2298175" y="2141"/>
                    <a:pt x="2301986" y="5952"/>
                  </a:cubicBezTo>
                  <a:cubicBezTo>
                    <a:pt x="2305797" y="9762"/>
                    <a:pt x="2307938" y="14931"/>
                    <a:pt x="2307938" y="20320"/>
                  </a:cubicBezTo>
                  <a:lnTo>
                    <a:pt x="2307938" y="204171"/>
                  </a:lnTo>
                  <a:cubicBezTo>
                    <a:pt x="2307938" y="215394"/>
                    <a:pt x="2298840" y="224491"/>
                    <a:pt x="2287618" y="224491"/>
                  </a:cubicBezTo>
                  <a:lnTo>
                    <a:pt x="20320" y="224491"/>
                  </a:lnTo>
                  <a:cubicBezTo>
                    <a:pt x="9098" y="224491"/>
                    <a:pt x="0" y="215394"/>
                    <a:pt x="0" y="204171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307938" cy="234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0379" y="3032922"/>
            <a:ext cx="7824164" cy="6610758"/>
          </a:xfrm>
          <a:custGeom>
            <a:avLst/>
            <a:gdLst/>
            <a:ahLst/>
            <a:cxnLst/>
            <a:rect r="r" b="b" t="t" l="l"/>
            <a:pathLst>
              <a:path h="6610758" w="7824164">
                <a:moveTo>
                  <a:pt x="0" y="0"/>
                </a:moveTo>
                <a:lnTo>
                  <a:pt x="7824164" y="0"/>
                </a:lnTo>
                <a:lnTo>
                  <a:pt x="7824164" y="6610758"/>
                </a:lnTo>
                <a:lnTo>
                  <a:pt x="0" y="6610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80" t="0" r="-3017" b="-37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9710341" y="8077057"/>
            <a:ext cx="766836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499" spc="-139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Effective</a:t>
            </a:r>
            <a:r>
              <a:rPr lang="en-US" b="true" sz="2499" spc="-139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 for churn detection, with moderate false alarms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9401" y="3496738"/>
            <a:ext cx="8995802" cy="409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TN (True Negative) = 396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Correctly predicted non-churn customers</a:t>
            </a:r>
          </a:p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FP (False Positive) = 222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Non-churn customers flagged as churn</a:t>
            </a:r>
          </a:p>
          <a:p>
            <a:pPr algn="l">
              <a:lnSpc>
                <a:spcPts val="4058"/>
              </a:lnSpc>
            </a:pP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FN (False Negative) = 14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Churn customers missed by the model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b="true" sz="2962" spc="-15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TP (True Positive) = 173</a:t>
            </a:r>
          </a:p>
          <a:p>
            <a:pPr algn="l">
              <a:lnSpc>
                <a:spcPts val="4058"/>
              </a:lnSpc>
            </a:pPr>
            <a:r>
              <a:rPr lang="en-US" sz="2962" spc="-15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→ Correctly identified churn customers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0379" y="717551"/>
            <a:ext cx="10705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12000" spc="108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CONFUSION MATRIX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0379" y="2047720"/>
            <a:ext cx="1070504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</a:pPr>
            <a:r>
              <a:rPr lang="en-US" sz="6999" spc="62">
                <a:solidFill>
                  <a:srgbClr val="780000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LOGISTIC REGRESSION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101850"/>
            <a:ext cx="7047897" cy="10360150"/>
            <a:chOff x="0" y="0"/>
            <a:chExt cx="1838304" cy="2702240"/>
          </a:xfrm>
        </p:grpSpPr>
        <p:sp>
          <p:nvSpPr>
            <p:cNvPr name="Freeform 3" id="3"/>
            <p:cNvSpPr/>
            <p:nvPr/>
          </p:nvSpPr>
          <p:spPr>
            <a:xfrm flipH="false" flipV="false" rot="6000">
              <a:off x="-2313" y="-1558"/>
              <a:ext cx="1842930" cy="2705356"/>
            </a:xfrm>
            <a:custGeom>
              <a:avLst/>
              <a:gdLst/>
              <a:ahLst/>
              <a:cxnLst/>
              <a:rect r="r" b="b" t="t" l="l"/>
              <a:pathLst>
                <a:path h="2705356" w="1842930">
                  <a:moveTo>
                    <a:pt x="25221" y="3120"/>
                  </a:moveTo>
                  <a:lnTo>
                    <a:pt x="1812993" y="0"/>
                  </a:lnTo>
                  <a:cubicBezTo>
                    <a:pt x="1819694" y="-12"/>
                    <a:pt x="1826124" y="2639"/>
                    <a:pt x="1830871" y="7369"/>
                  </a:cubicBezTo>
                  <a:cubicBezTo>
                    <a:pt x="1835617" y="12098"/>
                    <a:pt x="1838290" y="18520"/>
                    <a:pt x="1838302" y="25221"/>
                  </a:cubicBezTo>
                  <a:lnTo>
                    <a:pt x="1842930" y="2676927"/>
                  </a:lnTo>
                  <a:cubicBezTo>
                    <a:pt x="1842942" y="2683627"/>
                    <a:pt x="1840291" y="2690058"/>
                    <a:pt x="1835561" y="2694804"/>
                  </a:cubicBezTo>
                  <a:cubicBezTo>
                    <a:pt x="1830831" y="2699551"/>
                    <a:pt x="1824410" y="2702224"/>
                    <a:pt x="1817709" y="2702236"/>
                  </a:cubicBezTo>
                  <a:lnTo>
                    <a:pt x="29937" y="2705356"/>
                  </a:lnTo>
                  <a:cubicBezTo>
                    <a:pt x="23237" y="2705367"/>
                    <a:pt x="16806" y="2702717"/>
                    <a:pt x="12060" y="2697987"/>
                  </a:cubicBezTo>
                  <a:cubicBezTo>
                    <a:pt x="7313" y="2693257"/>
                    <a:pt x="4640" y="2686836"/>
                    <a:pt x="4628" y="2680135"/>
                  </a:cubicBezTo>
                  <a:lnTo>
                    <a:pt x="0" y="28429"/>
                  </a:lnTo>
                  <a:cubicBezTo>
                    <a:pt x="-11" y="21728"/>
                    <a:pt x="2639" y="15298"/>
                    <a:pt x="7369" y="10551"/>
                  </a:cubicBezTo>
                  <a:cubicBezTo>
                    <a:pt x="12099" y="5805"/>
                    <a:pt x="18520" y="3132"/>
                    <a:pt x="25221" y="3120"/>
                  </a:cubicBezTo>
                  <a:close/>
                </a:path>
              </a:pathLst>
            </a:custGeom>
            <a:blipFill>
              <a:blip r:embed="rId2"/>
              <a:stretch>
                <a:fillRect l="-27290" t="-9" r="-27152" b="-5199"/>
              </a:stretch>
            </a:blipFill>
            <a:ln w="19050" cap="rnd">
              <a:solidFill>
                <a:srgbClr val="EEE8C6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68970" y="3897290"/>
            <a:ext cx="4973160" cy="4302453"/>
          </a:xfrm>
          <a:custGeom>
            <a:avLst/>
            <a:gdLst/>
            <a:ahLst/>
            <a:cxnLst/>
            <a:rect r="r" b="b" t="t" l="l"/>
            <a:pathLst>
              <a:path h="4302453" w="4973160">
                <a:moveTo>
                  <a:pt x="0" y="0"/>
                </a:moveTo>
                <a:lnTo>
                  <a:pt x="4973159" y="0"/>
                </a:lnTo>
                <a:lnTo>
                  <a:pt x="4973159" y="4302454"/>
                </a:lnTo>
                <a:lnTo>
                  <a:pt x="0" y="430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36" t="0" r="-2636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5" id="5"/>
          <p:cNvGrpSpPr/>
          <p:nvPr/>
        </p:nvGrpSpPr>
        <p:grpSpPr>
          <a:xfrm rot="0">
            <a:off x="24881" y="7380905"/>
            <a:ext cx="6998134" cy="2057535"/>
            <a:chOff x="0" y="0"/>
            <a:chExt cx="1843130" cy="5419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3130" cy="541902"/>
            </a:xfrm>
            <a:custGeom>
              <a:avLst/>
              <a:gdLst/>
              <a:ahLst/>
              <a:cxnLst/>
              <a:rect r="r" b="b" t="t" l="l"/>
              <a:pathLst>
                <a:path h="541902" w="1843130">
                  <a:moveTo>
                    <a:pt x="44251" y="0"/>
                  </a:moveTo>
                  <a:lnTo>
                    <a:pt x="1798879" y="0"/>
                  </a:lnTo>
                  <a:cubicBezTo>
                    <a:pt x="1823318" y="0"/>
                    <a:pt x="1843130" y="19812"/>
                    <a:pt x="1843130" y="44251"/>
                  </a:cubicBezTo>
                  <a:lnTo>
                    <a:pt x="1843130" y="497651"/>
                  </a:lnTo>
                  <a:cubicBezTo>
                    <a:pt x="1843130" y="522090"/>
                    <a:pt x="1823318" y="541902"/>
                    <a:pt x="1798879" y="541902"/>
                  </a:cubicBezTo>
                  <a:lnTo>
                    <a:pt x="44251" y="541902"/>
                  </a:lnTo>
                  <a:cubicBezTo>
                    <a:pt x="19812" y="541902"/>
                    <a:pt x="0" y="522090"/>
                    <a:pt x="0" y="497651"/>
                  </a:cubicBezTo>
                  <a:lnTo>
                    <a:pt x="0" y="44251"/>
                  </a:lnTo>
                  <a:cubicBezTo>
                    <a:pt x="0" y="19812"/>
                    <a:pt x="19812" y="0"/>
                    <a:pt x="44251" y="0"/>
                  </a:cubicBezTo>
                  <a:close/>
                </a:path>
              </a:pathLst>
            </a:custGeom>
            <a:solidFill>
              <a:srgbClr val="780101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43130" cy="589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 spc="-18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making this shift, we are effectively deciding that it is far better to "over-protect" than to suffer the irreparable cost of losing even one because we weren't paying attention.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623129" y="3909925"/>
            <a:ext cx="4965473" cy="4289819"/>
          </a:xfrm>
          <a:custGeom>
            <a:avLst/>
            <a:gdLst/>
            <a:ahLst/>
            <a:cxnLst/>
            <a:rect r="r" b="b" t="t" l="l"/>
            <a:pathLst>
              <a:path h="4289819" w="4965473">
                <a:moveTo>
                  <a:pt x="0" y="0"/>
                </a:moveTo>
                <a:lnTo>
                  <a:pt x="4965473" y="0"/>
                </a:lnTo>
                <a:lnTo>
                  <a:pt x="4965473" y="4289819"/>
                </a:lnTo>
                <a:lnTo>
                  <a:pt x="0" y="4289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90" t="0" r="-229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9" id="9"/>
          <p:cNvGrpSpPr/>
          <p:nvPr/>
        </p:nvGrpSpPr>
        <p:grpSpPr>
          <a:xfrm rot="0">
            <a:off x="8686353" y="8635138"/>
            <a:ext cx="1521777" cy="623162"/>
            <a:chOff x="0" y="0"/>
            <a:chExt cx="400797" cy="164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0797" cy="164125"/>
            </a:xfrm>
            <a:custGeom>
              <a:avLst/>
              <a:gdLst/>
              <a:ahLst/>
              <a:cxnLst/>
              <a:rect r="r" b="b" t="t" l="l"/>
              <a:pathLst>
                <a:path h="164125" w="400797">
                  <a:moveTo>
                    <a:pt x="82063" y="0"/>
                  </a:moveTo>
                  <a:lnTo>
                    <a:pt x="318735" y="0"/>
                  </a:lnTo>
                  <a:cubicBezTo>
                    <a:pt x="364056" y="0"/>
                    <a:pt x="400797" y="36741"/>
                    <a:pt x="400797" y="82063"/>
                  </a:cubicBezTo>
                  <a:lnTo>
                    <a:pt x="400797" y="82063"/>
                  </a:lnTo>
                  <a:cubicBezTo>
                    <a:pt x="400797" y="127384"/>
                    <a:pt x="364056" y="164125"/>
                    <a:pt x="318735" y="164125"/>
                  </a:cubicBezTo>
                  <a:lnTo>
                    <a:pt x="82063" y="164125"/>
                  </a:lnTo>
                  <a:cubicBezTo>
                    <a:pt x="36741" y="164125"/>
                    <a:pt x="0" y="127384"/>
                    <a:pt x="0" y="82063"/>
                  </a:cubicBezTo>
                  <a:lnTo>
                    <a:pt x="0" y="82063"/>
                  </a:lnTo>
                  <a:cubicBezTo>
                    <a:pt x="0" y="36741"/>
                    <a:pt x="36741" y="0"/>
                    <a:pt x="82063" y="0"/>
                  </a:cubicBezTo>
                  <a:close/>
                </a:path>
              </a:pathLst>
            </a:custGeom>
            <a:solidFill>
              <a:srgbClr val="FDF3DF"/>
            </a:solidFill>
            <a:ln w="19050" cap="rnd">
              <a:solidFill>
                <a:srgbClr val="669ABC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0797" cy="20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  <a:r>
                <a:rPr lang="en-US" b="true" sz="2199" spc="-16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Before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49777" y="8647772"/>
            <a:ext cx="1631261" cy="610528"/>
            <a:chOff x="0" y="0"/>
            <a:chExt cx="429682" cy="160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9682" cy="160816"/>
            </a:xfrm>
            <a:custGeom>
              <a:avLst/>
              <a:gdLst/>
              <a:ahLst/>
              <a:cxnLst/>
              <a:rect r="r" b="b" t="t" l="l"/>
              <a:pathLst>
                <a:path h="160816" w="429682">
                  <a:moveTo>
                    <a:pt x="80408" y="0"/>
                  </a:moveTo>
                  <a:lnTo>
                    <a:pt x="349274" y="0"/>
                  </a:lnTo>
                  <a:cubicBezTo>
                    <a:pt x="393682" y="0"/>
                    <a:pt x="429682" y="36000"/>
                    <a:pt x="429682" y="80408"/>
                  </a:cubicBezTo>
                  <a:lnTo>
                    <a:pt x="429682" y="80408"/>
                  </a:lnTo>
                  <a:cubicBezTo>
                    <a:pt x="429682" y="124816"/>
                    <a:pt x="393682" y="160816"/>
                    <a:pt x="349274" y="160816"/>
                  </a:cubicBezTo>
                  <a:lnTo>
                    <a:pt x="80408" y="160816"/>
                  </a:lnTo>
                  <a:cubicBezTo>
                    <a:pt x="36000" y="160816"/>
                    <a:pt x="0" y="124816"/>
                    <a:pt x="0" y="80408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DF3DF"/>
            </a:solidFill>
            <a:ln w="19050" cap="rnd">
              <a:solidFill>
                <a:srgbClr val="669ABC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9682" cy="198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167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After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712265" y="2115988"/>
            <a:ext cx="8468772" cy="133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3"/>
              </a:lnSpc>
              <a:spcBef>
                <a:spcPct val="0"/>
              </a:spcBef>
            </a:pPr>
            <a:r>
              <a:rPr lang="en-US" sz="2799" spc="-83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o make our model more sensitive, we move a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om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the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ault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50%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sho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an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ll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et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ew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ch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2799" spc="-83" strike="noStrike" u="none">
                <a:solidFill>
                  <a:srgbClr val="1E1E1E"/>
                </a:solidFill>
                <a:latin typeface="Canva Sans"/>
                <a:ea typeface="Canva Sans"/>
                <a:cs typeface="Canva Sans"/>
                <a:sym typeface="Canva Sans"/>
              </a:rPr>
              <a:t>30%.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82957" y="802159"/>
            <a:ext cx="10705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sz="12000" spc="108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COST-BENEFIT ANALYSIS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55081" y="6727858"/>
            <a:ext cx="6906482" cy="2005182"/>
            <a:chOff x="0" y="0"/>
            <a:chExt cx="1818991" cy="528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991" cy="528114"/>
            </a:xfrm>
            <a:custGeom>
              <a:avLst/>
              <a:gdLst/>
              <a:ahLst/>
              <a:cxnLst/>
              <a:rect r="r" b="b" t="t" l="l"/>
              <a:pathLst>
                <a:path h="528114" w="1818991">
                  <a:moveTo>
                    <a:pt x="25782" y="0"/>
                  </a:moveTo>
                  <a:lnTo>
                    <a:pt x="1793209" y="0"/>
                  </a:lnTo>
                  <a:cubicBezTo>
                    <a:pt x="1807448" y="0"/>
                    <a:pt x="1818991" y="11543"/>
                    <a:pt x="1818991" y="25782"/>
                  </a:cubicBezTo>
                  <a:lnTo>
                    <a:pt x="1818991" y="502332"/>
                  </a:lnTo>
                  <a:cubicBezTo>
                    <a:pt x="1818991" y="516571"/>
                    <a:pt x="1807448" y="528114"/>
                    <a:pt x="1793209" y="528114"/>
                  </a:cubicBezTo>
                  <a:lnTo>
                    <a:pt x="25782" y="528114"/>
                  </a:lnTo>
                  <a:cubicBezTo>
                    <a:pt x="11543" y="528114"/>
                    <a:pt x="0" y="516571"/>
                    <a:pt x="0" y="502332"/>
                  </a:cubicBezTo>
                  <a:lnTo>
                    <a:pt x="0" y="25782"/>
                  </a:lnTo>
                  <a:cubicBezTo>
                    <a:pt x="0" y="11543"/>
                    <a:pt x="11543" y="0"/>
                    <a:pt x="25782" y="0"/>
                  </a:cubicBezTo>
                  <a:close/>
                </a:path>
              </a:pathLst>
            </a:custGeom>
            <a:solidFill>
              <a:srgbClr val="78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18991" cy="537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4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8540" y="3402501"/>
            <a:ext cx="9982311" cy="6650715"/>
          </a:xfrm>
          <a:custGeom>
            <a:avLst/>
            <a:gdLst/>
            <a:ahLst/>
            <a:cxnLst/>
            <a:rect r="r" b="b" t="t" l="l"/>
            <a:pathLst>
              <a:path h="6650715" w="9982311">
                <a:moveTo>
                  <a:pt x="0" y="0"/>
                </a:moveTo>
                <a:lnTo>
                  <a:pt x="9982311" y="0"/>
                </a:lnTo>
                <a:lnTo>
                  <a:pt x="9982311" y="6650714"/>
                </a:lnTo>
                <a:lnTo>
                  <a:pt x="0" y="6650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855081" y="3366675"/>
            <a:ext cx="7257440" cy="120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551" spc="-142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Tenure is #1 protective factor. Means the longer customer stays, the less likely they churn.</a:t>
            </a:r>
          </a:p>
          <a:p>
            <a:pPr algn="l">
              <a:lnSpc>
                <a:spcPts val="3089"/>
              </a:lnSpc>
              <a:spcBef>
                <a:spcPct val="0"/>
              </a:spcBef>
            </a:pPr>
            <a:r>
              <a:rPr lang="en-US" sz="2451" spc="-137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largest blue bar with coefficient ~0.8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17914" y="7017598"/>
            <a:ext cx="6380815" cy="138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 spc="-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Contract Type appears on BOTH sides. </a:t>
            </a:r>
          </a:p>
          <a:p>
            <a:pPr algn="l" marL="626111" indent="-313055" lvl="1">
              <a:lnSpc>
                <a:spcPts val="3654"/>
              </a:lnSpc>
              <a:buFont typeface="Arial"/>
              <a:buChar char="•"/>
            </a:pPr>
            <a:r>
              <a:rPr lang="en-US" sz="2900" spc="-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900" spc="-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onth-to-month = churn risk</a:t>
            </a:r>
          </a:p>
          <a:p>
            <a:pPr algn="l" marL="626111" indent="-313055" lvl="1">
              <a:lnSpc>
                <a:spcPts val="3654"/>
              </a:lnSpc>
              <a:buFont typeface="Arial"/>
              <a:buChar char="•"/>
            </a:pPr>
            <a:r>
              <a:rPr lang="en-US" sz="2900" spc="-1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2-year = retention anchor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55081" y="4799765"/>
            <a:ext cx="7257440" cy="1181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651" spc="-148" b="true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Fiber optic internet users churn the most. Possibly due to price sensitivity or competition.</a:t>
            </a:r>
          </a:p>
          <a:p>
            <a:pPr algn="l">
              <a:lnSpc>
                <a:spcPts val="2711"/>
              </a:lnSpc>
              <a:spcBef>
                <a:spcPct val="0"/>
              </a:spcBef>
            </a:pPr>
            <a:r>
              <a:rPr lang="en-US" sz="2151" spc="-12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(Largest red bar, coefficient ~+0.4)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540" y="858565"/>
            <a:ext cx="10705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12000" spc="108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FEATURE IMPORTANCE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8540" y="2344325"/>
            <a:ext cx="10705043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</a:pPr>
            <a:r>
              <a:rPr lang="en-US" sz="6999" spc="62">
                <a:solidFill>
                  <a:srgbClr val="780000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LOGISTIC REGRESSION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317" y="2503538"/>
            <a:ext cx="17648868" cy="5830002"/>
          </a:xfrm>
          <a:custGeom>
            <a:avLst/>
            <a:gdLst/>
            <a:ahLst/>
            <a:cxnLst/>
            <a:rect r="r" b="b" t="t" l="l"/>
            <a:pathLst>
              <a:path h="5830002" w="17648868">
                <a:moveTo>
                  <a:pt x="0" y="0"/>
                </a:moveTo>
                <a:lnTo>
                  <a:pt x="17648868" y="0"/>
                </a:lnTo>
                <a:lnTo>
                  <a:pt x="17648868" y="5830002"/>
                </a:lnTo>
                <a:lnTo>
                  <a:pt x="0" y="583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868" r="-3621" b="-67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1317" y="8828840"/>
            <a:ext cx="17485366" cy="1236640"/>
          </a:xfrm>
          <a:custGeom>
            <a:avLst/>
            <a:gdLst/>
            <a:ahLst/>
            <a:cxnLst/>
            <a:rect r="r" b="b" t="t" l="l"/>
            <a:pathLst>
              <a:path h="1236640" w="17485366">
                <a:moveTo>
                  <a:pt x="0" y="0"/>
                </a:moveTo>
                <a:lnTo>
                  <a:pt x="17485366" y="0"/>
                </a:lnTo>
                <a:lnTo>
                  <a:pt x="17485366" y="1236640"/>
                </a:lnTo>
                <a:lnTo>
                  <a:pt x="0" y="123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7127" r="-4590" b="-20876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8175910"/>
            <a:ext cx="1421344" cy="1305860"/>
          </a:xfrm>
          <a:custGeom>
            <a:avLst/>
            <a:gdLst/>
            <a:ahLst/>
            <a:cxnLst/>
            <a:rect r="r" b="b" t="t" l="l"/>
            <a:pathLst>
              <a:path h="1305860" w="1421344">
                <a:moveTo>
                  <a:pt x="0" y="0"/>
                </a:moveTo>
                <a:lnTo>
                  <a:pt x="1421344" y="0"/>
                </a:lnTo>
                <a:lnTo>
                  <a:pt x="1421344" y="1305860"/>
                </a:lnTo>
                <a:lnTo>
                  <a:pt x="0" y="1305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1317" y="1674488"/>
            <a:ext cx="456482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999" spc="-223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From Churn Drivers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317" y="735062"/>
            <a:ext cx="10705043" cy="12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11000" spc="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STRATEGIC IMPLICATION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317" y="2174687"/>
            <a:ext cx="8983326" cy="6819571"/>
          </a:xfrm>
          <a:custGeom>
            <a:avLst/>
            <a:gdLst/>
            <a:ahLst/>
            <a:cxnLst/>
            <a:rect r="r" b="b" t="t" l="l"/>
            <a:pathLst>
              <a:path h="6819571" w="8983326">
                <a:moveTo>
                  <a:pt x="0" y="0"/>
                </a:moveTo>
                <a:lnTo>
                  <a:pt x="8983326" y="0"/>
                </a:lnTo>
                <a:lnTo>
                  <a:pt x="8983326" y="6819571"/>
                </a:lnTo>
                <a:lnTo>
                  <a:pt x="0" y="681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54" t="-31389" r="-80674" b="-312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6758" y="8994258"/>
            <a:ext cx="15174485" cy="1522018"/>
          </a:xfrm>
          <a:custGeom>
            <a:avLst/>
            <a:gdLst/>
            <a:ahLst/>
            <a:cxnLst/>
            <a:rect r="r" b="b" t="t" l="l"/>
            <a:pathLst>
              <a:path h="1522018" w="15174485">
                <a:moveTo>
                  <a:pt x="0" y="0"/>
                </a:moveTo>
                <a:lnTo>
                  <a:pt x="15174484" y="0"/>
                </a:lnTo>
                <a:lnTo>
                  <a:pt x="15174484" y="1522018"/>
                </a:lnTo>
                <a:lnTo>
                  <a:pt x="0" y="1522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4" t="-555519" r="0" b="-275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0505" y="2192145"/>
            <a:ext cx="7066733" cy="6802113"/>
          </a:xfrm>
          <a:custGeom>
            <a:avLst/>
            <a:gdLst/>
            <a:ahLst/>
            <a:cxnLst/>
            <a:rect r="r" b="b" t="t" l="l"/>
            <a:pathLst>
              <a:path h="6802113" w="7066733">
                <a:moveTo>
                  <a:pt x="0" y="0"/>
                </a:moveTo>
                <a:lnTo>
                  <a:pt x="7066732" y="0"/>
                </a:lnTo>
                <a:lnTo>
                  <a:pt x="7066732" y="6802113"/>
                </a:lnTo>
                <a:lnTo>
                  <a:pt x="0" y="6802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466" t="-31672" r="0" b="-3141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1317" y="1636258"/>
            <a:ext cx="14886006" cy="42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  <a:spcBef>
                <a:spcPct val="0"/>
              </a:spcBef>
            </a:pPr>
            <a:r>
              <a:rPr lang="en-US" b="true" sz="2699" spc="-151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Turn Insights into Action: Protect Revenue Today, Build Retention Advantege Tommorow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1317" y="735062"/>
            <a:ext cx="12397214" cy="12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11000" spc="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EXECUTIVE RECOMMENDATION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752" y="2632622"/>
            <a:ext cx="18224248" cy="9072370"/>
          </a:xfrm>
          <a:custGeom>
            <a:avLst/>
            <a:gdLst/>
            <a:ahLst/>
            <a:cxnLst/>
            <a:rect r="r" b="b" t="t" l="l"/>
            <a:pathLst>
              <a:path h="9072370" w="18224248">
                <a:moveTo>
                  <a:pt x="0" y="0"/>
                </a:moveTo>
                <a:lnTo>
                  <a:pt x="18224248" y="0"/>
                </a:lnTo>
                <a:lnTo>
                  <a:pt x="18224248" y="9072370"/>
                </a:lnTo>
                <a:lnTo>
                  <a:pt x="0" y="9072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" t="-26772" r="0" b="-761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74285">
            <a:off x="12023246" y="254583"/>
            <a:ext cx="1569819" cy="1548234"/>
          </a:xfrm>
          <a:custGeom>
            <a:avLst/>
            <a:gdLst/>
            <a:ahLst/>
            <a:cxnLst/>
            <a:rect r="r" b="b" t="t" l="l"/>
            <a:pathLst>
              <a:path h="1548234" w="1569819">
                <a:moveTo>
                  <a:pt x="0" y="0"/>
                </a:moveTo>
                <a:lnTo>
                  <a:pt x="1569819" y="0"/>
                </a:lnTo>
                <a:lnTo>
                  <a:pt x="1569819" y="1548234"/>
                </a:lnTo>
                <a:lnTo>
                  <a:pt x="0" y="1548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1317" y="1874832"/>
            <a:ext cx="7049085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b="true" sz="3999" spc="-223">
                <a:solidFill>
                  <a:srgbClr val="780101"/>
                </a:solidFill>
                <a:latin typeface="Lora Bold"/>
                <a:ea typeface="Lora Bold"/>
                <a:cs typeface="Lora Bold"/>
                <a:sym typeface="Lora Bold"/>
              </a:rPr>
              <a:t>If Successfully Implemented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1317" y="735062"/>
            <a:ext cx="11522925" cy="12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11000" spc="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EXPECTED BUSINESS IMPACT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412" y="893764"/>
            <a:ext cx="8204234" cy="160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0"/>
              </a:lnSpc>
            </a:pPr>
            <a:r>
              <a:rPr lang="en-US" sz="14000" spc="126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9572" y="2008824"/>
            <a:ext cx="17128855" cy="887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5"/>
              </a:lnSpc>
            </a:pPr>
            <a:r>
              <a:rPr lang="en-US" b="true" sz="3099" spc="-173">
                <a:solidFill>
                  <a:srgbClr val="013048"/>
                </a:solidFill>
                <a:latin typeface="Lora Bold"/>
                <a:ea typeface="Lora Bold"/>
                <a:cs typeface="Lora Bold"/>
                <a:sym typeface="Lora Bold"/>
              </a:rPr>
              <a:t>References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Byun, K., Hong, J., Kim, B., &amp; Park, J. (2024). Innovation in financial inclusion policies with digital transformation: Evidence from South Korea. Asia-Pacific Journal of Financial Studies, 53(1), 128–154. </a:t>
            </a:r>
            <a:r>
              <a:rPr lang="en-US" sz="2399" spc="-134" u="sng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google.com/search?q=https://doi.org/10.1111/ajfs.12467"/>
              </a:rPr>
              <a:t>https://doi.org/10.1111/ajfs.12467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Hunter, J. D. (2007). Matplotlib: A 2D graphics environment (Version 3.8). https://matplotlib.org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IBM. (2017). Telco Customer Churn [Dataset]. Kaggle. https://www.kaggle.com/datasets/blastchar/telco-customer-churn/data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Kim, B. (2026). ML Business Applications with Python [Lecture slides]. Korea University Business School, GMBA Program.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Mandak, J. (2019). Analyses of customer churn prediction in telecommunications (No. 32019719Q2_129). Czech Statistical Office. https://csu.gov.cz/docs/107508/7e7d54fb-dc58-527a-c0f5-78b12254b8dd/32019719q2_129_mandak_analyses.pdf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McKinney, W. (2010). pandas: Python Data Analysis Library (Version 2.0). https://pandas.pydata.org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Min et al. (2016) - Acquisition vs. retention cost analysis Journal of Marketing Research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Pedregosa, F., et al. (2011). Scikit-learn: Machine learning in Python (Version 1.3). https://scikit-learn.org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Reichheld &amp; Schefter (2000) - Retention impact on profitability | Harvard Business Review https://tridenstechnology.com/telecom-churn/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Richard, R. (n.d.). Telco Customer Churn Analysis Dashboard [Dataset]. Kaggle. https://www.kaggle.com/datasets/reignrichard/telco-customer-churn-analysis-dashboard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Sakib, A. S. (n.d.). Churn Prediction I: EDA &amp; Statistical Analysis [Notebook]. Kaggle. https://www.kaggle.com/code/ahmedshahriarsakib/churn-prediction-i-eda-statistical-analysis#9-Conclusion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Stein, R. M. (2005). The relationship between default prediction and lending profits: Integrating ROC analysis and loan pricing. Journal of Banking &amp; Finance, 29(5), 1213–1236. https://doi.org/10.1016/j.jbankfin.2004.04.008</a:t>
            </a:r>
          </a:p>
          <a:p>
            <a:pPr algn="just" marL="518158" indent="-259079" lvl="1">
              <a:lnSpc>
                <a:spcPts val="3023"/>
              </a:lnSpc>
              <a:buFont typeface="Arial"/>
              <a:buChar char="•"/>
            </a:pPr>
            <a:r>
              <a:rPr lang="en-US" sz="2399" spc="-134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Seymen, O. F., Hacioglu, U., &amp; Nantembelele, F. A. (2022). Customer churn prediction modeling: A comparative study of machine learning methods (arXiv:2201.04088). arXiv. https://arxiv.org/abs/2201.04088</a:t>
            </a:r>
          </a:p>
          <a:p>
            <a:pPr algn="just">
              <a:lnSpc>
                <a:spcPts val="3023"/>
              </a:lnSpc>
            </a:pPr>
          </a:p>
          <a:p>
            <a:pPr algn="just">
              <a:lnSpc>
                <a:spcPts val="302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57024" y="110583"/>
            <a:ext cx="2389736" cy="2389736"/>
          </a:xfrm>
          <a:custGeom>
            <a:avLst/>
            <a:gdLst/>
            <a:ahLst/>
            <a:cxnLst/>
            <a:rect r="r" b="b" t="t" l="l"/>
            <a:pathLst>
              <a:path h="2389736" w="2389736">
                <a:moveTo>
                  <a:pt x="0" y="0"/>
                </a:moveTo>
                <a:lnTo>
                  <a:pt x="2389735" y="0"/>
                </a:lnTo>
                <a:lnTo>
                  <a:pt x="2389735" y="2389736"/>
                </a:lnTo>
                <a:lnTo>
                  <a:pt x="0" y="2389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1317" y="2669959"/>
            <a:ext cx="17152395" cy="504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Thi</a:t>
            </a: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s project utilized AI as a supporting tool during the exploratory data analysis phase. </a:t>
            </a:r>
          </a:p>
          <a:p>
            <a:pPr algn="just">
              <a:lnSpc>
                <a:spcPts val="4032"/>
              </a:lnSpc>
            </a:p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All data analysis, interpretation of results, business insights, and final decisions were performed independently by the team. All AI-generated suggestions were reviewed, verified, and adapted before use.</a:t>
            </a:r>
          </a:p>
          <a:p>
            <a:pPr algn="just">
              <a:lnSpc>
                <a:spcPts val="4032"/>
              </a:lnSpc>
            </a:pPr>
          </a:p>
          <a:p>
            <a:pPr algn="just">
              <a:lnSpc>
                <a:spcPts val="4032"/>
              </a:lnSpc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AI Tool: 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Perplexity AI (Sonnet 4.6)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M365 Copilot AI (Smart Function)</a:t>
            </a:r>
          </a:p>
          <a:p>
            <a:pPr algn="just" marL="690881" indent="-345440" lvl="1">
              <a:lnSpc>
                <a:spcPts val="4032"/>
              </a:lnSpc>
              <a:buFont typeface="Arial"/>
              <a:buChar char="•"/>
            </a:pPr>
            <a:r>
              <a:rPr lang="en-US" sz="3200" spc="-179">
                <a:solidFill>
                  <a:srgbClr val="013048"/>
                </a:solidFill>
                <a:latin typeface="Canva Sans"/>
                <a:ea typeface="Canva Sans"/>
                <a:cs typeface="Canva Sans"/>
                <a:sym typeface="Canva Sans"/>
              </a:rPr>
              <a:t>GPT-5.4 Thinking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1317" y="1186307"/>
            <a:ext cx="10705043" cy="127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11000" spc="99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AI USAGE STATEMENT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32042" y="2721062"/>
            <a:ext cx="5219182" cy="4361284"/>
          </a:xfrm>
          <a:custGeom>
            <a:avLst/>
            <a:gdLst/>
            <a:ahLst/>
            <a:cxnLst/>
            <a:rect r="r" b="b" t="t" l="l"/>
            <a:pathLst>
              <a:path h="4361284" w="5219182">
                <a:moveTo>
                  <a:pt x="0" y="0"/>
                </a:moveTo>
                <a:lnTo>
                  <a:pt x="5219183" y="0"/>
                </a:lnTo>
                <a:lnTo>
                  <a:pt x="5219183" y="4361284"/>
                </a:lnTo>
                <a:lnTo>
                  <a:pt x="0" y="4361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35" t="-1972" r="-8278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669347" y="2721062"/>
            <a:ext cx="5815045" cy="4361284"/>
          </a:xfrm>
          <a:custGeom>
            <a:avLst/>
            <a:gdLst/>
            <a:ahLst/>
            <a:cxnLst/>
            <a:rect r="r" b="b" t="t" l="l"/>
            <a:pathLst>
              <a:path h="4361284" w="5815045">
                <a:moveTo>
                  <a:pt x="0" y="0"/>
                </a:moveTo>
                <a:lnTo>
                  <a:pt x="5815045" y="0"/>
                </a:lnTo>
                <a:lnTo>
                  <a:pt x="5815045" y="4361284"/>
                </a:lnTo>
                <a:lnTo>
                  <a:pt x="0" y="436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09064" y="2721062"/>
            <a:ext cx="5815045" cy="4361284"/>
          </a:xfrm>
          <a:custGeom>
            <a:avLst/>
            <a:gdLst/>
            <a:ahLst/>
            <a:cxnLst/>
            <a:rect r="r" b="b" t="t" l="l"/>
            <a:pathLst>
              <a:path h="4361284" w="5815045">
                <a:moveTo>
                  <a:pt x="0" y="0"/>
                </a:moveTo>
                <a:lnTo>
                  <a:pt x="5815045" y="0"/>
                </a:lnTo>
                <a:lnTo>
                  <a:pt x="5815045" y="4361284"/>
                </a:lnTo>
                <a:lnTo>
                  <a:pt x="0" y="436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Confusion Matrix - Validation Set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40802" y="2838762"/>
            <a:ext cx="5389486" cy="4042115"/>
          </a:xfrm>
          <a:custGeom>
            <a:avLst/>
            <a:gdLst/>
            <a:ahLst/>
            <a:cxnLst/>
            <a:rect r="r" b="b" t="t" l="l"/>
            <a:pathLst>
              <a:path h="4042115" w="5389486">
                <a:moveTo>
                  <a:pt x="0" y="0"/>
                </a:moveTo>
                <a:lnTo>
                  <a:pt x="5389486" y="0"/>
                </a:lnTo>
                <a:lnTo>
                  <a:pt x="5389486" y="4042115"/>
                </a:lnTo>
                <a:lnTo>
                  <a:pt x="0" y="4042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449257" y="2838762"/>
            <a:ext cx="5389486" cy="4042115"/>
          </a:xfrm>
          <a:custGeom>
            <a:avLst/>
            <a:gdLst/>
            <a:ahLst/>
            <a:cxnLst/>
            <a:rect r="r" b="b" t="t" l="l"/>
            <a:pathLst>
              <a:path h="4042115" w="5389486">
                <a:moveTo>
                  <a:pt x="0" y="0"/>
                </a:moveTo>
                <a:lnTo>
                  <a:pt x="5389486" y="0"/>
                </a:lnTo>
                <a:lnTo>
                  <a:pt x="5389486" y="4042115"/>
                </a:lnTo>
                <a:lnTo>
                  <a:pt x="0" y="4042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7712" y="2903449"/>
            <a:ext cx="5389486" cy="4042115"/>
          </a:xfrm>
          <a:custGeom>
            <a:avLst/>
            <a:gdLst/>
            <a:ahLst/>
            <a:cxnLst/>
            <a:rect r="r" b="b" t="t" l="l"/>
            <a:pathLst>
              <a:path h="4042115" w="5389486">
                <a:moveTo>
                  <a:pt x="0" y="0"/>
                </a:moveTo>
                <a:lnTo>
                  <a:pt x="5389486" y="0"/>
                </a:lnTo>
                <a:lnTo>
                  <a:pt x="5389486" y="4042115"/>
                </a:lnTo>
                <a:lnTo>
                  <a:pt x="0" y="404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Confusion Matrix - Test Set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3126" y="2217470"/>
            <a:ext cx="7419767" cy="5852059"/>
          </a:xfrm>
          <a:custGeom>
            <a:avLst/>
            <a:gdLst/>
            <a:ahLst/>
            <a:cxnLst/>
            <a:rect r="r" b="b" t="t" l="l"/>
            <a:pathLst>
              <a:path h="5852059" w="7419767">
                <a:moveTo>
                  <a:pt x="0" y="0"/>
                </a:moveTo>
                <a:lnTo>
                  <a:pt x="7419767" y="0"/>
                </a:lnTo>
                <a:lnTo>
                  <a:pt x="7419767" y="5852060"/>
                </a:lnTo>
                <a:lnTo>
                  <a:pt x="0" y="5852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48160" y="2171924"/>
            <a:ext cx="8099697" cy="5943153"/>
          </a:xfrm>
          <a:custGeom>
            <a:avLst/>
            <a:gdLst/>
            <a:ahLst/>
            <a:cxnLst/>
            <a:rect r="r" b="b" t="t" l="l"/>
            <a:pathLst>
              <a:path h="5943153" w="8099697">
                <a:moveTo>
                  <a:pt x="0" y="0"/>
                </a:moveTo>
                <a:lnTo>
                  <a:pt x="8099697" y="0"/>
                </a:lnTo>
                <a:lnTo>
                  <a:pt x="8099697" y="5943152"/>
                </a:lnTo>
                <a:lnTo>
                  <a:pt x="0" y="5943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choosing 30% threshold?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473" y="2291407"/>
            <a:ext cx="10314057" cy="6188434"/>
          </a:xfrm>
          <a:custGeom>
            <a:avLst/>
            <a:gdLst/>
            <a:ahLst/>
            <a:cxnLst/>
            <a:rect r="r" b="b" t="t" l="l"/>
            <a:pathLst>
              <a:path h="6188434" w="10314057">
                <a:moveTo>
                  <a:pt x="0" y="0"/>
                </a:moveTo>
                <a:lnTo>
                  <a:pt x="10314057" y="0"/>
                </a:lnTo>
                <a:lnTo>
                  <a:pt x="10314057" y="6188434"/>
                </a:lnTo>
                <a:lnTo>
                  <a:pt x="0" y="6188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choosing 30% threshold?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575" y="8672512"/>
            <a:ext cx="1746511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sz="2499" spc="-1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The 21% Revenue Catch: We increased our ability to identify true churners by 20.98%. This is exactly the type of 'Analytical Innovation' that Byun et al. (2024) describes as the key to reaching modern customers. We moved from catching 143 families to 173.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609064" y="2314575"/>
          <a:ext cx="15087600" cy="5657850"/>
        </p:xfrm>
        <a:graphic>
          <a:graphicData uri="http://schemas.openxmlformats.org/presentationml/2006/ole">
            <p:oleObj imgW="18097500" imgH="8674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09064" y="-22453"/>
            <a:ext cx="14727658" cy="224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04"/>
              </a:lnSpc>
              <a:spcBef>
                <a:spcPct val="0"/>
              </a:spcBef>
            </a:pPr>
            <a:r>
              <a:rPr lang="en-US" sz="13074" spc="117">
                <a:solidFill>
                  <a:srgbClr val="013048"/>
                </a:solidFill>
                <a:latin typeface="Extenda 50 Mega"/>
                <a:ea typeface="Extenda 50 Mega"/>
                <a:cs typeface="Extenda 50 Mega"/>
                <a:sym typeface="Extenda 50 Mega"/>
              </a:rPr>
              <a:t>APPENDIX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43108" y="1173571"/>
            <a:ext cx="112047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0A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of all classification models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DAHGCU_1uHA</dc:identifier>
  <dcterms:modified xsi:type="dcterms:W3CDTF">2011-08-01T06:04:30Z</dcterms:modified>
  <cp:revision>1</cp:revision>
  <dc:title>Final Presentation Python</dc:title>
</cp:coreProperties>
</file>