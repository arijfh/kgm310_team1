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503030501040103" pitchFamily="34" charset="0"/>
      <p:regular r:id="rId13"/>
    </p:embeddedFont>
    <p:embeddedFont>
      <p:font typeface="Canva Sans Bold" panose="020B0803030501040103" pitchFamily="34" charset="0"/>
      <p:regular r:id="rId14"/>
      <p:bold r:id="rId15"/>
    </p:embeddedFont>
    <p:embeddedFont>
      <p:font typeface="Extenda 50 Mega" panose="020B0003020200000002" pitchFamily="34" charset="0"/>
      <p:regular r:id="rId16"/>
    </p:embeddedFont>
    <p:embeddedFont>
      <p:font typeface="Lora" pitchFamily="2" charset="77"/>
      <p:regular r:id="rId17"/>
      <p:bold r:id="rId18"/>
      <p:italic r:id="rId19"/>
      <p:boldItalic r:id="rId20"/>
    </p:embeddedFont>
    <p:embeddedFont>
      <p:font typeface="Lora Bold" pitchFamily="2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89" autoAdjust="0"/>
  </p:normalViewPr>
  <p:slideViewPr>
    <p:cSldViewPr>
      <p:cViewPr varScale="1">
        <p:scale>
          <a:sx n="69" d="100"/>
          <a:sy n="69" d="100"/>
        </p:scale>
        <p:origin x="256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Will result for more practical telecom company recently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9.svg"/><Relationship Id="rId7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929" y="6438847"/>
            <a:ext cx="6691857" cy="2307801"/>
            <a:chOff x="0" y="0"/>
            <a:chExt cx="1762464" cy="6078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2465" cy="607816"/>
            </a:xfrm>
            <a:custGeom>
              <a:avLst/>
              <a:gdLst/>
              <a:ahLst/>
              <a:cxnLst/>
              <a:rect l="l" t="t" r="r" b="b"/>
              <a:pathLst>
                <a:path w="1762465" h="607816">
                  <a:moveTo>
                    <a:pt x="0" y="0"/>
                  </a:moveTo>
                  <a:lnTo>
                    <a:pt x="1762465" y="0"/>
                  </a:lnTo>
                  <a:lnTo>
                    <a:pt x="1762465" y="607816"/>
                  </a:lnTo>
                  <a:lnTo>
                    <a:pt x="0" y="607816"/>
                  </a:lnTo>
                  <a:close/>
                </a:path>
              </a:pathLst>
            </a:custGeom>
            <a:solidFill>
              <a:srgbClr val="669AB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62464" cy="645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078617" y="140599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33799" y="2272581"/>
            <a:ext cx="11466349" cy="309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9"/>
              </a:lnSpc>
              <a:spcBef>
                <a:spcPct val="0"/>
              </a:spcBef>
            </a:pPr>
            <a:r>
              <a:rPr lang="en-US" sz="18000" spc="162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EXPLORATORY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3799" y="2178779"/>
            <a:ext cx="4128119" cy="301954"/>
            <a:chOff x="0" y="0"/>
            <a:chExt cx="1087241" cy="795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7241" cy="79527"/>
            </a:xfrm>
            <a:custGeom>
              <a:avLst/>
              <a:gdLst/>
              <a:ahLst/>
              <a:cxnLst/>
              <a:rect l="l" t="t" r="r" b="b"/>
              <a:pathLst>
                <a:path w="1087241" h="79527">
                  <a:moveTo>
                    <a:pt x="0" y="0"/>
                  </a:moveTo>
                  <a:lnTo>
                    <a:pt x="1087241" y="0"/>
                  </a:lnTo>
                  <a:lnTo>
                    <a:pt x="1087241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87241" cy="117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46078" y="9335948"/>
            <a:ext cx="3525702" cy="301954"/>
            <a:chOff x="0" y="0"/>
            <a:chExt cx="928580" cy="795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8580" cy="79527"/>
            </a:xfrm>
            <a:custGeom>
              <a:avLst/>
              <a:gdLst/>
              <a:ahLst/>
              <a:cxnLst/>
              <a:rect l="l" t="t" r="r" b="b"/>
              <a:pathLst>
                <a:path w="928580" h="79527">
                  <a:moveTo>
                    <a:pt x="0" y="0"/>
                  </a:moveTo>
                  <a:lnTo>
                    <a:pt x="928580" y="0"/>
                  </a:lnTo>
                  <a:lnTo>
                    <a:pt x="928580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28580" cy="117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3961137" y="660214"/>
            <a:ext cx="2393720" cy="515585"/>
            <a:chOff x="0" y="0"/>
            <a:chExt cx="630445" cy="135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500065" y="1772016"/>
            <a:ext cx="4449179" cy="4449179"/>
          </a:xfrm>
          <a:custGeom>
            <a:avLst/>
            <a:gdLst/>
            <a:ahLst/>
            <a:cxnLst/>
            <a:rect l="l" t="t" r="r" b="b"/>
            <a:pathLst>
              <a:path w="4449179" h="4449179">
                <a:moveTo>
                  <a:pt x="0" y="0"/>
                </a:moveTo>
                <a:lnTo>
                  <a:pt x="4449180" y="0"/>
                </a:lnTo>
                <a:lnTo>
                  <a:pt x="4449180" y="4449179"/>
                </a:lnTo>
                <a:lnTo>
                  <a:pt x="0" y="4449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097859" y="4567221"/>
            <a:ext cx="11727454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9"/>
              </a:lnSpc>
              <a:spcBef>
                <a:spcPct val="0"/>
              </a:spcBef>
            </a:pPr>
            <a:r>
              <a:rPr lang="en-US" sz="12999" spc="11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3799" y="7909339"/>
            <a:ext cx="2864239" cy="33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196" b="1" spc="-123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 Team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3799" y="8235501"/>
            <a:ext cx="2181576" cy="140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Arij Faiha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Huyngim Eng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Jessica Novita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Shi Xiao Yu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61137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6923071"/>
            <a:ext cx="11227833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000" spc="-168">
                <a:solidFill>
                  <a:srgbClr val="9DB7DB"/>
                </a:solidFill>
                <a:latin typeface="Canva Sans"/>
                <a:ea typeface="Canva Sans"/>
                <a:cs typeface="Canva Sans"/>
                <a:sym typeface="Canva Sans"/>
              </a:rPr>
              <a:t>Customer Churn Prediction in Subscription-Based Telecom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34963" y="4484468"/>
            <a:ext cx="3325203" cy="606425"/>
            <a:chOff x="0" y="0"/>
            <a:chExt cx="1370562" cy="2499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0562" cy="249953"/>
            </a:xfrm>
            <a:custGeom>
              <a:avLst/>
              <a:gdLst/>
              <a:ahLst/>
              <a:cxnLst/>
              <a:rect l="l" t="t" r="r" b="b"/>
              <a:pathLst>
                <a:path w="1370562" h="249953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212"/>
                  </a:lnTo>
                  <a:cubicBezTo>
                    <a:pt x="1370562" y="196790"/>
                    <a:pt x="1317400" y="249953"/>
                    <a:pt x="1251821" y="249953"/>
                  </a:cubicBezTo>
                  <a:lnTo>
                    <a:pt x="118741" y="249953"/>
                  </a:lnTo>
                  <a:cubicBezTo>
                    <a:pt x="53162" y="249953"/>
                    <a:pt x="0" y="196790"/>
                    <a:pt x="0" y="131212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70562" cy="25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499" b="1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Raw Data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934963" y="5657552"/>
            <a:ext cx="3325203" cy="606425"/>
            <a:chOff x="0" y="0"/>
            <a:chExt cx="1370562" cy="2499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0562" cy="249953"/>
            </a:xfrm>
            <a:custGeom>
              <a:avLst/>
              <a:gdLst/>
              <a:ahLst/>
              <a:cxnLst/>
              <a:rect l="l" t="t" r="r" b="b"/>
              <a:pathLst>
                <a:path w="1370562" h="249953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212"/>
                  </a:lnTo>
                  <a:cubicBezTo>
                    <a:pt x="1370562" y="196790"/>
                    <a:pt x="1317400" y="249953"/>
                    <a:pt x="1251821" y="249953"/>
                  </a:cubicBezTo>
                  <a:lnTo>
                    <a:pt x="118741" y="249953"/>
                  </a:lnTo>
                  <a:cubicBezTo>
                    <a:pt x="53162" y="249953"/>
                    <a:pt x="0" y="196790"/>
                    <a:pt x="0" y="131212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370562" cy="25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499" b="1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  Pre-Processing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34963" y="6895597"/>
            <a:ext cx="3325203" cy="606793"/>
            <a:chOff x="0" y="0"/>
            <a:chExt cx="1370562" cy="2501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0562" cy="250104"/>
            </a:xfrm>
            <a:custGeom>
              <a:avLst/>
              <a:gdLst/>
              <a:ahLst/>
              <a:cxnLst/>
              <a:rect l="l" t="t" r="r" b="b"/>
              <a:pathLst>
                <a:path w="1370562" h="250104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1363"/>
                  </a:lnTo>
                  <a:cubicBezTo>
                    <a:pt x="1370562" y="196942"/>
                    <a:pt x="1317400" y="250104"/>
                    <a:pt x="1251821" y="250104"/>
                  </a:cubicBezTo>
                  <a:lnTo>
                    <a:pt x="118741" y="250104"/>
                  </a:lnTo>
                  <a:cubicBezTo>
                    <a:pt x="53162" y="250104"/>
                    <a:pt x="0" y="196942"/>
                    <a:pt x="0" y="131363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370562" cy="259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499" b="1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EDA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34963" y="8093986"/>
            <a:ext cx="3325203" cy="657620"/>
            <a:chOff x="0" y="0"/>
            <a:chExt cx="1370562" cy="2710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0562" cy="271054"/>
            </a:xfrm>
            <a:custGeom>
              <a:avLst/>
              <a:gdLst/>
              <a:ahLst/>
              <a:cxnLst/>
              <a:rect l="l" t="t" r="r" b="b"/>
              <a:pathLst>
                <a:path w="1370562" h="271054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52313"/>
                  </a:lnTo>
                  <a:cubicBezTo>
                    <a:pt x="1370562" y="217891"/>
                    <a:pt x="1317400" y="271054"/>
                    <a:pt x="1251821" y="271054"/>
                  </a:cubicBezTo>
                  <a:lnTo>
                    <a:pt x="118741" y="271054"/>
                  </a:lnTo>
                  <a:cubicBezTo>
                    <a:pt x="53162" y="271054"/>
                    <a:pt x="0" y="217891"/>
                    <a:pt x="0" y="152313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370562" cy="280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499" b="1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Data Split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34963" y="9335351"/>
            <a:ext cx="3325203" cy="612380"/>
            <a:chOff x="0" y="0"/>
            <a:chExt cx="1370562" cy="2524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70562" cy="252407"/>
            </a:xfrm>
            <a:custGeom>
              <a:avLst/>
              <a:gdLst/>
              <a:ahLst/>
              <a:cxnLst/>
              <a:rect l="l" t="t" r="r" b="b"/>
              <a:pathLst>
                <a:path w="1370562" h="252407">
                  <a:moveTo>
                    <a:pt x="118741" y="0"/>
                  </a:moveTo>
                  <a:lnTo>
                    <a:pt x="1251821" y="0"/>
                  </a:lnTo>
                  <a:cubicBezTo>
                    <a:pt x="1317400" y="0"/>
                    <a:pt x="1370562" y="53162"/>
                    <a:pt x="1370562" y="118741"/>
                  </a:cubicBezTo>
                  <a:lnTo>
                    <a:pt x="1370562" y="133666"/>
                  </a:lnTo>
                  <a:cubicBezTo>
                    <a:pt x="1370562" y="199245"/>
                    <a:pt x="1317400" y="252407"/>
                    <a:pt x="1251821" y="252407"/>
                  </a:cubicBezTo>
                  <a:lnTo>
                    <a:pt x="118741" y="252407"/>
                  </a:lnTo>
                  <a:cubicBezTo>
                    <a:pt x="53162" y="252407"/>
                    <a:pt x="0" y="199245"/>
                    <a:pt x="0" y="133666"/>
                  </a:cubicBezTo>
                  <a:lnTo>
                    <a:pt x="0" y="118741"/>
                  </a:lnTo>
                  <a:cubicBezTo>
                    <a:pt x="0" y="53162"/>
                    <a:pt x="53162" y="0"/>
                    <a:pt x="118741" y="0"/>
                  </a:cubicBez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370562" cy="26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2499" b="1" spc="-139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Next Step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39283" y="4292001"/>
            <a:ext cx="991360" cy="99136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39283" y="5450309"/>
            <a:ext cx="991360" cy="99136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39283" y="6703313"/>
            <a:ext cx="991360" cy="99136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39283" y="7901519"/>
            <a:ext cx="991360" cy="99136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39283" y="9145861"/>
            <a:ext cx="991360" cy="99136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112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5</a:t>
              </a:r>
            </a:p>
          </p:txBody>
        </p:sp>
      </p:grpSp>
      <p:sp>
        <p:nvSpPr>
          <p:cNvPr id="36" name="Freeform 36"/>
          <p:cNvSpPr/>
          <p:nvPr/>
        </p:nvSpPr>
        <p:spPr>
          <a:xfrm>
            <a:off x="-122437" y="522055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7818488" y="3490246"/>
            <a:ext cx="8871982" cy="2594869"/>
          </a:xfrm>
          <a:custGeom>
            <a:avLst/>
            <a:gdLst/>
            <a:ahLst/>
            <a:cxnLst/>
            <a:rect l="l" t="t" r="r" b="b"/>
            <a:pathLst>
              <a:path w="8871982" h="2594869">
                <a:moveTo>
                  <a:pt x="0" y="0"/>
                </a:moveTo>
                <a:lnTo>
                  <a:pt x="8871982" y="0"/>
                </a:lnTo>
                <a:lnTo>
                  <a:pt x="8871982" y="2594869"/>
                </a:lnTo>
                <a:lnTo>
                  <a:pt x="0" y="2594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7818488" y="6353983"/>
            <a:ext cx="7795217" cy="3480008"/>
          </a:xfrm>
          <a:custGeom>
            <a:avLst/>
            <a:gdLst/>
            <a:ahLst/>
            <a:cxnLst/>
            <a:rect l="l" t="t" r="r" b="b"/>
            <a:pathLst>
              <a:path w="7795217" h="3480008">
                <a:moveTo>
                  <a:pt x="0" y="0"/>
                </a:moveTo>
                <a:lnTo>
                  <a:pt x="7795217" y="0"/>
                </a:lnTo>
                <a:lnTo>
                  <a:pt x="7795217" y="3480007"/>
                </a:lnTo>
                <a:lnTo>
                  <a:pt x="0" y="3480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7491829" y="1064932"/>
            <a:ext cx="9525299" cy="26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64"/>
              </a:lnSpc>
              <a:spcBef>
                <a:spcPct val="0"/>
              </a:spcBef>
            </a:pPr>
            <a:r>
              <a:rPr lang="en-US" sz="15474" spc="139" dirty="0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RECAP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97530" y="1666216"/>
            <a:ext cx="5702350" cy="2423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5"/>
              </a:lnSpc>
            </a:pPr>
            <a:r>
              <a:rPr lang="en-US" sz="2438" b="1" spc="-13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  <a:r>
              <a:rPr lang="en-US" sz="2438" spc="-13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IBM Telco Customer Churn</a:t>
            </a:r>
          </a:p>
          <a:p>
            <a:pPr algn="l"/>
            <a:r>
              <a:rPr lang="en-US" sz="2438" spc="-13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7043 customers, ~21 features (20 variables)</a:t>
            </a:r>
          </a:p>
          <a:p>
            <a:pPr algn="l"/>
            <a:endParaRPr lang="en-US" sz="2438" spc="-13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365"/>
              </a:lnSpc>
            </a:pPr>
            <a:r>
              <a:rPr lang="en-US" sz="2438" b="1" spc="-13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</a:t>
            </a:r>
            <a:r>
              <a:rPr lang="en-US" sz="2438" spc="-13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Churn (Yes/No)</a:t>
            </a:r>
          </a:p>
          <a:p>
            <a:pPr algn="l">
              <a:lnSpc>
                <a:spcPts val="2365"/>
              </a:lnSpc>
            </a:pPr>
            <a:endParaRPr lang="en-US" sz="2438" spc="-13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/>
            <a:r>
              <a:rPr lang="en-US" sz="2438" b="1" spc="-13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  <a:r>
              <a:rPr lang="en-US" sz="2438" spc="-13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Predict customer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370492" y="3960601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370492" y="5215840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370492" y="6496478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370492" y="7758066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370492" y="9038704"/>
            <a:ext cx="366780" cy="366780"/>
          </a:xfrm>
          <a:custGeom>
            <a:avLst/>
            <a:gdLst/>
            <a:ahLst/>
            <a:cxnLst/>
            <a:rect l="l" t="t" r="r" b="b"/>
            <a:pathLst>
              <a:path w="366780" h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990883" y="4123313"/>
            <a:ext cx="0" cy="1255238"/>
          </a:xfrm>
          <a:prstGeom prst="line">
            <a:avLst/>
          </a:prstGeom>
          <a:ln w="19050" cap="rnd">
            <a:solidFill>
              <a:srgbClr val="475FCE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V="1">
            <a:off x="1990883" y="5287872"/>
            <a:ext cx="0" cy="1371317"/>
          </a:xfrm>
          <a:prstGeom prst="line">
            <a:avLst/>
          </a:prstGeom>
          <a:ln w="19050" cap="rnd">
            <a:solidFill>
              <a:srgbClr val="475FCE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2000408" y="6598817"/>
            <a:ext cx="0" cy="1371317"/>
          </a:xfrm>
          <a:prstGeom prst="line">
            <a:avLst/>
          </a:prstGeom>
          <a:ln w="19050" cap="rnd">
            <a:solidFill>
              <a:srgbClr val="475FCE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2000408" y="7876312"/>
            <a:ext cx="0" cy="1371317"/>
          </a:xfrm>
          <a:prstGeom prst="line">
            <a:avLst/>
          </a:prstGeom>
          <a:ln w="19050" cap="rnd">
            <a:solidFill>
              <a:srgbClr val="475FCE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9572932" y="4149196"/>
            <a:ext cx="0" cy="1255238"/>
          </a:xfrm>
          <a:prstGeom prst="line">
            <a:avLst/>
          </a:prstGeom>
          <a:ln w="19050" cap="rnd">
            <a:solidFill>
              <a:srgbClr val="FF5757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9572932" y="5313756"/>
            <a:ext cx="0" cy="1371317"/>
          </a:xfrm>
          <a:prstGeom prst="line">
            <a:avLst/>
          </a:prstGeom>
          <a:ln w="19050" cap="rnd">
            <a:solidFill>
              <a:srgbClr val="FF5757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V="1">
            <a:off x="9582457" y="6624701"/>
            <a:ext cx="0" cy="1371317"/>
          </a:xfrm>
          <a:prstGeom prst="line">
            <a:avLst/>
          </a:prstGeom>
          <a:ln w="19050" cap="rnd">
            <a:solidFill>
              <a:srgbClr val="FF5757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561950" y="1782703"/>
            <a:ext cx="9190481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14000" spc="108" dirty="0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</a:t>
            </a:r>
            <a:r>
              <a:rPr lang="en-US" sz="13000" spc="108" dirty="0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 </a:t>
            </a:r>
            <a:r>
              <a:rPr lang="en-US" sz="14000" spc="108" dirty="0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RATIONALE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3249553"/>
            <a:ext cx="3792781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Limitation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047146" y="3976638"/>
            <a:ext cx="386476" cy="386476"/>
          </a:xfrm>
          <a:custGeom>
            <a:avLst/>
            <a:gdLst/>
            <a:ahLst/>
            <a:cxnLst/>
            <a:rect l="l" t="t" r="r" b="b"/>
            <a:pathLst>
              <a:path w="386476" h="386476">
                <a:moveTo>
                  <a:pt x="0" y="0"/>
                </a:moveTo>
                <a:lnTo>
                  <a:pt x="386476" y="0"/>
                </a:lnTo>
                <a:lnTo>
                  <a:pt x="386476" y="386475"/>
                </a:lnTo>
                <a:lnTo>
                  <a:pt x="0" y="3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047146" y="5211197"/>
            <a:ext cx="386476" cy="386476"/>
          </a:xfrm>
          <a:custGeom>
            <a:avLst/>
            <a:gdLst/>
            <a:ahLst/>
            <a:cxnLst/>
            <a:rect l="l" t="t" r="r" b="b"/>
            <a:pathLst>
              <a:path w="386476" h="386476">
                <a:moveTo>
                  <a:pt x="0" y="0"/>
                </a:moveTo>
                <a:lnTo>
                  <a:pt x="386476" y="0"/>
                </a:lnTo>
                <a:lnTo>
                  <a:pt x="386476" y="386475"/>
                </a:lnTo>
                <a:lnTo>
                  <a:pt x="0" y="3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047146" y="6431463"/>
            <a:ext cx="386476" cy="386476"/>
          </a:xfrm>
          <a:custGeom>
            <a:avLst/>
            <a:gdLst/>
            <a:ahLst/>
            <a:cxnLst/>
            <a:rect l="l" t="t" r="r" b="b"/>
            <a:pathLst>
              <a:path w="386476" h="386476">
                <a:moveTo>
                  <a:pt x="0" y="0"/>
                </a:moveTo>
                <a:lnTo>
                  <a:pt x="386476" y="0"/>
                </a:lnTo>
                <a:lnTo>
                  <a:pt x="386476" y="386475"/>
                </a:lnTo>
                <a:lnTo>
                  <a:pt x="0" y="3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047146" y="7753423"/>
            <a:ext cx="386476" cy="386476"/>
          </a:xfrm>
          <a:custGeom>
            <a:avLst/>
            <a:gdLst/>
            <a:ahLst/>
            <a:cxnLst/>
            <a:rect l="l" t="t" r="r" b="b"/>
            <a:pathLst>
              <a:path w="386476" h="386476">
                <a:moveTo>
                  <a:pt x="0" y="0"/>
                </a:moveTo>
                <a:lnTo>
                  <a:pt x="386476" y="0"/>
                </a:lnTo>
                <a:lnTo>
                  <a:pt x="386476" y="386476"/>
                </a:lnTo>
                <a:lnTo>
                  <a:pt x="0" y="386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 flipV="1">
            <a:off x="16062440" y="3186567"/>
            <a:ext cx="898150" cy="898150"/>
          </a:xfrm>
          <a:custGeom>
            <a:avLst/>
            <a:gdLst/>
            <a:ahLst/>
            <a:cxnLst/>
            <a:rect l="l" t="t" r="r" b="b"/>
            <a:pathLst>
              <a:path w="898150" h="898150">
                <a:moveTo>
                  <a:pt x="0" y="898151"/>
                </a:moveTo>
                <a:lnTo>
                  <a:pt x="898150" y="898151"/>
                </a:lnTo>
                <a:lnTo>
                  <a:pt x="898150" y="0"/>
                </a:lnTo>
                <a:lnTo>
                  <a:pt x="0" y="0"/>
                </a:lnTo>
                <a:lnTo>
                  <a:pt x="0" y="89815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5300579" flipV="1">
            <a:off x="450977" y="3319500"/>
            <a:ext cx="898150" cy="898150"/>
          </a:xfrm>
          <a:custGeom>
            <a:avLst/>
            <a:gdLst/>
            <a:ahLst/>
            <a:cxnLst/>
            <a:rect l="l" t="t" r="r" b="b"/>
            <a:pathLst>
              <a:path w="898150" h="898150">
                <a:moveTo>
                  <a:pt x="0" y="898151"/>
                </a:moveTo>
                <a:lnTo>
                  <a:pt x="898151" y="898151"/>
                </a:lnTo>
                <a:lnTo>
                  <a:pt x="898151" y="0"/>
                </a:lnTo>
                <a:lnTo>
                  <a:pt x="0" y="0"/>
                </a:lnTo>
                <a:lnTo>
                  <a:pt x="0" y="89815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137598">
            <a:off x="16547641" y="8336522"/>
            <a:ext cx="1895244" cy="1843555"/>
          </a:xfrm>
          <a:custGeom>
            <a:avLst/>
            <a:gdLst/>
            <a:ahLst/>
            <a:cxnLst/>
            <a:rect l="l" t="t" r="r" b="b"/>
            <a:pathLst>
              <a:path w="1895244" h="1843555">
                <a:moveTo>
                  <a:pt x="0" y="0"/>
                </a:moveTo>
                <a:lnTo>
                  <a:pt x="1895244" y="0"/>
                </a:lnTo>
                <a:lnTo>
                  <a:pt x="1895244" y="1843556"/>
                </a:lnTo>
                <a:lnTo>
                  <a:pt x="0" y="1843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39533" y="4389856"/>
            <a:ext cx="456971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The IBM Telco dataset is commonly used in churn prediction studies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39533" y="3906143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Widely used and credible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61950" y="3249553"/>
            <a:ext cx="3792781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Why this dataset?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39533" y="5645094"/>
            <a:ext cx="456971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Supports binary classification with Churn (Yes/No)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39533" y="5161381"/>
            <a:ext cx="353924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Clear target variable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39533" y="6925732"/>
            <a:ext cx="456971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Large enough to achieve statistical significance and detect patterns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39533" y="6442019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Managable size &amp; structure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39533" y="8187321"/>
            <a:ext cx="456971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It includes demographics, tenure, contract, and billing information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39533" y="7703607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relevant features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39533" y="9467959"/>
            <a:ext cx="6204467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Easy for all team members to use, replicate, and compare with prior studies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39533" y="8984245"/>
            <a:ext cx="652862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Accesible, reproducable &amp; benchmarkable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35882" y="5670978"/>
            <a:ext cx="609160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Has more non-churn than churn can make models may be biased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35882" y="5187265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Possible class imbalance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35882" y="6875416"/>
            <a:ext cx="609160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Important factors such as customer satisfaction, complaints, or network quality are missing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33647" y="6421699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Limited real world variables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635882" y="4390340"/>
            <a:ext cx="587563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May not fully reflect the complexity and noise of real telecom customer behavior.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635882" y="3906626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Synthetic Sample Dataset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635882" y="7719966"/>
            <a:ext cx="456971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Time Dimension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35882" y="8203679"/>
            <a:ext cx="609160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Canva Sans"/>
                <a:ea typeface="Canva Sans"/>
                <a:cs typeface="Canva Sans"/>
                <a:sym typeface="Canva Sans"/>
              </a:rPr>
              <a:t>Cannot analyze churn over time and  track behavior changes or predict when churn happens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096279" y="8757258"/>
            <a:ext cx="1651536" cy="1352690"/>
            <a:chOff x="0" y="0"/>
            <a:chExt cx="565491" cy="4631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5491" cy="463165"/>
            </a:xfrm>
            <a:custGeom>
              <a:avLst/>
              <a:gdLst/>
              <a:ahLst/>
              <a:cxnLst/>
              <a:rect l="l" t="t" r="r" b="b"/>
              <a:pathLst>
                <a:path w="565491" h="463165">
                  <a:moveTo>
                    <a:pt x="0" y="0"/>
                  </a:moveTo>
                  <a:lnTo>
                    <a:pt x="565491" y="0"/>
                  </a:lnTo>
                  <a:lnTo>
                    <a:pt x="565491" y="463165"/>
                  </a:lnTo>
                  <a:lnTo>
                    <a:pt x="0" y="463165"/>
                  </a:lnTo>
                  <a:close/>
                </a:path>
              </a:pathLst>
            </a:custGeom>
            <a:solidFill>
              <a:srgbClr val="669ABC"/>
            </a:solidFill>
            <a:ln w="9525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65491" cy="501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46058" y="10033044"/>
            <a:ext cx="3159798" cy="1352690"/>
            <a:chOff x="0" y="0"/>
            <a:chExt cx="1081925" cy="4631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1925" cy="463165"/>
            </a:xfrm>
            <a:custGeom>
              <a:avLst/>
              <a:gdLst/>
              <a:ahLst/>
              <a:cxnLst/>
              <a:rect l="l" t="t" r="r" b="b"/>
              <a:pathLst>
                <a:path w="1081925" h="463165">
                  <a:moveTo>
                    <a:pt x="0" y="0"/>
                  </a:moveTo>
                  <a:lnTo>
                    <a:pt x="1081925" y="0"/>
                  </a:lnTo>
                  <a:lnTo>
                    <a:pt x="1081925" y="463165"/>
                  </a:lnTo>
                  <a:lnTo>
                    <a:pt x="0" y="463165"/>
                  </a:lnTo>
                  <a:close/>
                </a:path>
              </a:pathLst>
            </a:custGeom>
            <a:solidFill>
              <a:srgbClr val="669ABC"/>
            </a:solidFill>
            <a:ln w="9525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81925" cy="501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40311" y="1756823"/>
            <a:ext cx="9190481" cy="177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79"/>
              </a:lnSpc>
            </a:pPr>
            <a:r>
              <a:rPr lang="en-US" sz="14000" spc="139" dirty="0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CLEANING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66125" y="3609718"/>
            <a:ext cx="8645748" cy="898344"/>
            <a:chOff x="0" y="0"/>
            <a:chExt cx="2277069" cy="2366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7069" cy="236601"/>
            </a:xfrm>
            <a:custGeom>
              <a:avLst/>
              <a:gdLst/>
              <a:ahLst/>
              <a:cxnLst/>
              <a:rect l="l" t="t" r="r" b="b"/>
              <a:pathLst>
                <a:path w="2277069" h="236601">
                  <a:moveTo>
                    <a:pt x="45668" y="0"/>
                  </a:moveTo>
                  <a:lnTo>
                    <a:pt x="2231401" y="0"/>
                  </a:lnTo>
                  <a:cubicBezTo>
                    <a:pt x="2256623" y="0"/>
                    <a:pt x="2277069" y="20446"/>
                    <a:pt x="2277069" y="45668"/>
                  </a:cubicBezTo>
                  <a:lnTo>
                    <a:pt x="2277069" y="190932"/>
                  </a:lnTo>
                  <a:cubicBezTo>
                    <a:pt x="2277069" y="216154"/>
                    <a:pt x="2256623" y="236601"/>
                    <a:pt x="2231401" y="236601"/>
                  </a:cubicBezTo>
                  <a:lnTo>
                    <a:pt x="45668" y="236601"/>
                  </a:lnTo>
                  <a:cubicBezTo>
                    <a:pt x="20446" y="236601"/>
                    <a:pt x="0" y="216154"/>
                    <a:pt x="0" y="190932"/>
                  </a:cubicBezTo>
                  <a:lnTo>
                    <a:pt x="0" y="45668"/>
                  </a:lnTo>
                  <a:cubicBezTo>
                    <a:pt x="0" y="20446"/>
                    <a:pt x="20446" y="0"/>
                    <a:pt x="45668" y="0"/>
                  </a:cubicBezTo>
                  <a:close/>
                </a:path>
              </a:pathLst>
            </a:custGeom>
            <a:solidFill>
              <a:srgbClr val="01304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277069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887945" y="502545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766125" y="5746811"/>
            <a:ext cx="10862936" cy="898344"/>
            <a:chOff x="0" y="0"/>
            <a:chExt cx="2861020" cy="2366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61020" cy="236601"/>
            </a:xfrm>
            <a:custGeom>
              <a:avLst/>
              <a:gdLst/>
              <a:ahLst/>
              <a:cxnLst/>
              <a:rect l="l" t="t" r="r" b="b"/>
              <a:pathLst>
                <a:path w="2861020" h="236601">
                  <a:moveTo>
                    <a:pt x="36347" y="0"/>
                  </a:moveTo>
                  <a:lnTo>
                    <a:pt x="2824673" y="0"/>
                  </a:lnTo>
                  <a:cubicBezTo>
                    <a:pt x="2844747" y="0"/>
                    <a:pt x="2861020" y="16273"/>
                    <a:pt x="2861020" y="36347"/>
                  </a:cubicBezTo>
                  <a:lnTo>
                    <a:pt x="2861020" y="200254"/>
                  </a:lnTo>
                  <a:cubicBezTo>
                    <a:pt x="2861020" y="220328"/>
                    <a:pt x="2844747" y="236601"/>
                    <a:pt x="2824673" y="236601"/>
                  </a:cubicBezTo>
                  <a:lnTo>
                    <a:pt x="36347" y="236601"/>
                  </a:lnTo>
                  <a:cubicBezTo>
                    <a:pt x="16273" y="236601"/>
                    <a:pt x="0" y="220328"/>
                    <a:pt x="0" y="200254"/>
                  </a:cubicBezTo>
                  <a:lnTo>
                    <a:pt x="0" y="36347"/>
                  </a:lnTo>
                  <a:cubicBezTo>
                    <a:pt x="0" y="16273"/>
                    <a:pt x="16273" y="0"/>
                    <a:pt x="36347" y="0"/>
                  </a:cubicBezTo>
                  <a:close/>
                </a:path>
              </a:pathLst>
            </a:custGeom>
            <a:solidFill>
              <a:srgbClr val="01304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861020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66125" y="7516883"/>
            <a:ext cx="10920086" cy="898344"/>
            <a:chOff x="0" y="0"/>
            <a:chExt cx="2876072" cy="2366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76072" cy="236601"/>
            </a:xfrm>
            <a:custGeom>
              <a:avLst/>
              <a:gdLst/>
              <a:ahLst/>
              <a:cxnLst/>
              <a:rect l="l" t="t" r="r" b="b"/>
              <a:pathLst>
                <a:path w="2876072" h="236601">
                  <a:moveTo>
                    <a:pt x="36157" y="0"/>
                  </a:moveTo>
                  <a:lnTo>
                    <a:pt x="2839915" y="0"/>
                  </a:lnTo>
                  <a:cubicBezTo>
                    <a:pt x="2849505" y="0"/>
                    <a:pt x="2858701" y="3809"/>
                    <a:pt x="2865482" y="10590"/>
                  </a:cubicBezTo>
                  <a:cubicBezTo>
                    <a:pt x="2872263" y="17371"/>
                    <a:pt x="2876072" y="26568"/>
                    <a:pt x="2876072" y="36157"/>
                  </a:cubicBezTo>
                  <a:lnTo>
                    <a:pt x="2876072" y="200444"/>
                  </a:lnTo>
                  <a:cubicBezTo>
                    <a:pt x="2876072" y="220413"/>
                    <a:pt x="2859884" y="236601"/>
                    <a:pt x="2839915" y="236601"/>
                  </a:cubicBezTo>
                  <a:lnTo>
                    <a:pt x="36157" y="236601"/>
                  </a:lnTo>
                  <a:cubicBezTo>
                    <a:pt x="26568" y="236601"/>
                    <a:pt x="17371" y="232791"/>
                    <a:pt x="10590" y="226011"/>
                  </a:cubicBezTo>
                  <a:cubicBezTo>
                    <a:pt x="3809" y="219230"/>
                    <a:pt x="0" y="210033"/>
                    <a:pt x="0" y="200444"/>
                  </a:cubicBezTo>
                  <a:lnTo>
                    <a:pt x="0" y="36157"/>
                  </a:lnTo>
                  <a:cubicBezTo>
                    <a:pt x="0" y="26568"/>
                    <a:pt x="3809" y="17371"/>
                    <a:pt x="10590" y="10590"/>
                  </a:cubicBezTo>
                  <a:cubicBezTo>
                    <a:pt x="17371" y="3809"/>
                    <a:pt x="26568" y="0"/>
                    <a:pt x="36157" y="0"/>
                  </a:cubicBezTo>
                  <a:close/>
                </a:path>
              </a:pathLst>
            </a:custGeom>
            <a:solidFill>
              <a:srgbClr val="01304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876072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499152" y="-853237"/>
            <a:ext cx="3384204" cy="2388813"/>
            <a:chOff x="0" y="0"/>
            <a:chExt cx="4512272" cy="318508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2202048" cy="2123390"/>
              <a:chOff x="0" y="0"/>
              <a:chExt cx="565491" cy="54529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65491" cy="545291"/>
              </a:xfrm>
              <a:custGeom>
                <a:avLst/>
                <a:gdLst/>
                <a:ahLst/>
                <a:cxnLst/>
                <a:rect l="l" t="t" r="r" b="b"/>
                <a:pathLst>
                  <a:path w="565491" h="545291">
                    <a:moveTo>
                      <a:pt x="0" y="0"/>
                    </a:moveTo>
                    <a:lnTo>
                      <a:pt x="565491" y="0"/>
                    </a:lnTo>
                    <a:lnTo>
                      <a:pt x="565491" y="545291"/>
                    </a:lnTo>
                    <a:lnTo>
                      <a:pt x="0" y="545291"/>
                    </a:lnTo>
                    <a:close/>
                  </a:path>
                </a:pathLst>
              </a:custGeom>
              <a:solidFill>
                <a:srgbClr val="669ABC"/>
              </a:solidFill>
              <a:ln w="9525" cap="sq">
                <a:solidFill>
                  <a:srgbClr val="669AB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565491" cy="583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99208" y="1061695"/>
              <a:ext cx="4213064" cy="2123390"/>
              <a:chOff x="0" y="0"/>
              <a:chExt cx="1081925" cy="54529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81925" cy="545291"/>
              </a:xfrm>
              <a:custGeom>
                <a:avLst/>
                <a:gdLst/>
                <a:ahLst/>
                <a:cxnLst/>
                <a:rect l="l" t="t" r="r" b="b"/>
                <a:pathLst>
                  <a:path w="1081925" h="545291">
                    <a:moveTo>
                      <a:pt x="0" y="0"/>
                    </a:moveTo>
                    <a:lnTo>
                      <a:pt x="1081925" y="0"/>
                    </a:lnTo>
                    <a:lnTo>
                      <a:pt x="1081925" y="545291"/>
                    </a:lnTo>
                    <a:lnTo>
                      <a:pt x="0" y="545291"/>
                    </a:lnTo>
                    <a:close/>
                  </a:path>
                </a:pathLst>
              </a:custGeom>
              <a:solidFill>
                <a:srgbClr val="669ABC"/>
              </a:solidFill>
              <a:ln w="9525" cap="sq">
                <a:solidFill>
                  <a:srgbClr val="669AB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1081925" cy="583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10029595" y="341170"/>
            <a:ext cx="2656616" cy="2656616"/>
          </a:xfrm>
          <a:custGeom>
            <a:avLst/>
            <a:gdLst/>
            <a:ahLst/>
            <a:cxnLst/>
            <a:rect l="l" t="t" r="r" b="b"/>
            <a:pathLst>
              <a:path w="2656616" h="2656616">
                <a:moveTo>
                  <a:pt x="0" y="0"/>
                </a:moveTo>
                <a:lnTo>
                  <a:pt x="2656616" y="0"/>
                </a:lnTo>
                <a:lnTo>
                  <a:pt x="2656616" y="2656616"/>
                </a:lnTo>
                <a:lnTo>
                  <a:pt x="0" y="265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0966144" y="3410428"/>
            <a:ext cx="6768989" cy="2195268"/>
          </a:xfrm>
          <a:custGeom>
            <a:avLst/>
            <a:gdLst/>
            <a:ahLst/>
            <a:cxnLst/>
            <a:rect l="l" t="t" r="r" b="b"/>
            <a:pathLst>
              <a:path w="6768989" h="2195268">
                <a:moveTo>
                  <a:pt x="0" y="0"/>
                </a:moveTo>
                <a:lnTo>
                  <a:pt x="6768989" y="0"/>
                </a:lnTo>
                <a:lnTo>
                  <a:pt x="6768989" y="2195268"/>
                </a:lnTo>
                <a:lnTo>
                  <a:pt x="0" y="2195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41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2004912" y="3740754"/>
            <a:ext cx="5538888" cy="570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Missing / Duplicate Check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04912" y="5881976"/>
            <a:ext cx="6148488" cy="570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Type Conversion / Encoding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93674" y="7652048"/>
            <a:ext cx="4307126" cy="570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Remove ID variable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31924" y="4774762"/>
            <a:ext cx="5236300" cy="67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2799" spc="-15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TotalCharges</a:t>
            </a:r>
            <a:r>
              <a:rPr lang="en-US" sz="2799" spc="-15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had 11 blanks. </a:t>
            </a:r>
          </a:p>
          <a:p>
            <a:pPr algn="l">
              <a:lnSpc>
                <a:spcPts val="3527"/>
              </a:lnSpc>
              <a:spcBef>
                <a:spcPct val="0"/>
              </a:spcBef>
            </a:pPr>
            <a:r>
              <a:rPr lang="en-US" sz="2799" spc="-15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Replace it with average value.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31924" y="6827966"/>
            <a:ext cx="8936276" cy="429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7"/>
              </a:lnSpc>
              <a:spcBef>
                <a:spcPct val="0"/>
              </a:spcBef>
            </a:pPr>
            <a:r>
              <a:rPr lang="en-US" sz="2799" spc="-15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Converted text (Yes/No, </a:t>
            </a:r>
            <a:r>
              <a:rPr lang="en-US" sz="2799" spc="-15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Male,Female</a:t>
            </a:r>
            <a:r>
              <a:rPr lang="en-US" sz="2799" spc="-15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into binary (0/1).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31924" y="8472377"/>
            <a:ext cx="4669076" cy="429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7"/>
              </a:lnSpc>
              <a:spcBef>
                <a:spcPct val="0"/>
              </a:spcBef>
            </a:pPr>
            <a:r>
              <a:rPr lang="en-US" sz="2799" spc="-15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CustomerID</a:t>
            </a:r>
            <a:r>
              <a:rPr lang="en-US" sz="2799" spc="-15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(not useful).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67745" y="9545731"/>
            <a:ext cx="92202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3500" b="1" spc="-168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Result: 49 features ready for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26888" y="0"/>
            <a:ext cx="12620197" cy="10452594"/>
            <a:chOff x="0" y="0"/>
            <a:chExt cx="3323838" cy="2752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3838" cy="2752946"/>
            </a:xfrm>
            <a:custGeom>
              <a:avLst/>
              <a:gdLst/>
              <a:ahLst/>
              <a:cxnLst/>
              <a:rect l="l" t="t" r="r" b="b"/>
              <a:pathLst>
                <a:path w="3323838" h="2752946">
                  <a:moveTo>
                    <a:pt x="0" y="0"/>
                  </a:moveTo>
                  <a:lnTo>
                    <a:pt x="3323838" y="0"/>
                  </a:lnTo>
                  <a:lnTo>
                    <a:pt x="3323838" y="2752946"/>
                  </a:lnTo>
                  <a:lnTo>
                    <a:pt x="0" y="2752946"/>
                  </a:ln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23838" cy="2791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0450" y="6695011"/>
            <a:ext cx="637655" cy="637655"/>
            <a:chOff x="0" y="0"/>
            <a:chExt cx="254863" cy="2548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863" cy="254863"/>
            </a:xfrm>
            <a:custGeom>
              <a:avLst/>
              <a:gdLst/>
              <a:ahLst/>
              <a:cxnLst/>
              <a:rect l="l" t="t" r="r" b="b"/>
              <a:pathLst>
                <a:path w="254863" h="254863">
                  <a:moveTo>
                    <a:pt x="0" y="0"/>
                  </a:moveTo>
                  <a:lnTo>
                    <a:pt x="254863" y="0"/>
                  </a:lnTo>
                  <a:lnTo>
                    <a:pt x="254863" y="254863"/>
                  </a:lnTo>
                  <a:lnTo>
                    <a:pt x="0" y="254863"/>
                  </a:lnTo>
                  <a:close/>
                </a:path>
              </a:pathLst>
            </a:custGeom>
            <a:solidFill>
              <a:srgbClr val="FDF3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863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802" y="3535718"/>
            <a:ext cx="637655" cy="637655"/>
            <a:chOff x="0" y="0"/>
            <a:chExt cx="254863" cy="2548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863" cy="254863"/>
            </a:xfrm>
            <a:custGeom>
              <a:avLst/>
              <a:gdLst/>
              <a:ahLst/>
              <a:cxnLst/>
              <a:rect l="l" t="t" r="r" b="b"/>
              <a:pathLst>
                <a:path w="254863" h="254863">
                  <a:moveTo>
                    <a:pt x="0" y="0"/>
                  </a:moveTo>
                  <a:lnTo>
                    <a:pt x="254863" y="0"/>
                  </a:lnTo>
                  <a:lnTo>
                    <a:pt x="254863" y="254863"/>
                  </a:lnTo>
                  <a:lnTo>
                    <a:pt x="0" y="254863"/>
                  </a:lnTo>
                  <a:close/>
                </a:path>
              </a:pathLst>
            </a:custGeom>
            <a:solidFill>
              <a:srgbClr val="FDF3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863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5222" y="6695011"/>
            <a:ext cx="5997498" cy="637655"/>
            <a:chOff x="0" y="0"/>
            <a:chExt cx="2397131" cy="2548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97131" cy="254863"/>
            </a:xfrm>
            <a:custGeom>
              <a:avLst/>
              <a:gdLst/>
              <a:ahLst/>
              <a:cxnLst/>
              <a:rect l="l" t="t" r="r" b="b"/>
              <a:pathLst>
                <a:path w="2397131" h="254863">
                  <a:moveTo>
                    <a:pt x="0" y="0"/>
                  </a:moveTo>
                  <a:lnTo>
                    <a:pt x="2397131" y="0"/>
                  </a:lnTo>
                  <a:lnTo>
                    <a:pt x="2397131" y="254863"/>
                  </a:lnTo>
                  <a:lnTo>
                    <a:pt x="0" y="254863"/>
                  </a:lnTo>
                  <a:close/>
                </a:path>
              </a:pathLst>
            </a:custGeom>
            <a:ln w="19050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397131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6573" y="3535718"/>
            <a:ext cx="5997498" cy="637655"/>
            <a:chOff x="0" y="0"/>
            <a:chExt cx="2397131" cy="2548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97131" cy="254863"/>
            </a:xfrm>
            <a:custGeom>
              <a:avLst/>
              <a:gdLst/>
              <a:ahLst/>
              <a:cxnLst/>
              <a:rect l="l" t="t" r="r" b="b"/>
              <a:pathLst>
                <a:path w="2397131" h="254863">
                  <a:moveTo>
                    <a:pt x="0" y="0"/>
                  </a:moveTo>
                  <a:lnTo>
                    <a:pt x="2397131" y="0"/>
                  </a:lnTo>
                  <a:lnTo>
                    <a:pt x="2397131" y="254863"/>
                  </a:lnTo>
                  <a:lnTo>
                    <a:pt x="0" y="254863"/>
                  </a:lnTo>
                  <a:close/>
                </a:path>
              </a:pathLst>
            </a:custGeom>
            <a:ln w="19050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397131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9965" y="145781"/>
            <a:ext cx="637655" cy="637655"/>
            <a:chOff x="0" y="0"/>
            <a:chExt cx="254863" cy="2548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863" cy="254863"/>
            </a:xfrm>
            <a:custGeom>
              <a:avLst/>
              <a:gdLst/>
              <a:ahLst/>
              <a:cxnLst/>
              <a:rect l="l" t="t" r="r" b="b"/>
              <a:pathLst>
                <a:path w="254863" h="254863">
                  <a:moveTo>
                    <a:pt x="0" y="0"/>
                  </a:moveTo>
                  <a:lnTo>
                    <a:pt x="254863" y="0"/>
                  </a:lnTo>
                  <a:lnTo>
                    <a:pt x="254863" y="254863"/>
                  </a:lnTo>
                  <a:lnTo>
                    <a:pt x="0" y="254863"/>
                  </a:lnTo>
                  <a:close/>
                </a:path>
              </a:pathLst>
            </a:custGeom>
            <a:solidFill>
              <a:srgbClr val="FDF3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54863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2700000">
            <a:off x="847244" y="6828497"/>
            <a:ext cx="424068" cy="337664"/>
          </a:xfrm>
          <a:custGeom>
            <a:avLst/>
            <a:gdLst/>
            <a:ahLst/>
            <a:cxnLst/>
            <a:rect l="l" t="t" r="r" b="b"/>
            <a:pathLst>
              <a:path w="424068" h="337664">
                <a:moveTo>
                  <a:pt x="0" y="0"/>
                </a:moveTo>
                <a:lnTo>
                  <a:pt x="424068" y="0"/>
                </a:lnTo>
                <a:lnTo>
                  <a:pt x="424068" y="337664"/>
                </a:lnTo>
                <a:lnTo>
                  <a:pt x="0" y="337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2700000">
            <a:off x="918595" y="3685713"/>
            <a:ext cx="424068" cy="337664"/>
          </a:xfrm>
          <a:custGeom>
            <a:avLst/>
            <a:gdLst/>
            <a:ahLst/>
            <a:cxnLst/>
            <a:rect l="l" t="t" r="r" b="b"/>
            <a:pathLst>
              <a:path w="424068" h="337664">
                <a:moveTo>
                  <a:pt x="0" y="0"/>
                </a:moveTo>
                <a:lnTo>
                  <a:pt x="424068" y="0"/>
                </a:lnTo>
                <a:lnTo>
                  <a:pt x="424068" y="337664"/>
                </a:lnTo>
                <a:lnTo>
                  <a:pt x="0" y="337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2700000">
            <a:off x="896759" y="312287"/>
            <a:ext cx="424068" cy="337664"/>
          </a:xfrm>
          <a:custGeom>
            <a:avLst/>
            <a:gdLst/>
            <a:ahLst/>
            <a:cxnLst/>
            <a:rect l="l" t="t" r="r" b="b"/>
            <a:pathLst>
              <a:path w="424068" h="337664">
                <a:moveTo>
                  <a:pt x="0" y="0"/>
                </a:moveTo>
                <a:lnTo>
                  <a:pt x="424068" y="0"/>
                </a:lnTo>
                <a:lnTo>
                  <a:pt x="424068" y="337664"/>
                </a:lnTo>
                <a:lnTo>
                  <a:pt x="0" y="337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729046" y="4109335"/>
            <a:ext cx="4907450" cy="2699097"/>
          </a:xfrm>
          <a:custGeom>
            <a:avLst/>
            <a:gdLst/>
            <a:ahLst/>
            <a:cxnLst/>
            <a:rect l="l" t="t" r="r" b="b"/>
            <a:pathLst>
              <a:path w="4907450" h="2699097">
                <a:moveTo>
                  <a:pt x="0" y="0"/>
                </a:moveTo>
                <a:lnTo>
                  <a:pt x="4907449" y="0"/>
                </a:lnTo>
                <a:lnTo>
                  <a:pt x="4907449" y="2699097"/>
                </a:lnTo>
                <a:lnTo>
                  <a:pt x="0" y="2699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707209" y="645965"/>
            <a:ext cx="4907450" cy="2784978"/>
          </a:xfrm>
          <a:custGeom>
            <a:avLst/>
            <a:gdLst/>
            <a:ahLst/>
            <a:cxnLst/>
            <a:rect l="l" t="t" r="r" b="b"/>
            <a:pathLst>
              <a:path w="4907450" h="2784978">
                <a:moveTo>
                  <a:pt x="0" y="0"/>
                </a:moveTo>
                <a:lnTo>
                  <a:pt x="4907450" y="0"/>
                </a:lnTo>
                <a:lnTo>
                  <a:pt x="4907450" y="2784978"/>
                </a:lnTo>
                <a:lnTo>
                  <a:pt x="0" y="2784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57694" y="7287445"/>
            <a:ext cx="4907450" cy="2846321"/>
          </a:xfrm>
          <a:custGeom>
            <a:avLst/>
            <a:gdLst/>
            <a:ahLst/>
            <a:cxnLst/>
            <a:rect l="l" t="t" r="r" b="b"/>
            <a:pathLst>
              <a:path w="4907450" h="2846321">
                <a:moveTo>
                  <a:pt x="0" y="0"/>
                </a:moveTo>
                <a:lnTo>
                  <a:pt x="4907450" y="0"/>
                </a:lnTo>
                <a:lnTo>
                  <a:pt x="4907450" y="2846321"/>
                </a:lnTo>
                <a:lnTo>
                  <a:pt x="0" y="284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4632232" y="6477998"/>
            <a:ext cx="3655768" cy="3655768"/>
          </a:xfrm>
          <a:custGeom>
            <a:avLst/>
            <a:gdLst/>
            <a:ahLst/>
            <a:cxnLst/>
            <a:rect l="l" t="t" r="r" b="b"/>
            <a:pathLst>
              <a:path w="3655768" h="3655768">
                <a:moveTo>
                  <a:pt x="0" y="0"/>
                </a:moveTo>
                <a:lnTo>
                  <a:pt x="3655768" y="0"/>
                </a:lnTo>
                <a:lnTo>
                  <a:pt x="3655768" y="3655768"/>
                </a:lnTo>
                <a:lnTo>
                  <a:pt x="0" y="36557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657694" y="6806448"/>
            <a:ext cx="4501418" cy="3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399" b="1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MonthlyCharges vs Churn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9046" y="3663664"/>
            <a:ext cx="4501418" cy="3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399" b="1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2399" b="1" u="none" strike="noStrike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enure vs Churn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9461" y="196828"/>
            <a:ext cx="4501418" cy="3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399" b="1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Contract vs Churn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5382684"/>
            <a:ext cx="9063989" cy="415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302" lvl="1" indent="-295651" algn="l">
              <a:lnSpc>
                <a:spcPts val="4190"/>
              </a:lnSpc>
              <a:buFont typeface="Arial"/>
              <a:buChar char="•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Contract Type is the biggest driver for churn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Month-to-month: 42.7% churn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2-year: 2.8% churn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Action: Offer discounts for long-term contracts</a:t>
            </a:r>
          </a:p>
          <a:p>
            <a:pPr marL="591302" lvl="1" indent="-295651" algn="l">
              <a:lnSpc>
                <a:spcPts val="4190"/>
              </a:lnSpc>
              <a:buFont typeface="Arial"/>
              <a:buChar char="•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Customers leave early (first 6-12 months)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action needed: onboarding, customer success</a:t>
            </a:r>
          </a:p>
          <a:p>
            <a:pPr marL="591302" lvl="1" indent="-295651" algn="l">
              <a:lnSpc>
                <a:spcPts val="4190"/>
              </a:lnSpc>
              <a:buFont typeface="Arial"/>
              <a:buChar char="•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matters ($61 vs $74/month difference)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High-spend customers are price-sensitive 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4865580" y="2033737"/>
            <a:ext cx="3109763" cy="3109763"/>
          </a:xfrm>
          <a:custGeom>
            <a:avLst/>
            <a:gdLst/>
            <a:ahLst/>
            <a:cxnLst/>
            <a:rect l="l" t="t" r="r" b="b"/>
            <a:pathLst>
              <a:path w="3109763" h="3109763">
                <a:moveTo>
                  <a:pt x="0" y="0"/>
                </a:moveTo>
                <a:lnTo>
                  <a:pt x="3109763" y="0"/>
                </a:lnTo>
                <a:lnTo>
                  <a:pt x="3109763" y="3109763"/>
                </a:lnTo>
                <a:lnTo>
                  <a:pt x="0" y="31097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9476810" y="1994346"/>
            <a:ext cx="8198883" cy="334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9"/>
              </a:lnSpc>
            </a:pPr>
            <a:r>
              <a:rPr lang="en-US" sz="15474" spc="13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KEY</a:t>
            </a:r>
          </a:p>
          <a:p>
            <a:pPr marL="0" lvl="0" indent="0" algn="l">
              <a:lnSpc>
                <a:spcPts val="12379"/>
              </a:lnSpc>
            </a:pPr>
            <a:r>
              <a:rPr lang="en-US" sz="15474" spc="13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FINDINGS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7681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26888" y="0"/>
            <a:ext cx="12620197" cy="10452594"/>
            <a:chOff x="0" y="0"/>
            <a:chExt cx="3323838" cy="27529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23838" cy="2752946"/>
            </a:xfrm>
            <a:custGeom>
              <a:avLst/>
              <a:gdLst/>
              <a:ahLst/>
              <a:cxnLst/>
              <a:rect l="l" t="t" r="r" b="b"/>
              <a:pathLst>
                <a:path w="3323838" h="2752946">
                  <a:moveTo>
                    <a:pt x="0" y="0"/>
                  </a:moveTo>
                  <a:lnTo>
                    <a:pt x="3323838" y="0"/>
                  </a:lnTo>
                  <a:lnTo>
                    <a:pt x="3323838" y="2752946"/>
                  </a:lnTo>
                  <a:lnTo>
                    <a:pt x="0" y="2752946"/>
                  </a:lnTo>
                  <a:close/>
                </a:path>
              </a:pathLst>
            </a:custGeom>
            <a:solidFill>
              <a:srgbClr val="669A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23838" cy="2791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1802" y="325572"/>
            <a:ext cx="637655" cy="637655"/>
            <a:chOff x="0" y="0"/>
            <a:chExt cx="254863" cy="2548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863" cy="254863"/>
            </a:xfrm>
            <a:custGeom>
              <a:avLst/>
              <a:gdLst/>
              <a:ahLst/>
              <a:cxnLst/>
              <a:rect l="l" t="t" r="r" b="b"/>
              <a:pathLst>
                <a:path w="254863" h="254863">
                  <a:moveTo>
                    <a:pt x="0" y="0"/>
                  </a:moveTo>
                  <a:lnTo>
                    <a:pt x="254863" y="0"/>
                  </a:lnTo>
                  <a:lnTo>
                    <a:pt x="254863" y="254863"/>
                  </a:lnTo>
                  <a:lnTo>
                    <a:pt x="0" y="254863"/>
                  </a:lnTo>
                  <a:close/>
                </a:path>
              </a:pathLst>
            </a:custGeom>
            <a:solidFill>
              <a:srgbClr val="FDF3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863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1802" y="5342666"/>
            <a:ext cx="637655" cy="637655"/>
            <a:chOff x="0" y="0"/>
            <a:chExt cx="254863" cy="2548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863" cy="254863"/>
            </a:xfrm>
            <a:custGeom>
              <a:avLst/>
              <a:gdLst/>
              <a:ahLst/>
              <a:cxnLst/>
              <a:rect l="l" t="t" r="r" b="b"/>
              <a:pathLst>
                <a:path w="254863" h="254863">
                  <a:moveTo>
                    <a:pt x="0" y="0"/>
                  </a:moveTo>
                  <a:lnTo>
                    <a:pt x="254863" y="0"/>
                  </a:lnTo>
                  <a:lnTo>
                    <a:pt x="254863" y="254863"/>
                  </a:lnTo>
                  <a:lnTo>
                    <a:pt x="0" y="254863"/>
                  </a:lnTo>
                  <a:close/>
                </a:path>
              </a:pathLst>
            </a:custGeom>
            <a:solidFill>
              <a:srgbClr val="FDF3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863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6573" y="325572"/>
            <a:ext cx="5997498" cy="637655"/>
            <a:chOff x="0" y="0"/>
            <a:chExt cx="2397131" cy="2548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97131" cy="254863"/>
            </a:xfrm>
            <a:custGeom>
              <a:avLst/>
              <a:gdLst/>
              <a:ahLst/>
              <a:cxnLst/>
              <a:rect l="l" t="t" r="r" b="b"/>
              <a:pathLst>
                <a:path w="2397131" h="254863">
                  <a:moveTo>
                    <a:pt x="0" y="0"/>
                  </a:moveTo>
                  <a:lnTo>
                    <a:pt x="2397131" y="0"/>
                  </a:lnTo>
                  <a:lnTo>
                    <a:pt x="2397131" y="254863"/>
                  </a:lnTo>
                  <a:lnTo>
                    <a:pt x="0" y="254863"/>
                  </a:lnTo>
                  <a:close/>
                </a:path>
              </a:pathLst>
            </a:custGeom>
            <a:ln w="19050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397131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6573" y="5342666"/>
            <a:ext cx="5997498" cy="637655"/>
            <a:chOff x="0" y="0"/>
            <a:chExt cx="2397131" cy="2548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97131" cy="254863"/>
            </a:xfrm>
            <a:custGeom>
              <a:avLst/>
              <a:gdLst/>
              <a:ahLst/>
              <a:cxnLst/>
              <a:rect l="l" t="t" r="r" b="b"/>
              <a:pathLst>
                <a:path w="2397131" h="254863">
                  <a:moveTo>
                    <a:pt x="0" y="0"/>
                  </a:moveTo>
                  <a:lnTo>
                    <a:pt x="2397131" y="0"/>
                  </a:lnTo>
                  <a:lnTo>
                    <a:pt x="2397131" y="254863"/>
                  </a:lnTo>
                  <a:lnTo>
                    <a:pt x="0" y="254863"/>
                  </a:lnTo>
                  <a:close/>
                </a:path>
              </a:pathLst>
            </a:custGeom>
            <a:ln w="19050" cap="sq">
              <a:solidFill>
                <a:srgbClr val="669A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397131" cy="292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2700000">
            <a:off x="918595" y="459058"/>
            <a:ext cx="424068" cy="337664"/>
          </a:xfrm>
          <a:custGeom>
            <a:avLst/>
            <a:gdLst/>
            <a:ahLst/>
            <a:cxnLst/>
            <a:rect l="l" t="t" r="r" b="b"/>
            <a:pathLst>
              <a:path w="424068" h="337664">
                <a:moveTo>
                  <a:pt x="0" y="0"/>
                </a:moveTo>
                <a:lnTo>
                  <a:pt x="424068" y="0"/>
                </a:lnTo>
                <a:lnTo>
                  <a:pt x="424068" y="337664"/>
                </a:lnTo>
                <a:lnTo>
                  <a:pt x="0" y="337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rot="2700000">
            <a:off x="918595" y="5492661"/>
            <a:ext cx="424068" cy="337664"/>
          </a:xfrm>
          <a:custGeom>
            <a:avLst/>
            <a:gdLst/>
            <a:ahLst/>
            <a:cxnLst/>
            <a:rect l="l" t="t" r="r" b="b"/>
            <a:pathLst>
              <a:path w="424068" h="337664">
                <a:moveTo>
                  <a:pt x="0" y="0"/>
                </a:moveTo>
                <a:lnTo>
                  <a:pt x="424068" y="0"/>
                </a:lnTo>
                <a:lnTo>
                  <a:pt x="424068" y="337664"/>
                </a:lnTo>
                <a:lnTo>
                  <a:pt x="0" y="337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865580" y="2033737"/>
            <a:ext cx="3109763" cy="3109763"/>
          </a:xfrm>
          <a:custGeom>
            <a:avLst/>
            <a:gdLst/>
            <a:ahLst/>
            <a:cxnLst/>
            <a:rect l="l" t="t" r="r" b="b"/>
            <a:pathLst>
              <a:path w="3109763" h="3109763">
                <a:moveTo>
                  <a:pt x="0" y="0"/>
                </a:moveTo>
                <a:lnTo>
                  <a:pt x="3109763" y="0"/>
                </a:lnTo>
                <a:lnTo>
                  <a:pt x="3109763" y="3109763"/>
                </a:lnTo>
                <a:lnTo>
                  <a:pt x="0" y="31097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729046" y="954044"/>
            <a:ext cx="6816250" cy="3953425"/>
          </a:xfrm>
          <a:custGeom>
            <a:avLst/>
            <a:gdLst/>
            <a:ahLst/>
            <a:cxnLst/>
            <a:rect l="l" t="t" r="r" b="b"/>
            <a:pathLst>
              <a:path w="6816250" h="3953425">
                <a:moveTo>
                  <a:pt x="0" y="0"/>
                </a:moveTo>
                <a:lnTo>
                  <a:pt x="6816250" y="0"/>
                </a:lnTo>
                <a:lnTo>
                  <a:pt x="6816250" y="3953425"/>
                </a:lnTo>
                <a:lnTo>
                  <a:pt x="0" y="3953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729046" y="5980321"/>
            <a:ext cx="6816250" cy="4013067"/>
          </a:xfrm>
          <a:custGeom>
            <a:avLst/>
            <a:gdLst/>
            <a:ahLst/>
            <a:cxnLst/>
            <a:rect l="l" t="t" r="r" b="b"/>
            <a:pathLst>
              <a:path w="6816250" h="4013067">
                <a:moveTo>
                  <a:pt x="0" y="0"/>
                </a:moveTo>
                <a:lnTo>
                  <a:pt x="6816250" y="0"/>
                </a:lnTo>
                <a:lnTo>
                  <a:pt x="6816250" y="4013067"/>
                </a:lnTo>
                <a:lnTo>
                  <a:pt x="0" y="4013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476810" y="1994346"/>
            <a:ext cx="8198883" cy="334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9"/>
              </a:lnSpc>
            </a:pPr>
            <a:r>
              <a:rPr lang="en-US" sz="15474" spc="13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KEY</a:t>
            </a:r>
          </a:p>
          <a:p>
            <a:pPr marL="0" lvl="0" indent="0" algn="l">
              <a:lnSpc>
                <a:spcPts val="12379"/>
              </a:lnSpc>
            </a:pPr>
            <a:r>
              <a:rPr lang="en-US" sz="15474" spc="13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FINDINGS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9046" y="437009"/>
            <a:ext cx="4501418" cy="3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399" b="1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PhoneService vs Churn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9046" y="5470612"/>
            <a:ext cx="4501418" cy="37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3"/>
              </a:lnSpc>
              <a:spcBef>
                <a:spcPct val="0"/>
              </a:spcBef>
            </a:pPr>
            <a:r>
              <a:rPr lang="en-US" sz="2399" b="1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Charges </a:t>
            </a:r>
            <a:r>
              <a:rPr lang="en-US" sz="2399" b="1" u="none" strike="noStrike" spc="-134">
                <a:solidFill>
                  <a:srgbClr val="E4E9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 Churn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681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5067300"/>
            <a:ext cx="9063989" cy="467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1302" lvl="1" indent="-295651" algn="l">
              <a:lnSpc>
                <a:spcPts val="4190"/>
              </a:lnSpc>
              <a:buFont typeface="Arial"/>
              <a:buChar char="•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Phone Service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Churn rate is nearly identical whether the customer has phone service or not.  (~26%)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variable is not the key drivers of churn.</a:t>
            </a:r>
          </a:p>
          <a:p>
            <a:pPr marL="591302" lvl="1" indent="-295651" algn="l">
              <a:lnSpc>
                <a:spcPts val="4190"/>
              </a:lnSpc>
              <a:buFont typeface="Arial"/>
              <a:buChar char="•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Charges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Churned customers have lower total charges. (shorter lifetime = less spending overall).</a:t>
            </a:r>
          </a:p>
          <a:p>
            <a:pPr marL="1182603" lvl="2" indent="-394201" algn="l">
              <a:lnSpc>
                <a:spcPts val="4190"/>
              </a:lnSpc>
              <a:buFont typeface="Arial"/>
              <a:buChar char="⚬"/>
            </a:pPr>
            <a:r>
              <a:rPr lang="en-US" sz="2738" spc="-1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High-charge outliers exist in churned group. (likely short-term high spenders who left early).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18068" y="4878469"/>
            <a:ext cx="3086100" cy="1408239"/>
            <a:chOff x="0" y="0"/>
            <a:chExt cx="812800" cy="3708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70894"/>
            </a:xfrm>
            <a:custGeom>
              <a:avLst/>
              <a:gdLst/>
              <a:ahLst/>
              <a:cxnLst/>
              <a:rect l="l" t="t" r="r" b="b"/>
              <a:pathLst>
                <a:path w="812800" h="370894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42953"/>
                  </a:lnTo>
                  <a:cubicBezTo>
                    <a:pt x="812800" y="276885"/>
                    <a:pt x="799321" y="309428"/>
                    <a:pt x="775327" y="333421"/>
                  </a:cubicBezTo>
                  <a:cubicBezTo>
                    <a:pt x="751333" y="357415"/>
                    <a:pt x="718791" y="370894"/>
                    <a:pt x="684859" y="370894"/>
                  </a:cubicBezTo>
                  <a:lnTo>
                    <a:pt x="127941" y="370894"/>
                  </a:lnTo>
                  <a:cubicBezTo>
                    <a:pt x="94009" y="370894"/>
                    <a:pt x="61467" y="357415"/>
                    <a:pt x="37473" y="333421"/>
                  </a:cubicBezTo>
                  <a:cubicBezTo>
                    <a:pt x="13479" y="309428"/>
                    <a:pt x="0" y="276885"/>
                    <a:pt x="0" y="24295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418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spc="-227">
                  <a:solidFill>
                    <a:srgbClr val="FDF3DF"/>
                  </a:solidFill>
                  <a:latin typeface="Lora"/>
                  <a:ea typeface="Lora"/>
                  <a:cs typeface="Lora"/>
                  <a:sym typeface="Lora"/>
                </a:rPr>
                <a:t>7,043 customers</a:t>
              </a: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3661118" y="6286708"/>
            <a:ext cx="0" cy="766858"/>
          </a:xfrm>
          <a:prstGeom prst="line">
            <a:avLst/>
          </a:prstGeom>
          <a:ln w="76200" cap="flat">
            <a:solidFill>
              <a:srgbClr val="669ABC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87232" y="7250480"/>
            <a:ext cx="1691724" cy="724198"/>
            <a:chOff x="0" y="0"/>
            <a:chExt cx="445557" cy="1907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5557" cy="190735"/>
            </a:xfrm>
            <a:custGeom>
              <a:avLst/>
              <a:gdLst/>
              <a:ahLst/>
              <a:cxnLst/>
              <a:rect l="l" t="t" r="r" b="b"/>
              <a:pathLst>
                <a:path w="445557" h="190735">
                  <a:moveTo>
                    <a:pt x="95368" y="0"/>
                  </a:moveTo>
                  <a:lnTo>
                    <a:pt x="350189" y="0"/>
                  </a:lnTo>
                  <a:cubicBezTo>
                    <a:pt x="402859" y="0"/>
                    <a:pt x="445557" y="42698"/>
                    <a:pt x="445557" y="95368"/>
                  </a:cubicBezTo>
                  <a:lnTo>
                    <a:pt x="445557" y="95368"/>
                  </a:lnTo>
                  <a:cubicBezTo>
                    <a:pt x="445557" y="120661"/>
                    <a:pt x="435509" y="144918"/>
                    <a:pt x="417624" y="162803"/>
                  </a:cubicBezTo>
                  <a:cubicBezTo>
                    <a:pt x="399740" y="180688"/>
                    <a:pt x="375482" y="190735"/>
                    <a:pt x="350189" y="190735"/>
                  </a:cubicBezTo>
                  <a:lnTo>
                    <a:pt x="95368" y="190735"/>
                  </a:lnTo>
                  <a:cubicBezTo>
                    <a:pt x="42698" y="190735"/>
                    <a:pt x="0" y="148038"/>
                    <a:pt x="0" y="95368"/>
                  </a:cubicBezTo>
                  <a:lnTo>
                    <a:pt x="0" y="95368"/>
                  </a:lnTo>
                  <a:cubicBezTo>
                    <a:pt x="0" y="42698"/>
                    <a:pt x="42698" y="0"/>
                    <a:pt x="95368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5557" cy="238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spc="-205">
                  <a:solidFill>
                    <a:srgbClr val="FDF3DF"/>
                  </a:solidFill>
                  <a:latin typeface="Lora"/>
                  <a:ea typeface="Lora"/>
                  <a:cs typeface="Lora"/>
                  <a:sym typeface="Lora"/>
                </a:rPr>
                <a:t>Train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76471" y="7250480"/>
            <a:ext cx="1966783" cy="724198"/>
            <a:chOff x="0" y="0"/>
            <a:chExt cx="518001" cy="1907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8001" cy="190735"/>
            </a:xfrm>
            <a:custGeom>
              <a:avLst/>
              <a:gdLst/>
              <a:ahLst/>
              <a:cxnLst/>
              <a:rect l="l" t="t" r="r" b="b"/>
              <a:pathLst>
                <a:path w="518001" h="190735">
                  <a:moveTo>
                    <a:pt x="95368" y="0"/>
                  </a:moveTo>
                  <a:lnTo>
                    <a:pt x="422633" y="0"/>
                  </a:lnTo>
                  <a:cubicBezTo>
                    <a:pt x="475303" y="0"/>
                    <a:pt x="518001" y="42698"/>
                    <a:pt x="518001" y="95368"/>
                  </a:cubicBezTo>
                  <a:lnTo>
                    <a:pt x="518001" y="95368"/>
                  </a:lnTo>
                  <a:cubicBezTo>
                    <a:pt x="518001" y="120661"/>
                    <a:pt x="507953" y="144918"/>
                    <a:pt x="490068" y="162803"/>
                  </a:cubicBezTo>
                  <a:cubicBezTo>
                    <a:pt x="472183" y="180688"/>
                    <a:pt x="447926" y="190735"/>
                    <a:pt x="422633" y="190735"/>
                  </a:cubicBezTo>
                  <a:lnTo>
                    <a:pt x="95368" y="190735"/>
                  </a:lnTo>
                  <a:cubicBezTo>
                    <a:pt x="42698" y="190735"/>
                    <a:pt x="0" y="148038"/>
                    <a:pt x="0" y="95368"/>
                  </a:cubicBezTo>
                  <a:lnTo>
                    <a:pt x="0" y="95368"/>
                  </a:lnTo>
                  <a:cubicBezTo>
                    <a:pt x="0" y="42698"/>
                    <a:pt x="42698" y="0"/>
                    <a:pt x="95368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18001" cy="238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spc="-205">
                  <a:solidFill>
                    <a:srgbClr val="FDF3DF"/>
                  </a:solidFill>
                  <a:latin typeface="Lora"/>
                  <a:ea typeface="Lora"/>
                  <a:cs typeface="Lora"/>
                  <a:sym typeface="Lora"/>
                </a:rPr>
                <a:t>Validation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43280" y="7250480"/>
            <a:ext cx="1691724" cy="724198"/>
            <a:chOff x="0" y="0"/>
            <a:chExt cx="445557" cy="19073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5557" cy="190735"/>
            </a:xfrm>
            <a:custGeom>
              <a:avLst/>
              <a:gdLst/>
              <a:ahLst/>
              <a:cxnLst/>
              <a:rect l="l" t="t" r="r" b="b"/>
              <a:pathLst>
                <a:path w="445557" h="190735">
                  <a:moveTo>
                    <a:pt x="95368" y="0"/>
                  </a:moveTo>
                  <a:lnTo>
                    <a:pt x="350189" y="0"/>
                  </a:lnTo>
                  <a:cubicBezTo>
                    <a:pt x="402859" y="0"/>
                    <a:pt x="445557" y="42698"/>
                    <a:pt x="445557" y="95368"/>
                  </a:cubicBezTo>
                  <a:lnTo>
                    <a:pt x="445557" y="95368"/>
                  </a:lnTo>
                  <a:cubicBezTo>
                    <a:pt x="445557" y="120661"/>
                    <a:pt x="435509" y="144918"/>
                    <a:pt x="417624" y="162803"/>
                  </a:cubicBezTo>
                  <a:cubicBezTo>
                    <a:pt x="399740" y="180688"/>
                    <a:pt x="375482" y="190735"/>
                    <a:pt x="350189" y="190735"/>
                  </a:cubicBezTo>
                  <a:lnTo>
                    <a:pt x="95368" y="190735"/>
                  </a:lnTo>
                  <a:cubicBezTo>
                    <a:pt x="42698" y="190735"/>
                    <a:pt x="0" y="148038"/>
                    <a:pt x="0" y="95368"/>
                  </a:cubicBezTo>
                  <a:lnTo>
                    <a:pt x="0" y="95368"/>
                  </a:lnTo>
                  <a:cubicBezTo>
                    <a:pt x="0" y="42698"/>
                    <a:pt x="42698" y="0"/>
                    <a:pt x="95368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45557" cy="238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spc="-205">
                  <a:solidFill>
                    <a:srgbClr val="FDF3DF"/>
                  </a:solidFill>
                  <a:latin typeface="Lora"/>
                  <a:ea typeface="Lora"/>
                  <a:cs typeface="Lora"/>
                  <a:sym typeface="Lora"/>
                </a:rPr>
                <a:t>Test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02688" y="1693894"/>
            <a:ext cx="10815246" cy="8971893"/>
            <a:chOff x="0" y="0"/>
            <a:chExt cx="2848460" cy="23629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48460" cy="2362968"/>
            </a:xfrm>
            <a:custGeom>
              <a:avLst/>
              <a:gdLst/>
              <a:ahLst/>
              <a:cxnLst/>
              <a:rect l="l" t="t" r="r" b="b"/>
              <a:pathLst>
                <a:path w="2848460" h="2362968">
                  <a:moveTo>
                    <a:pt x="36508" y="0"/>
                  </a:moveTo>
                  <a:lnTo>
                    <a:pt x="2811952" y="0"/>
                  </a:lnTo>
                  <a:cubicBezTo>
                    <a:pt x="2832115" y="0"/>
                    <a:pt x="2848460" y="16345"/>
                    <a:pt x="2848460" y="36508"/>
                  </a:cubicBezTo>
                  <a:lnTo>
                    <a:pt x="2848460" y="2326460"/>
                  </a:lnTo>
                  <a:cubicBezTo>
                    <a:pt x="2848460" y="2346623"/>
                    <a:pt x="2832115" y="2362968"/>
                    <a:pt x="2811952" y="2362968"/>
                  </a:cubicBezTo>
                  <a:lnTo>
                    <a:pt x="36508" y="2362968"/>
                  </a:lnTo>
                  <a:cubicBezTo>
                    <a:pt x="16345" y="2362968"/>
                    <a:pt x="0" y="2346623"/>
                    <a:pt x="0" y="2326460"/>
                  </a:cubicBezTo>
                  <a:lnTo>
                    <a:pt x="0" y="36508"/>
                  </a:lnTo>
                  <a:cubicBezTo>
                    <a:pt x="0" y="16345"/>
                    <a:pt x="16345" y="0"/>
                    <a:pt x="36508" y="0"/>
                  </a:cubicBezTo>
                  <a:close/>
                </a:path>
              </a:pathLst>
            </a:custGeom>
            <a:solidFill>
              <a:srgbClr val="9DB7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2848460" cy="2372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3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410311" y="53458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5746044" y="1950471"/>
            <a:ext cx="2117892" cy="2117892"/>
          </a:xfrm>
          <a:custGeom>
            <a:avLst/>
            <a:gdLst/>
            <a:ahLst/>
            <a:cxnLst/>
            <a:rect l="l" t="t" r="r" b="b"/>
            <a:pathLst>
              <a:path w="2117892" h="2117892">
                <a:moveTo>
                  <a:pt x="0" y="0"/>
                </a:moveTo>
                <a:lnTo>
                  <a:pt x="2117893" y="0"/>
                </a:lnTo>
                <a:lnTo>
                  <a:pt x="2117893" y="2117892"/>
                </a:lnTo>
                <a:lnTo>
                  <a:pt x="0" y="2117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787232" y="2263521"/>
            <a:ext cx="6649053" cy="241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</a:pPr>
            <a:r>
              <a:rPr lang="en-US" sz="11200" spc="100">
                <a:solidFill>
                  <a:srgbClr val="000000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SPLITTING STRATEGY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7831" y="8070717"/>
            <a:ext cx="930525" cy="500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6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95855" y="8070717"/>
            <a:ext cx="930525" cy="500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6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21755" y="8070717"/>
            <a:ext cx="930525" cy="500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6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4574" y="2340996"/>
            <a:ext cx="10071474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sz="10400" spc="93">
                <a:solidFill>
                  <a:srgbClr val="000000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STRUCTURE: FEATURES &amp; CHURN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4574" y="4958362"/>
            <a:ext cx="9157116" cy="333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480" lvl="1" indent="-317240" algn="l">
              <a:lnSpc>
                <a:spcPts val="4496"/>
              </a:lnSpc>
              <a:buFont typeface="Arial"/>
              <a:buChar char="•"/>
            </a:pPr>
            <a:r>
              <a:rPr lang="en-US" sz="2938" spc="-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 = Customer Info (inputs) — 49 features</a:t>
            </a:r>
          </a:p>
          <a:p>
            <a:pPr marL="634480" lvl="1" indent="-317240" algn="l">
              <a:lnSpc>
                <a:spcPts val="4496"/>
              </a:lnSpc>
              <a:buFont typeface="Arial"/>
              <a:buChar char="•"/>
            </a:pPr>
            <a:r>
              <a:rPr lang="en-US" sz="2938" b="1" spc="-16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Tenure, Contract Type, Monthly Charges, Tech Support... + 45 more</a:t>
            </a:r>
          </a:p>
          <a:p>
            <a:pPr marL="634480" lvl="1" indent="-317240" algn="l">
              <a:lnSpc>
                <a:spcPts val="4496"/>
              </a:lnSpc>
              <a:buFont typeface="Arial"/>
              <a:buChar char="•"/>
            </a:pPr>
            <a:r>
              <a:rPr lang="en-US" sz="2938" spc="-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= Churn Result (output) — 1 column</a:t>
            </a:r>
          </a:p>
          <a:p>
            <a:pPr marL="634480" lvl="1" indent="-317240" algn="l">
              <a:lnSpc>
                <a:spcPts val="4496"/>
              </a:lnSpc>
              <a:buFont typeface="Arial"/>
              <a:buChar char="•"/>
            </a:pPr>
            <a:r>
              <a:rPr lang="en-US" sz="2938" spc="-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= Churned ✗</a:t>
            </a:r>
          </a:p>
          <a:p>
            <a:pPr marL="634480" lvl="1" indent="-317240" algn="l">
              <a:lnSpc>
                <a:spcPts val="4496"/>
              </a:lnSpc>
              <a:buFont typeface="Arial"/>
              <a:buChar char="•"/>
            </a:pPr>
            <a:r>
              <a:rPr lang="en-US" sz="2938" spc="-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 = Stayed 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0513" y="8666855"/>
            <a:ext cx="140516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X=(5634, 49),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y=(5634,)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05976" y="8666855"/>
            <a:ext cx="1310283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X=(704, 49),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y=(704,)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2000" spc="-11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062166" y="8666855"/>
            <a:ext cx="1253951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X=(705,49),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-1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y=(705,)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2000" spc="-11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28682" y="4090522"/>
            <a:ext cx="13079967" cy="898344"/>
            <a:chOff x="0" y="0"/>
            <a:chExt cx="3444930" cy="2366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4930" cy="236601"/>
            </a:xfrm>
            <a:custGeom>
              <a:avLst/>
              <a:gdLst/>
              <a:ahLst/>
              <a:cxnLst/>
              <a:rect l="l" t="t" r="r" b="b"/>
              <a:pathLst>
                <a:path w="3444930" h="236601">
                  <a:moveTo>
                    <a:pt x="30186" y="0"/>
                  </a:moveTo>
                  <a:lnTo>
                    <a:pt x="3414743" y="0"/>
                  </a:lnTo>
                  <a:cubicBezTo>
                    <a:pt x="3422749" y="0"/>
                    <a:pt x="3430427" y="3180"/>
                    <a:pt x="3436088" y="8841"/>
                  </a:cubicBezTo>
                  <a:cubicBezTo>
                    <a:pt x="3441749" y="14502"/>
                    <a:pt x="3444930" y="22181"/>
                    <a:pt x="3444930" y="30186"/>
                  </a:cubicBezTo>
                  <a:lnTo>
                    <a:pt x="3444930" y="206414"/>
                  </a:lnTo>
                  <a:cubicBezTo>
                    <a:pt x="3444930" y="223086"/>
                    <a:pt x="3431415" y="236601"/>
                    <a:pt x="3414743" y="236601"/>
                  </a:cubicBezTo>
                  <a:lnTo>
                    <a:pt x="30186" y="236601"/>
                  </a:lnTo>
                  <a:cubicBezTo>
                    <a:pt x="22181" y="236601"/>
                    <a:pt x="14502" y="233421"/>
                    <a:pt x="8841" y="227759"/>
                  </a:cubicBezTo>
                  <a:cubicBezTo>
                    <a:pt x="3180" y="222098"/>
                    <a:pt x="0" y="214420"/>
                    <a:pt x="0" y="206414"/>
                  </a:cubicBezTo>
                  <a:lnTo>
                    <a:pt x="0" y="30186"/>
                  </a:lnTo>
                  <a:cubicBezTo>
                    <a:pt x="0" y="13515"/>
                    <a:pt x="13515" y="0"/>
                    <a:pt x="30186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444930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70386" y="4172961"/>
            <a:ext cx="570437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Logistic Regression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411257" y="51998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828682" y="5702311"/>
            <a:ext cx="13079967" cy="898344"/>
            <a:chOff x="0" y="0"/>
            <a:chExt cx="3444930" cy="2366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44930" cy="236601"/>
            </a:xfrm>
            <a:custGeom>
              <a:avLst/>
              <a:gdLst/>
              <a:ahLst/>
              <a:cxnLst/>
              <a:rect l="l" t="t" r="r" b="b"/>
              <a:pathLst>
                <a:path w="3444930" h="236601">
                  <a:moveTo>
                    <a:pt x="30186" y="0"/>
                  </a:moveTo>
                  <a:lnTo>
                    <a:pt x="3414743" y="0"/>
                  </a:lnTo>
                  <a:cubicBezTo>
                    <a:pt x="3422749" y="0"/>
                    <a:pt x="3430427" y="3180"/>
                    <a:pt x="3436088" y="8841"/>
                  </a:cubicBezTo>
                  <a:cubicBezTo>
                    <a:pt x="3441749" y="14502"/>
                    <a:pt x="3444930" y="22181"/>
                    <a:pt x="3444930" y="30186"/>
                  </a:cubicBezTo>
                  <a:lnTo>
                    <a:pt x="3444930" y="206414"/>
                  </a:lnTo>
                  <a:cubicBezTo>
                    <a:pt x="3444930" y="223086"/>
                    <a:pt x="3431415" y="236601"/>
                    <a:pt x="3414743" y="236601"/>
                  </a:cubicBezTo>
                  <a:lnTo>
                    <a:pt x="30186" y="236601"/>
                  </a:lnTo>
                  <a:cubicBezTo>
                    <a:pt x="22181" y="236601"/>
                    <a:pt x="14502" y="233421"/>
                    <a:pt x="8841" y="227759"/>
                  </a:cubicBezTo>
                  <a:cubicBezTo>
                    <a:pt x="3180" y="222098"/>
                    <a:pt x="0" y="214420"/>
                    <a:pt x="0" y="206414"/>
                  </a:cubicBezTo>
                  <a:lnTo>
                    <a:pt x="0" y="30186"/>
                  </a:lnTo>
                  <a:cubicBezTo>
                    <a:pt x="0" y="13515"/>
                    <a:pt x="13515" y="0"/>
                    <a:pt x="30186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444930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270386" y="5788878"/>
            <a:ext cx="6854672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Random Forest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828682" y="7472383"/>
            <a:ext cx="13079967" cy="898344"/>
            <a:chOff x="0" y="0"/>
            <a:chExt cx="3444930" cy="2366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44930" cy="236601"/>
            </a:xfrm>
            <a:custGeom>
              <a:avLst/>
              <a:gdLst/>
              <a:ahLst/>
              <a:cxnLst/>
              <a:rect l="l" t="t" r="r" b="b"/>
              <a:pathLst>
                <a:path w="3444930" h="236601">
                  <a:moveTo>
                    <a:pt x="30186" y="0"/>
                  </a:moveTo>
                  <a:lnTo>
                    <a:pt x="3414743" y="0"/>
                  </a:lnTo>
                  <a:cubicBezTo>
                    <a:pt x="3422749" y="0"/>
                    <a:pt x="3430427" y="3180"/>
                    <a:pt x="3436088" y="8841"/>
                  </a:cubicBezTo>
                  <a:cubicBezTo>
                    <a:pt x="3441749" y="14502"/>
                    <a:pt x="3444930" y="22181"/>
                    <a:pt x="3444930" y="30186"/>
                  </a:cubicBezTo>
                  <a:lnTo>
                    <a:pt x="3444930" y="206414"/>
                  </a:lnTo>
                  <a:cubicBezTo>
                    <a:pt x="3444930" y="223086"/>
                    <a:pt x="3431415" y="236601"/>
                    <a:pt x="3414743" y="236601"/>
                  </a:cubicBezTo>
                  <a:lnTo>
                    <a:pt x="30186" y="236601"/>
                  </a:lnTo>
                  <a:cubicBezTo>
                    <a:pt x="22181" y="236601"/>
                    <a:pt x="14502" y="233421"/>
                    <a:pt x="8841" y="227759"/>
                  </a:cubicBezTo>
                  <a:cubicBezTo>
                    <a:pt x="3180" y="222098"/>
                    <a:pt x="0" y="214420"/>
                    <a:pt x="0" y="206414"/>
                  </a:cubicBezTo>
                  <a:lnTo>
                    <a:pt x="0" y="30186"/>
                  </a:lnTo>
                  <a:cubicBezTo>
                    <a:pt x="0" y="13515"/>
                    <a:pt x="13515" y="0"/>
                    <a:pt x="30186" y="0"/>
                  </a:cubicBezTo>
                  <a:close/>
                </a:path>
              </a:pathLst>
            </a:custGeom>
            <a:solidFill>
              <a:srgbClr val="78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444930" cy="2556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50426" y="7558950"/>
            <a:ext cx="4751172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DF3DF"/>
                </a:solidFill>
                <a:latin typeface="Lora"/>
                <a:ea typeface="Lora"/>
                <a:cs typeface="Lora"/>
                <a:sym typeface="Lora"/>
              </a:rPr>
              <a:t>Decision Tree</a:t>
            </a:r>
          </a:p>
        </p:txBody>
      </p:sp>
      <p:sp>
        <p:nvSpPr>
          <p:cNvPr id="19" name="Freeform 19"/>
          <p:cNvSpPr/>
          <p:nvPr/>
        </p:nvSpPr>
        <p:spPr>
          <a:xfrm>
            <a:off x="441765" y="2903260"/>
            <a:ext cx="2145924" cy="2145924"/>
          </a:xfrm>
          <a:custGeom>
            <a:avLst/>
            <a:gdLst/>
            <a:ahLst/>
            <a:cxnLst/>
            <a:rect l="l" t="t" r="r" b="b"/>
            <a:pathLst>
              <a:path w="2145924" h="2145924">
                <a:moveTo>
                  <a:pt x="0" y="0"/>
                </a:moveTo>
                <a:lnTo>
                  <a:pt x="2145923" y="0"/>
                </a:lnTo>
                <a:lnTo>
                  <a:pt x="2145923" y="2145924"/>
                </a:lnTo>
                <a:lnTo>
                  <a:pt x="0" y="2145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586935" y="2344898"/>
            <a:ext cx="17259300" cy="128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40"/>
              </a:lnSpc>
            </a:pPr>
            <a:r>
              <a:rPr lang="en-US" sz="11300" spc="101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NEXT STEP: MACHINE LEARNING METHOD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20678" y="4992034"/>
            <a:ext cx="570437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Simple, fast, &amp; explainable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20678" y="6686380"/>
            <a:ext cx="10444901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More accurate &amp; can handle  complex pattern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20678" y="8456452"/>
            <a:ext cx="570437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Easy to visualize the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7802" y="2078178"/>
            <a:ext cx="8204234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AI USAGE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7802" y="3146883"/>
            <a:ext cx="17152395" cy="655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This project utilized AI as a supporting tool during the exploratory data analysis phase. </a:t>
            </a:r>
          </a:p>
          <a:p>
            <a:pPr algn="just">
              <a:lnSpc>
                <a:spcPts val="4032"/>
              </a:lnSpc>
            </a:pPr>
            <a:endParaRPr lang="en-US" sz="3200" spc="-179">
              <a:solidFill>
                <a:srgbClr val="01304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Specific uses included: debugging Python code (Matplotlib, Seaborn, Pandas), clarifying machine learning concepts (one-hot encoding, feature matrix, train/test split).</a:t>
            </a:r>
          </a:p>
          <a:p>
            <a:pPr algn="just">
              <a:lnSpc>
                <a:spcPts val="4032"/>
              </a:lnSpc>
            </a:pPr>
            <a:endParaRPr lang="en-US" sz="3200" spc="-179">
              <a:solidFill>
                <a:srgbClr val="01304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All data analysis, interpretation of results, business insights, and final decisions were performed independently by the team. All AI-generated suggestions were reviewed, verified, and adapted before use.</a:t>
            </a:r>
          </a:p>
          <a:p>
            <a:pPr algn="just">
              <a:lnSpc>
                <a:spcPts val="4032"/>
              </a:lnSpc>
            </a:pPr>
            <a:endParaRPr lang="en-US" sz="3200" spc="-179">
              <a:solidFill>
                <a:srgbClr val="01304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AI Tool: </a:t>
            </a:r>
          </a:p>
          <a:p>
            <a:pPr marL="690881" lvl="1" indent="-345440" algn="just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Perplexity AI (Sonnet 4.6)</a:t>
            </a:r>
          </a:p>
          <a:p>
            <a:pPr marL="690881" lvl="1" indent="-345440" algn="just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M365 Copilot AI (Smart Function)</a:t>
            </a:r>
          </a:p>
          <a:p>
            <a:pPr marL="690881" lvl="1" indent="-345440" algn="just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GPT-5.4 Thinking</a:t>
            </a:r>
          </a:p>
        </p:txBody>
      </p:sp>
      <p:sp>
        <p:nvSpPr>
          <p:cNvPr id="4" name="AutoShape 4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9572" y="1958979"/>
            <a:ext cx="8204234" cy="160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14000" spc="12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9572" y="3546484"/>
            <a:ext cx="17128855" cy="591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9"/>
              </a:lnSpc>
            </a:pPr>
            <a:r>
              <a:rPr lang="en-US" sz="3499" b="1" spc="-19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References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IBM. (2017). Telco Customer Churn [Dataset]. Kaggle. https://www.kaggle.com/datasets/blastchar/telco-customer-churn/data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Richard, R. (n.d.). Telco Customer Churn Analysis Dashboard [Dataset]. Kaggle. https://www.kaggle.com/datasets/reignrichard/telco-customer-churn-analysis-dashboard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Sakib, A. S. (n.d.). Churn Prediction I: EDA &amp; Statistical Analysis [Notebook]. Kaggle. https://www.kaggle.com/code/ahmedshahriarsakib/churn-prediction-i-eda-statistical-analysis#9-Conclusion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McKinney, W. (2010). pandas: Python Data Analysis Library (Version 2.0). https://pandas.pydata.org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Hunter, J. D. (2007). Matplotlib: A 2D graphics environment (Version 3.8). https://matplotlib.org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Waskom, M. (2021). Seaborn: Statistical data visualization (Version 0.13). https://seaborn.pydata.org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Pedregosa, F., et al. (2011). Scikit-learn: Machine learning in Python (Version 1.3). https://scikit-learn.org</a:t>
            </a:r>
          </a:p>
          <a:p>
            <a:pPr marL="604516" lvl="1" indent="-302258" algn="just">
              <a:lnSpc>
                <a:spcPts val="3527"/>
              </a:lnSpc>
              <a:buFont typeface="Arial"/>
              <a:buChar char="•"/>
            </a:pPr>
            <a:r>
              <a:rPr lang="en-US" sz="2799" spc="-156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Kim, B. (2026). ML Business Applications with Python [Lecture slides]. Korea University Business School, GMBA Program.</a:t>
            </a:r>
          </a:p>
        </p:txBody>
      </p:sp>
      <p:sp>
        <p:nvSpPr>
          <p:cNvPr id="4" name="Freeform 4"/>
          <p:cNvSpPr/>
          <p:nvPr/>
        </p:nvSpPr>
        <p:spPr>
          <a:xfrm>
            <a:off x="15898264" y="1435104"/>
            <a:ext cx="2389736" cy="2389736"/>
          </a:xfrm>
          <a:custGeom>
            <a:avLst/>
            <a:gdLst/>
            <a:ahLst/>
            <a:cxnLst/>
            <a:rect l="l" t="t" r="r" b="b"/>
            <a:pathLst>
              <a:path w="2389736" h="2389736">
                <a:moveTo>
                  <a:pt x="0" y="0"/>
                </a:moveTo>
                <a:lnTo>
                  <a:pt x="2389736" y="0"/>
                </a:lnTo>
                <a:lnTo>
                  <a:pt x="2389736" y="2389735"/>
                </a:lnTo>
                <a:lnTo>
                  <a:pt x="0" y="2389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w="19050" cap="flat">
            <a:solidFill>
              <a:srgbClr val="669A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865580" y="660214"/>
            <a:ext cx="2393720" cy="515585"/>
            <a:chOff x="0" y="0"/>
            <a:chExt cx="630445" cy="135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0445" cy="135792"/>
            </a:xfrm>
            <a:custGeom>
              <a:avLst/>
              <a:gdLst/>
              <a:ahLst/>
              <a:cxnLst/>
              <a:rect l="l" t="t" r="r" b="b"/>
              <a:pathLst>
                <a:path w="630445" h="135792">
                  <a:moveTo>
                    <a:pt x="67896" y="0"/>
                  </a:moveTo>
                  <a:lnTo>
                    <a:pt x="562549" y="0"/>
                  </a:lnTo>
                  <a:cubicBezTo>
                    <a:pt x="600047" y="0"/>
                    <a:pt x="630445" y="30398"/>
                    <a:pt x="630445" y="67896"/>
                  </a:cubicBezTo>
                  <a:lnTo>
                    <a:pt x="630445" y="67896"/>
                  </a:lnTo>
                  <a:cubicBezTo>
                    <a:pt x="630445" y="105394"/>
                    <a:pt x="600047" y="135792"/>
                    <a:pt x="562549" y="135792"/>
                  </a:cubicBezTo>
                  <a:lnTo>
                    <a:pt x="67896" y="135792"/>
                  </a:lnTo>
                  <a:cubicBezTo>
                    <a:pt x="30398" y="135792"/>
                    <a:pt x="0" y="105394"/>
                    <a:pt x="0" y="67896"/>
                  </a:cubicBezTo>
                  <a:lnTo>
                    <a:pt x="0" y="67896"/>
                  </a:lnTo>
                  <a:cubicBezTo>
                    <a:pt x="0" y="30398"/>
                    <a:pt x="30398" y="0"/>
                    <a:pt x="67896" y="0"/>
                  </a:cubicBezTo>
                  <a:close/>
                </a:path>
              </a:pathLst>
            </a:custGeom>
            <a:ln w="19050" cap="rnd">
              <a:solidFill>
                <a:srgbClr val="669AB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30445" cy="17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865580" y="74941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March 25,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8518" y="857663"/>
            <a:ext cx="239372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-1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921</Words>
  <Application>Microsoft Macintosh PowerPoint</Application>
  <PresentationFormat>Custom</PresentationFormat>
  <Paragraphs>149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Lora</vt:lpstr>
      <vt:lpstr>Canva Sans</vt:lpstr>
      <vt:lpstr>Canva Sans Bold</vt:lpstr>
      <vt:lpstr>Calibri</vt:lpstr>
      <vt:lpstr>Extenda 50 Mega</vt:lpstr>
      <vt:lpstr>Lora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Project - Step 2</dc:title>
  <cp:lastModifiedBy>JESSICANOVITA</cp:lastModifiedBy>
  <cp:revision>2</cp:revision>
  <dcterms:created xsi:type="dcterms:W3CDTF">2006-08-16T00:00:00Z</dcterms:created>
  <dcterms:modified xsi:type="dcterms:W3CDTF">2026-03-24T13:00:33Z</dcterms:modified>
  <dc:identifier>DAHERUOfbQk</dc:identifier>
</cp:coreProperties>
</file>